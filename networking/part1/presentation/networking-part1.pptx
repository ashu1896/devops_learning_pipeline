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Part 1 of our Networking Mastery Series. Today, we are stripping back the layers of abstract cloud networking and diving deep into the raw foundations—OSI layers, Linux kernel sockets, IP routing tables, and low-level diagnostic tools. This is the bedrock upon which highly available, self-healing platforms are constructed.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analyze the logical topology. In large enterprise environments, overlapping CIDR blocks are a nightmare to resolve. We must design IP spacing defensively. We also examine how the Linux kernel routes packets locally—understanding route metrics, default gateways, and how stateful connection tracking (conntrack) can become a bottleneck under massive scale.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addresses security. Security is not just a perimeter appliance; it is an end-to-end strategy. We look at how to leverage hypervisor-level security groups alongside stateless NACLs to create a dual-barrier model. For host hardening, SREs must proactively tune kernel parameters using sysctl to survive SYN flood attacks and manage massive concurrent connection spikes safely.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4, we focus on the SRE's toolkit. When a service goes down, guessing is not an option. We must systematically work up the stack: verify layer 1/2 with 'ip link', check layer 3 with 'ping' and 'traceroute', examine layer 4 with 'ss', and perform deep packet inspection using 'tcpdump' with precise BPF filters. This systematic approach isolates network anomalies in seconds instead of hours.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close with Slide 5: a pragmatic, 6-month roadmap designed to elevate your team's technical depth. We start with raw host-level command mastery, transition into declarative infrastructure-as-code for VPCs, and culminate in advanced cloud-native network observability. Following this path guarantees your systems remain observable, resilient, and performant.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Networking Foundations: Part 1</a:t>
            </a:r>
          </a:p>
          <a:p>
            <a:pPr>
              <a:spcBef>
                <a:spcPts val="1000"/>
              </a:spcBef>
              <a:defRPr sz="1600">
                <a:solidFill>
                  <a:srgbClr val="94A3B8"/>
                </a:solidFill>
                <a:latin typeface="Arial"/>
              </a:defRPr>
            </a:pPr>
            <a:r>
              <a:t>Architecting Core Topologies, Low-Level Protocols, and System-Level Diagnostics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L3/L4 Foundations &amp; Logical Topology Design</a:t>
            </a:r>
          </a:p>
          <a:p>
            <a:pPr>
              <a:spcBef>
                <a:spcPts val="400"/>
              </a:spcBef>
              <a:defRPr sz="1300" b="1">
                <a:solidFill>
                  <a:srgbClr val="4F46E5"/>
                </a:solidFill>
                <a:latin typeface="Arial"/>
              </a:defRPr>
            </a:pPr>
            <a:r>
              <a:t>CIDR Allocations, Routing Tables, and Packet Flow Architecture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Deterministic IP Subnetting: Architecting collision-free VPC/VNet structures using hierarchical CIDR blocks (e.g., /16 supernets to /24 subnets) to prevent IP exhaustion.</a:t>
            </a:r>
          </a:p>
          <a:p>
            <a:pPr>
              <a:lnSpc>
                <a:spcPct val="115000"/>
              </a:lnSpc>
              <a:spcAft>
                <a:spcPts val="800"/>
              </a:spcAft>
              <a:defRPr sz="1300">
                <a:solidFill>
                  <a:srgbClr val="1E293B"/>
                </a:solidFill>
                <a:latin typeface="Arial"/>
              </a:defRPr>
            </a:pPr>
            <a:r>
              <a:t>•   Linux Kernel Routing Tables: Deciphering the routing decision tree, default gateways, and metric evaluation within local route caches.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L4 Transport Dynamics: Contrasting TCP sliding-window flow control and three-way handshakes with UDP's stateless, low-overhead Datagram delivery.</a:t>
            </a:r>
          </a:p>
          <a:p>
            <a:pPr>
              <a:lnSpc>
                <a:spcPct val="115000"/>
              </a:lnSpc>
              <a:spcAft>
                <a:spcPts val="800"/>
              </a:spcAft>
              <a:defRPr sz="1300">
                <a:solidFill>
                  <a:srgbClr val="1E293B"/>
                </a:solidFill>
                <a:latin typeface="Arial"/>
              </a:defRPr>
            </a:pPr>
            <a:r>
              <a:t>•   Stateful Connection Tracking: How Linux conntrack manages session states (ESTABLISHED, SYN_SENT, TIME_WAIT) at the kernel level.</a:t>
            </a:r>
          </a:p>
          <a:p>
            <a:pPr>
              <a:spcBef>
                <a:spcPts val="1400"/>
              </a:spcBef>
              <a:defRPr sz="1050" b="1">
                <a:solidFill>
                  <a:srgbClr val="4F46E5"/>
                </a:solidFill>
                <a:latin typeface="Arial"/>
              </a:defRPr>
            </a:pPr>
            <a:r>
              <a:t>Key Takeaway: Flawless network architectures prioritize non-overlapping IP allocations, optimized kernel routing paths, and a deep understanding of transport-layer state machines.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Perimeter Hardening &amp; Network Access Control</a:t>
            </a:r>
          </a:p>
          <a:p>
            <a:pPr>
              <a:spcBef>
                <a:spcPts val="400"/>
              </a:spcBef>
              <a:defRPr sz="1300" b="1">
                <a:solidFill>
                  <a:srgbClr val="4F46E5"/>
                </a:solidFill>
                <a:latin typeface="Arial"/>
              </a:defRPr>
            </a:pPr>
            <a:r>
              <a:t>Securing OSI Layers 3 &amp; 4 with Firewalls, ACLs, and Kernel Tuning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Stateful vs. Stateless Filtering: Implementing Security Groups (stateful, hypervisor-level) in tandem with Network ACLs (stateless, subnet-level) for defense-in-depth.</a:t>
            </a:r>
          </a:p>
          <a:p>
            <a:pPr>
              <a:lnSpc>
                <a:spcPct val="115000"/>
              </a:lnSpc>
              <a:spcAft>
                <a:spcPts val="800"/>
              </a:spcAft>
              <a:defRPr sz="1300">
                <a:solidFill>
                  <a:srgbClr val="1E293B"/>
                </a:solidFill>
                <a:latin typeface="Arial"/>
              </a:defRPr>
            </a:pPr>
            <a:r>
              <a:t>•   iptables &amp; nftables Pipelines: Writing declarative packet filtering rules across PREROUTING, INPUT, FORWARD, and POSTROUTING chains.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Mitigating DDoS &amp; SYN Floods: Hardening the TCP/IP stack via sysctl parameters (e.g., enabling net.ipv4.tcp_syncookies and tuning tcp_max_syn_backlog).</a:t>
            </a:r>
          </a:p>
          <a:p>
            <a:pPr>
              <a:lnSpc>
                <a:spcPct val="115000"/>
              </a:lnSpc>
              <a:spcAft>
                <a:spcPts val="800"/>
              </a:spcAft>
              <a:defRPr sz="1300">
                <a:solidFill>
                  <a:srgbClr val="1E293B"/>
                </a:solidFill>
                <a:latin typeface="Arial"/>
              </a:defRPr>
            </a:pPr>
            <a:r>
              <a:t>•   Egress Controls and NAT Gateways: Restricting outbound execution paths to prevent data exfiltration and unauthorized dependency resolution.</a:t>
            </a:r>
          </a:p>
          <a:p>
            <a:pPr>
              <a:spcBef>
                <a:spcPts val="1400"/>
              </a:spcBef>
              <a:defRPr sz="1050" b="1">
                <a:solidFill>
                  <a:srgbClr val="4F46E5"/>
                </a:solidFill>
                <a:latin typeface="Arial"/>
              </a:defRPr>
            </a:pPr>
            <a:r>
              <a:t>Key Takeaway: Multi-layered network security demands a combination of stateful hypervisor policies, stateless subnet barriers, and hardened host-level kernel networking configurations.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Low-Level Diagnostic Workflows &amp; Packet Analysis</a:t>
            </a:r>
          </a:p>
          <a:p>
            <a:pPr>
              <a:spcBef>
                <a:spcPts val="400"/>
              </a:spcBef>
              <a:defRPr sz="1300" b="1">
                <a:solidFill>
                  <a:srgbClr val="4F46E5"/>
                </a:solidFill>
                <a:latin typeface="Arial"/>
              </a:defRPr>
            </a:pPr>
            <a:r>
              <a:t>Mastering CLI Network Utilities for Rapid Incident Resolution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Raw Socket and Interface Investigation: Utilizing 'ip link', 'ip addr', and 'ethtool' to verify physical/virtual interface states and MTU configurations.</a:t>
            </a:r>
          </a:p>
          <a:p>
            <a:pPr>
              <a:lnSpc>
                <a:spcPct val="115000"/>
              </a:lnSpc>
              <a:spcAft>
                <a:spcPts val="800"/>
              </a:spcAft>
              <a:defRPr sz="1300">
                <a:solidFill>
                  <a:srgbClr val="1E293B"/>
                </a:solidFill>
                <a:latin typeface="Arial"/>
              </a:defRPr>
            </a:pPr>
            <a:r>
              <a:t>•   Socket Statistics &amp; Connection States: Running 'ss -tulpn' (superseding netstat) to map active listening daemons, bound interfaces, and TCP backlogs.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Path and Latency Isolation: Employing 'ping' for ICMP reachability, 'traceroute' (UDP/TCP/ICMP probes) to pin-point packet loss, and 'mtr' for historical hop analysis.</a:t>
            </a:r>
          </a:p>
          <a:p>
            <a:pPr>
              <a:lnSpc>
                <a:spcPct val="115000"/>
              </a:lnSpc>
              <a:spcAft>
                <a:spcPts val="800"/>
              </a:spcAft>
              <a:defRPr sz="1300">
                <a:solidFill>
                  <a:srgbClr val="1E293B"/>
                </a:solidFill>
                <a:latin typeface="Arial"/>
              </a:defRPr>
            </a:pPr>
            <a:r>
              <a:t>•   Packet Capture &amp; Analysis: Capturing raw frames via 'tcpdump -i eth0 -w dump.pcap' and filtering with BPF (Berkeley Packet Filters) to isolate TCP Resets (RST).</a:t>
            </a:r>
          </a:p>
          <a:p>
            <a:pPr>
              <a:spcBef>
                <a:spcPts val="1400"/>
              </a:spcBef>
              <a:defRPr sz="1050" b="1">
                <a:solidFill>
                  <a:srgbClr val="4F46E5"/>
                </a:solidFill>
                <a:latin typeface="Arial"/>
              </a:defRPr>
            </a:pPr>
            <a:r>
              <a:t>Key Takeaway: Mean Time to Resolution (MTTR) drops exponentially when engineers shift from speculative debugging to structured, systematic CLI toolchain diagnostics.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Strategic Roadmap: Core Networking Mastery</a:t>
            </a:r>
          </a:p>
          <a:p>
            <a:pPr>
              <a:spcBef>
                <a:spcPts val="400"/>
              </a:spcBef>
              <a:defRPr sz="1300" b="1">
                <a:solidFill>
                  <a:srgbClr val="14B8A6"/>
                </a:solidFill>
                <a:latin typeface="Arial"/>
              </a:defRPr>
            </a:pPr>
            <a:r>
              <a:t>From Foundational CLI Literacy to Production-Scale Architecture</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Master local Linux networking, route configuration, raw socket operations, sysctl performance tuning, and fundamental command execution.</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Standardize infrastructure-as-code patterns for enterprise VPC topologies, implementing secure multi-zone subnets and strict firewall frameworks.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Implement deep network observability, automating synthetic packet tracing, establishing automated conntrack monitoring, and setting up centralized flow log analysis.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phased approach transforms raw theoretical networking knowledge into automated, highly observable, and resilient production infrastructure.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