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everyone to Part 2 of our Enterprise Networking Series. Today we shift focus from basic topology to advanced performance tuning, sandboxing, and zero-trust security. We will discuss real-world architectural tradeoffs at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 Slide 2, we look at performance and sandboxing. When designing for ultra-low latency, the standard Linux kernel network stack becomes a bottleneck. We leverage DPDK or SR-IOV to bypass it. For containerized workloads, eBPF is replacing iptables to avoid O(N) lookup scaling issues.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addresses security. IP-based firewalls are obsolete in dynamic Kubernetes environments. We use eBPF to enforce identity-aware policies at L7. For encryption in transit, WireGuard offers massive performance benefits over traditional IPsec by running efficiently within the kernel space.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Moving to Slide 4, SRE and troubleshooting. Transient network issues like micro-bursts or packet drops are notoriously hard to debug. Static metrics aren't enough; we need synthetic active probing like Pingmesh, and distributed packet captures triggered automatically by anomalous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Finally, Slide 5 outlines our strategic 6-month roadmap. We begin with a deep audit of MTU and latency baselines, transition to eBPF-based CNIs for sandboxing in the mid-term, and finish with automated policy guardrails and advanced SRE observability.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011680"/>
            <a:ext cx="91440" cy="29260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9601200" cy="29260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14B8A6"/>
                </a:solidFill>
                <a:latin typeface="Arial"/>
              </a:defRPr>
            </a:pPr>
            <a:r>
              <a:t>6-MONTH DEVops MASTERCLASS</a:t>
            </a:r>
          </a:p>
          <a:p>
            <a:pPr>
              <a:defRPr sz="4400" b="1">
                <a:solidFill>
                  <a:srgbClr val="F1F5F9"/>
                </a:solidFill>
                <a:latin typeface="Arial"/>
              </a:defRPr>
            </a:pPr>
            <a:r>
              <a:t>Enterprise Networking Deep Dive: Advanced Optimization &amp; Hardening</a:t>
            </a:r>
          </a:p>
          <a:p>
            <a:pPr>
              <a:spcBef>
                <a:spcPts val="1000"/>
              </a:spcBef>
              <a:defRPr sz="1600">
                <a:solidFill>
                  <a:srgbClr val="94A3B8"/>
                </a:solidFill>
                <a:latin typeface="Arial"/>
              </a:defRPr>
            </a:pPr>
            <a:r>
              <a:t>Part 2/3: Architecting for Low-Latency, Multi-Tenant Isolation, and Extreme Scale Boundaries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66928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4748B"/>
                </a:solidFill>
                <a:latin typeface="Arial"/>
              </a:defRPr>
            </a:pPr>
            <a:r>
              <a:t>SRE &amp; PLATFORM ENGINEERING GROUP  •  AUTOMATED PIPELINE GENERATION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Arial"/>
              </a:defRPr>
            </a:pPr>
            <a:r>
              <a:t>High-Performance Software-Defined Networking &amp; Sandboxing</a:t>
            </a:r>
          </a:p>
          <a:p>
            <a:pPr>
              <a:spcBef>
                <a:spcPts val="400"/>
              </a:spcBef>
              <a:defRPr sz="1300" b="1">
                <a:solidFill>
                  <a:srgbClr val="4F46E5"/>
                </a:solidFill>
                <a:latin typeface="Arial"/>
              </a:defRPr>
            </a:pPr>
            <a:r>
              <a:t>Optimizing Data Plane Throughput, Kernel Bypass, and VPC Peering Limits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4F46E5"/>
                </a:solidFill>
                <a:latin typeface="Arial"/>
              </a:defRPr>
            </a:pPr>
            <a:r>
              <a:t>ARCHITECTURAL BLUEPRINT &amp; BLUEPRINTS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 Kernel Bypass &amp; DPDK/SR-IOV: Bypassing the Linux OS kernel network stack to achieve near-line-rate packet processing for high-frequency trading and NFV workloads.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 Overlay Networks &amp; Encapsulation: Evaluating VXLAN, Geneve, and NVGRE overhead, MTU path discovery (PMTUD) issues, and hardware offloading strategies.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828800"/>
            <a:ext cx="52120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0" y="1828800"/>
            <a:ext cx="5212080" cy="10972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103120"/>
            <a:ext cx="4663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4B8A6"/>
                </a:solidFill>
                <a:latin typeface="Arial"/>
              </a:defRPr>
            </a:pPr>
            <a:r>
              <a:t>ENTERPRISE PRO-TIPS &amp; STRATEGIES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 Multi-Tenant Sandboxing: Utilizing Network Namespaces, VRFs (Virtual Routing and Forwarding), and eBPF-based container networking (Cilium) to enforce strict isolation at the data plane.</a:t>
            </a:r>
          </a:p>
          <a:p>
            <a:pPr>
              <a:spcBef>
                <a:spcPts val="1400"/>
              </a:spcBef>
              <a:defRPr sz="1050" b="1">
                <a:solidFill>
                  <a:srgbClr val="4F46E5"/>
                </a:solidFill>
                <a:latin typeface="Arial"/>
              </a:defRPr>
            </a:pPr>
            <a:r>
              <a:t>Key Takeaway: Optimizing high-performance networks requires minimizing CPU context switching through kernel bypass and mitigating encapsulation overhead via hardware offloading.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Arial"/>
              </a:defRPr>
            </a:pPr>
            <a:r>
              <a:t>Zero-Trust Network Architecture &amp; Cryptographic Micro-segmentation</a:t>
            </a:r>
          </a:p>
          <a:p>
            <a:pPr>
              <a:spcBef>
                <a:spcPts val="400"/>
              </a:spcBef>
              <a:defRPr sz="1300" b="1">
                <a:solidFill>
                  <a:srgbClr val="4F46E5"/>
                </a:solidFill>
                <a:latin typeface="Arial"/>
              </a:defRPr>
            </a:pPr>
            <a:r>
              <a:t>Implementing eBPF Network Policies, WireGuard Transit, and Service Mesh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4F46E5"/>
                </a:solidFill>
                <a:latin typeface="Arial"/>
              </a:defRPr>
            </a:pPr>
            <a:r>
              <a:t>ARCHITECTURAL BLUEPRINT &amp; BLUEPRINTS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 eBPF-Powered Micro-segmentation: Replacing bloated iptables rules with Cilium-based identity-aware L3/L4 and L7 network policies to secure pod-to-pod communication.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 In-Transit Cryptography: Architecting high-throughput, low-latency encryption using WireGuard (kernel-space) or IPsec VPN gateways with hardware acceleration (AES-NI).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828800"/>
            <a:ext cx="52120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0" y="1828800"/>
            <a:ext cx="5212080" cy="10972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103120"/>
            <a:ext cx="4663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4B8A6"/>
                </a:solidFill>
                <a:latin typeface="Arial"/>
              </a:defRPr>
            </a:pPr>
            <a:r>
              <a:t>ENTERPRISE PRO-TIPS &amp; STRATEGIES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 DevSecOps Policy-as-Code: Integrating GitOps pipelines with Open Policy Agent (OPA) or Kyverno to validate Kubernetes NetworkPolicies and Terraform security groups before deployment.</a:t>
            </a:r>
          </a:p>
          <a:p>
            <a:pPr>
              <a:spcBef>
                <a:spcPts val="1400"/>
              </a:spcBef>
              <a:defRPr sz="1050" b="1">
                <a:solidFill>
                  <a:srgbClr val="4F46E5"/>
                </a:solidFill>
                <a:latin typeface="Arial"/>
              </a:defRPr>
            </a:pPr>
            <a:r>
              <a:t>Key Takeaway: Modern network security must rely on identity-based cryptographic verification and dynamic eBPF policies rather than static IP-based firewall perimeters.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Arial"/>
              </a:defRPr>
            </a:pPr>
            <a:r>
              <a:t>SRE Observability, Packet Analysis, and Incident Mitigation</a:t>
            </a:r>
          </a:p>
          <a:p>
            <a:pPr>
              <a:spcBef>
                <a:spcPts val="400"/>
              </a:spcBef>
              <a:defRPr sz="1300" b="1">
                <a:solidFill>
                  <a:srgbClr val="4F46E5"/>
                </a:solidFill>
                <a:latin typeface="Arial"/>
              </a:defRPr>
            </a:pPr>
            <a:r>
              <a:t>Debugging Transient Latency, Packet Drop, and Routing Blackholes at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4F46E5"/>
                </a:solidFill>
                <a:latin typeface="Arial"/>
              </a:defRPr>
            </a:pPr>
            <a:r>
              <a:t>ARCHITECTURAL BLUEPRINT &amp; BLUEPRINTS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 Continuous Packet Capture &amp; Analysis: Deploying distributed packet capture agents (e.g., netsniff-ng, eBPF probes) to diagnose TCP retransmissions, micro-bursts, and asymmetric routing.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 Active Probing &amp; Synthetic Monitoring: Utilizing tools like Kentik, Pingmesh, or custom eBPF probes to continuously map real-time latency anomalies across multi-cloud regions.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828800"/>
            <a:ext cx="52120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0" y="1828800"/>
            <a:ext cx="5212080" cy="10972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103120"/>
            <a:ext cx="4663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4B8A6"/>
                </a:solidFill>
                <a:latin typeface="Arial"/>
              </a:defRPr>
            </a:pPr>
            <a:r>
              <a:t>ENTERPRISE PRO-TIPS &amp; STRATEGIES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  Automated Incident Remediation: Implementing automated BGP route-leaking mitigations, dynamic DNS failover, and automated circuit-breaker patterns at the ingress controller layer.</a:t>
            </a:r>
          </a:p>
          <a:p>
            <a:pPr>
              <a:spcBef>
                <a:spcPts val="1400"/>
              </a:spcBef>
              <a:defRPr sz="1050" b="1">
                <a:solidFill>
                  <a:srgbClr val="4F46E5"/>
                </a:solidFill>
                <a:latin typeface="Arial"/>
              </a:defRPr>
            </a:pPr>
            <a:r>
              <a:t>Key Takeaway: Proactive network reliability relies on continuous synthetic probing and eBPF-based telemetry to detect and self-heal transient network anomalies before they impact SLAs.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F1F5F9"/>
                </a:solidFill>
                <a:latin typeface="Arial"/>
              </a:defRPr>
            </a:pPr>
            <a:r>
              <a:t>Strategic 6-Month Operational Excellence &amp; Networking Roadmap</a:t>
            </a:r>
          </a:p>
          <a:p>
            <a:pPr>
              <a:spcBef>
                <a:spcPts val="400"/>
              </a:spcBef>
              <a:defRPr sz="1300" b="1">
                <a:solidFill>
                  <a:srgbClr val="14B8A6"/>
                </a:solidFill>
                <a:latin typeface="Arial"/>
              </a:defRPr>
            </a:pPr>
            <a:r>
              <a:t>Transitioning to eBPF Data Planes, Automated Guardrails, and Zero-Trust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474720"/>
            <a:ext cx="10698480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03120" y="3364992"/>
            <a:ext cx="256032" cy="256032"/>
          </a:xfrm>
          <a:prstGeom prst="rect">
            <a:avLst/>
          </a:prstGeom>
          <a:solidFill>
            <a:srgbClr val="4F46E5"/>
          </a:solidFill>
          <a:ln w="254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14B8A6"/>
                </a:solidFill>
                <a:latin typeface="Arial"/>
              </a:defRPr>
            </a:pPr>
            <a:r>
              <a:t>MILESTONE 01</a:t>
            </a:r>
          </a:p>
          <a:p>
            <a:pPr algn="ctr">
              <a:defRPr sz="1200">
                <a:solidFill>
                  <a:srgbClr val="F1F5F9"/>
                </a:solidFill>
                <a:latin typeface="Arial"/>
              </a:defRPr>
            </a:pPr>
            <a:r>
              <a:t>Months 1-2: Audit &amp; Baseline: Execute comprehensive MTU discovery audits, baseline current inter-region latency, and identify performance bottlenecks in the existing overlay networks.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2160" y="3364992"/>
            <a:ext cx="256032" cy="256032"/>
          </a:xfrm>
          <a:prstGeom prst="rect">
            <a:avLst/>
          </a:prstGeom>
          <a:solidFill>
            <a:srgbClr val="4F46E5"/>
          </a:solidFill>
          <a:ln w="254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384048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14B8A6"/>
                </a:solidFill>
                <a:latin typeface="Arial"/>
              </a:defRPr>
            </a:pPr>
            <a:r>
              <a:t>MILESTONE 02</a:t>
            </a:r>
          </a:p>
          <a:p>
            <a:pPr algn="ctr">
              <a:defRPr sz="1200">
                <a:solidFill>
                  <a:srgbClr val="F1F5F9"/>
                </a:solidFill>
                <a:latin typeface="Arial"/>
              </a:defRPr>
            </a:pPr>
            <a:r>
              <a:t>Months 3-4: Implement Sandboxing &amp; eBPF: Migrate legacy Kubernetes iptables-based CNIs to Cilium (eBPF) and roll out namespace-level cryptographic micro-segmentation.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200" y="3364992"/>
            <a:ext cx="256032" cy="256032"/>
          </a:xfrm>
          <a:prstGeom prst="rect">
            <a:avLst/>
          </a:prstGeom>
          <a:solidFill>
            <a:srgbClr val="4F46E5"/>
          </a:solidFill>
          <a:ln w="254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384048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14B8A6"/>
                </a:solidFill>
                <a:latin typeface="Arial"/>
              </a:defRPr>
            </a:pPr>
            <a:r>
              <a:t>MILESTONE 03</a:t>
            </a:r>
          </a:p>
          <a:p>
            <a:pPr algn="ctr">
              <a:defRPr sz="1200">
                <a:solidFill>
                  <a:srgbClr val="F1F5F9"/>
                </a:solidFill>
                <a:latin typeface="Arial"/>
              </a:defRPr>
            </a:pPr>
            <a:r>
              <a:t>Months 5-6: Automation &amp; SRE Integration: Establish Policy-as-Code guardrails in CI/CD pipelines and deploy automated synthetic probing for real-time latency anomaly detection.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4B8A6"/>
                </a:solidFill>
                <a:latin typeface="Arial"/>
              </a:defRPr>
            </a:pPr>
            <a:r>
              <a:t>Goal: A structured, phased approach ensures a seamless transition to a high-performance, secure, and fully observable software-defined network fabric.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