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Part 2 of our GitHub Mastery workshop. Today, we shift our focus from foundational usage to the strategic and architectural considerations necessary for running GitHub effectively in large, demanding organizations. We'll explore how to not just use GitHub, but truly master its advanced capabilities to build resilient, secure, and high-performing development ecosystems.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beyond the basics, let's explore how to architect GitHub for true enterprise needs. We'll examine GHES deployment patterns crucial for uptime and data sovereignty. A significant part of scaling CI/CD involves self-hosted runners – understanding their secure deployment and lifecycle management is key. We'll also touch upon optimizing your repository layouts for performance and maintainability, and how GitHub Environments provide powerful controls for release orchestration.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isn't an afterthought; it's woven into every aspect of our GitHub strategy. We'll explore robust branch protection, which is your first line of defense against unwanted changes. GitHub Advanced Security provides powerful tools for shifting security left. A critical evolution for CI/CD security is OIDC, eliminating static secrets. We'll also discuss securing your Actions runners through effective sandboxing and how to leverage GitHub's comprehensive audit logs for compliance and incident forensics.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 GitHub at scale demands an SRE mindset. We'll dive into building comprehensive observability dashboards to gain insights into your GitHub ecosystem's health. Performance tuning is crucial, especially with large codebases and complex CI/CD. Understanding GitHub's inherent scale boundaries helps us design resilient systems. We'll also discuss effective incident management workflows for GitHub-related issues and underscore the importance of disaster recovery planning for GHES.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effectively implement these advanced strategies, a clear roadmap is essential. This proposed 6-month plan provides a phased approach, starting with hardening and foundational improvements, then moving into scaling and performance, and finally focusing on automation and resilience. Remember, this is a continuous journey. Fostering a community of practice and staying abreast of GitHub's rapid evolution are key to sustained mastery.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GitHub Mastery: Advanced Architectures &amp; Operational Excellence (Part 2/3)</a:t>
            </a:r>
          </a:p>
          <a:p>
            <a:pPr>
              <a:spcBef>
                <a:spcPts val="1000"/>
              </a:spcBef>
              <a:defRPr sz="1600">
                <a:solidFill>
                  <a:srgbClr val="94A3B8"/>
                </a:solidFill>
                <a:latin typeface="Arial"/>
              </a:defRPr>
            </a:pPr>
            <a:r>
              <a:t>Elevating Your Enterprise GitHub Strategy for Scale, Security, and Performance</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Advanced GitHub Architectures &amp; Configuration Patterns</a:t>
            </a:r>
          </a:p>
          <a:p>
            <a:pPr>
              <a:spcBef>
                <a:spcPts val="400"/>
              </a:spcBef>
              <a:defRPr sz="1300" b="1">
                <a:solidFill>
                  <a:srgbClr val="4F46E5"/>
                </a:solidFill>
                <a:latin typeface="Arial"/>
              </a:defRPr>
            </a:pPr>
            <a:r>
              <a:t>Designing for Scalability, Customization, and Hybrid Environments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**GitHub Enterprise Server (GHES) Deployment Models:** High-availability, geo-replication, and disaster recovery strategies.</a:t>
            </a:r>
          </a:p>
          <a:p>
            <a:pPr>
              <a:lnSpc>
                <a:spcPct val="115000"/>
              </a:lnSpc>
              <a:spcAft>
                <a:spcPts val="800"/>
              </a:spcAft>
              <a:defRPr sz="1300">
                <a:solidFill>
                  <a:srgbClr val="1E293B"/>
                </a:solidFill>
                <a:latin typeface="Arial"/>
              </a:defRPr>
            </a:pPr>
            <a:r>
              <a:t>•   **Self-Hosted GitHub Actions Runners:** Architecture for isolated, custom, and ephemeral execution environments, including networking and security considerations.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**Advanced Repository Structures:** Strategies for monorepos vs. polyrepos, managing large binary assets (LFS), and optimizing clone performance.</a:t>
            </a:r>
          </a:p>
          <a:p>
            <a:pPr>
              <a:lnSpc>
                <a:spcPct val="115000"/>
              </a:lnSpc>
              <a:spcAft>
                <a:spcPts val="800"/>
              </a:spcAft>
              <a:defRPr sz="1300">
                <a:solidFill>
                  <a:srgbClr val="1E293B"/>
                </a:solidFill>
                <a:latin typeface="Arial"/>
              </a:defRPr>
            </a:pPr>
            <a:r>
              <a:t>•   **Custom Environments &amp; Deployments:** Leveraging GitHub Environments for staged deployments, approvals, and secrets management.</a:t>
            </a:r>
          </a:p>
          <a:p>
            <a:pPr>
              <a:spcBef>
                <a:spcPts val="1400"/>
              </a:spcBef>
              <a:defRPr sz="1050" b="1">
                <a:solidFill>
                  <a:srgbClr val="4F46E5"/>
                </a:solidFill>
                <a:latin typeface="Arial"/>
              </a:defRPr>
            </a:pPr>
            <a:r>
              <a:t>Key Takeaway: A well-architected GitHub footprint is foundational for enterprise-grade agility and reliability.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GitHub Security Deep Dive: Hardening, Compliance &amp; DevSecOps</a:t>
            </a:r>
          </a:p>
          <a:p>
            <a:pPr>
              <a:spcBef>
                <a:spcPts val="400"/>
              </a:spcBef>
              <a:defRPr sz="1300" b="1">
                <a:solidFill>
                  <a:srgbClr val="4F46E5"/>
                </a:solidFill>
                <a:latin typeface="Arial"/>
              </a:defRPr>
            </a:pPr>
            <a:r>
              <a:t>Integrating Security Across the Entire Software Development Lifecycle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**Advanced Branch Protection &amp; Rulesets:** Implementing stringent merge policies, required status checks, and code owner reviews for critical branches.</a:t>
            </a:r>
          </a:p>
          <a:p>
            <a:pPr>
              <a:lnSpc>
                <a:spcPct val="115000"/>
              </a:lnSpc>
              <a:spcAft>
                <a:spcPts val="800"/>
              </a:spcAft>
              <a:defRPr sz="1300">
                <a:solidFill>
                  <a:srgbClr val="1E293B"/>
                </a:solidFill>
                <a:latin typeface="Arial"/>
              </a:defRPr>
            </a:pPr>
            <a:r>
              <a:t>•   **GitHub Advanced Security (GHAS):** Proactive vulnerability scanning (CodeQL), secret scanning, and dependency management (Dependabot) at scale.</a:t>
            </a:r>
          </a:p>
          <a:p>
            <a:pPr>
              <a:lnSpc>
                <a:spcPct val="115000"/>
              </a:lnSpc>
              <a:spcAft>
                <a:spcPts val="800"/>
              </a:spcAft>
              <a:defRPr sz="1300">
                <a:solidFill>
                  <a:srgbClr val="1E293B"/>
                </a:solidFill>
                <a:latin typeface="Arial"/>
              </a:defRPr>
            </a:pPr>
            <a:r>
              <a:t>•   **OIDC for GitHub Actions:** Eliminating long-lived credentials for secure access to cloud resources from CI/CD pipelines.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**Runner Sandboxing &amp; Security:** Isolating execution environments for GitHub Actions to mitigate supply chain risks and ensure compliance.</a:t>
            </a:r>
          </a:p>
          <a:p>
            <a:pPr>
              <a:lnSpc>
                <a:spcPct val="115000"/>
              </a:lnSpc>
              <a:spcAft>
                <a:spcPts val="800"/>
              </a:spcAft>
              <a:defRPr sz="1300">
                <a:solidFill>
                  <a:srgbClr val="1E293B"/>
                </a:solidFill>
                <a:latin typeface="Arial"/>
              </a:defRPr>
            </a:pPr>
            <a:r>
              <a:t>•   **Enterprise Audit Logs &amp; Compliance:** Leveraging detailed audit trails for security monitoring and regulatory adherence.</a:t>
            </a:r>
          </a:p>
          <a:p>
            <a:pPr>
              <a:spcBef>
                <a:spcPts val="1400"/>
              </a:spcBef>
              <a:defRPr sz="1050" b="1">
                <a:solidFill>
                  <a:srgbClr val="4F46E5"/>
                </a:solidFill>
                <a:latin typeface="Arial"/>
              </a:defRPr>
            </a:pPr>
            <a:r>
              <a:t>Key Takeaway: Proactive, integrated security within GitHub is non-negotiable for protecting intellectual property and maintaining trust.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Operational Excellence: SRE Practices for GitHub at Scale</a:t>
            </a:r>
          </a:p>
          <a:p>
            <a:pPr>
              <a:spcBef>
                <a:spcPts val="400"/>
              </a:spcBef>
              <a:defRPr sz="1300" b="1">
                <a:solidFill>
                  <a:srgbClr val="4F46E5"/>
                </a:solidFill>
                <a:latin typeface="Arial"/>
              </a:defRPr>
            </a:pPr>
            <a:r>
              <a:t>Monitoring, Performance Tuning, and Incident Response for GitHub Ecosystems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**Comprehensive Observability:** Monitoring GitHub API usage, webhook delivery, Actions runner health, and performance metrics (e.g., clone times, build durations).</a:t>
            </a:r>
          </a:p>
          <a:p>
            <a:pPr>
              <a:lnSpc>
                <a:spcPct val="115000"/>
              </a:lnSpc>
              <a:spcAft>
                <a:spcPts val="800"/>
              </a:spcAft>
              <a:defRPr sz="1300">
                <a:solidFill>
                  <a:srgbClr val="1E293B"/>
                </a:solidFill>
                <a:latin typeface="Arial"/>
              </a:defRPr>
            </a:pPr>
            <a:r>
              <a:t>•   **Performance Tuning Strategies:** Optimizing Git operations for large repositories, caching dependencies in Actions, and managing Actions concurrency limits.</a:t>
            </a:r>
          </a:p>
          <a:p>
            <a:pPr>
              <a:lnSpc>
                <a:spcPct val="115000"/>
              </a:lnSpc>
              <a:spcAft>
                <a:spcPts val="800"/>
              </a:spcAft>
              <a:defRPr sz="1300">
                <a:solidFill>
                  <a:srgbClr val="1E293B"/>
                </a:solidFill>
                <a:latin typeface="Arial"/>
              </a:defRPr>
            </a:pPr>
            <a:r>
              <a:t>•   **GitHub's Scale Boundaries:** Understanding API rate limits, storage limits, and Actions usage quotas to prevent operational bottlenecks.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**Incident Management &amp; Troubleshooting:** Best practices for diagnosing and resolving common GitHub-related issues (e.g., Action failures, webhook misconfigurations, authentication problems).</a:t>
            </a:r>
          </a:p>
          <a:p>
            <a:pPr>
              <a:lnSpc>
                <a:spcPct val="115000"/>
              </a:lnSpc>
              <a:spcAft>
                <a:spcPts val="800"/>
              </a:spcAft>
              <a:defRPr sz="1300">
                <a:solidFill>
                  <a:srgbClr val="1E293B"/>
                </a:solidFill>
                <a:latin typeface="Arial"/>
              </a:defRPr>
            </a:pPr>
            <a:r>
              <a:t>•   **Disaster Recovery Planning:** Strategies for GHES backup, restore, and failover scenarios.</a:t>
            </a:r>
          </a:p>
          <a:p>
            <a:pPr>
              <a:spcBef>
                <a:spcPts val="1400"/>
              </a:spcBef>
              <a:defRPr sz="1050" b="1">
                <a:solidFill>
                  <a:srgbClr val="4F46E5"/>
                </a:solidFill>
                <a:latin typeface="Arial"/>
              </a:defRPr>
            </a:pPr>
            <a:r>
              <a:t>Key Takeaway: Proactive monitoring, performance optimization, and robust incident response are critical for GitHub's operational reliability.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GitHub Mastery Roadmap: 6-Month Strategic Implementation</a:t>
            </a:r>
          </a:p>
          <a:p>
            <a:pPr>
              <a:spcBef>
                <a:spcPts val="400"/>
              </a:spcBef>
              <a:defRPr sz="1300" b="1">
                <a:solidFill>
                  <a:srgbClr val="14B8A6"/>
                </a:solidFill>
                <a:latin typeface="Arial"/>
              </a:defRPr>
            </a:pPr>
            <a:r>
              <a:t>Phased Approach to Advanced GitHub Adoption and Optimization</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Foundation &amp; Hardening:** Audit existing configurations, implement advanced branch protection, pilot GHAS features on critical repositories, establish OIDC for key pipelines.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Scale &amp; Performance:** Design and deploy secure self-hosted runner infrastructure, optimize CI/CD caching strategies, implement comprehensive monitoring dashboards.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Automation &amp; Resilience:** Automate environment provisioning, refine incident response playbooks for GitHub, conduct DR drills for GHES, explore custom Actions development for enterprise needs.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roadmap ensures deliberate, impactful progress towards advanced GitHub mastery and operational excellence.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