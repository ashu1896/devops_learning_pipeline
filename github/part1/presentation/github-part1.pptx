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to the first part of our GitHub Mastery Workshop. Today, we're laying the essential groundwork, focusing on the core principles and fundamental configurations that empower our teams. This isn't just about commands; it's about understanding the underlying architecture and how GitHub integrates into our enterprise strategy for version control and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by clarifying the distinction between Git, the robust distributed version control system, and GitHub, the platform that brings Git to the enterprise level. We'll walk through the lifecycle of code from local changes to remote integration, emphasizing the importance of a clear branching strategy, even a simple one, and how Pull Requests facilitate crucial peer review and quality gates. Pay close attention to the core command sequence – this is where all interaction with your code begins.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at this foundational stage, security is paramount. We're integrating DevSecOps principles by discussing proactive measures. The Principle of Least Privilege is key for managing access control. We'll cover SSH key best practices for secure authentication and how to effectively use `.gitignore` to prevent sensitive data leaks. Basic branch protection on our critical branches is non-negotiable for maintaining code integrity. Finally, we'll touch upon the critical issue of hardcoded secrets and initial steps to mitigate this common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SRE perspective, Git isn't just for code; it's a powerful operational tool. We'll explore how to use its history for audit trails and rapid recovery. A critical skill is resolving merge conflicts – a daily occurrence in collaborative environments – and knowing the difference between `reset` and `revert` for managing changes safely. We'll also cover common connectivity issues that can disrupt workflows and emphasize the importance of using official GitHub resources for incident awareness and troubleshooting.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structured approach to building mastery over the next six months. It's an iterative process. Start with consolidating the core mechanics, then move to team collaboration and security. By months four and five, you should be proficient in troubleshooting and incident response. The final phase focuses on documentation and knowledge sharing, solidifying your role as a GitHub advocate. Remember, continuous learning is key in the fast-evolving cloud native landscape.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GitHub Mastery Workshop: Core Foundations &amp; Enterprise Adoption</a:t>
            </a:r>
          </a:p>
          <a:p>
            <a:pPr>
              <a:spcBef>
                <a:spcPts val="1000"/>
              </a:spcBef>
              <a:defRPr sz="1600">
                <a:solidFill>
                  <a:srgbClr val="94A3B8"/>
                </a:solidFill>
                <a:latin typeface="Arial"/>
              </a:defRPr>
            </a:pPr>
            <a:r>
              <a:t>Part 1/3: Establishing Robust Baselines and Foundational Topologies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Core Concepts: Architecture &amp; Foundational Workflow</a:t>
            </a:r>
          </a:p>
          <a:p>
            <a:pPr>
              <a:spcBef>
                <a:spcPts val="400"/>
              </a:spcBef>
              <a:defRPr sz="1300" b="1">
                <a:solidFill>
                  <a:srgbClr val="4F46E5"/>
                </a:solidFill>
                <a:latin typeface="Arial"/>
              </a:defRPr>
            </a:pPr>
            <a:r>
              <a:t>Deconstructing GitHub's Basic Building Blocks and Operational Flow</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**Git vs. GitHub:** Differentiating the underlying version control system from the cloud-hosted platform for collaboration.</a:t>
            </a:r>
          </a:p>
          <a:p>
            <a:pPr>
              <a:lnSpc>
                <a:spcPct val="115000"/>
              </a:lnSpc>
              <a:spcAft>
                <a:spcPts val="800"/>
              </a:spcAft>
              <a:defRPr sz="1300">
                <a:solidFill>
                  <a:srgbClr val="1E293B"/>
                </a:solidFill>
                <a:latin typeface="Arial"/>
              </a:defRPr>
            </a:pPr>
            <a:r>
              <a:t>•   **Repository Management:** Local vs. Remote repositories, the central role of the 'origin' remote.</a:t>
            </a:r>
          </a:p>
          <a:p>
            <a:pPr>
              <a:lnSpc>
                <a:spcPct val="115000"/>
              </a:lnSpc>
              <a:spcAft>
                <a:spcPts val="800"/>
              </a:spcAft>
              <a:defRPr sz="1300">
                <a:solidFill>
                  <a:srgbClr val="1E293B"/>
                </a:solidFill>
                <a:latin typeface="Arial"/>
              </a:defRPr>
            </a:pPr>
            <a:r>
              <a:t>•   **Branching Strategy Fundamentals:** Understanding 'main' (or 'master'), feature branches, and their purpose in parallel development.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**Core Commands &amp; Lifecycle:** `git clone`, `git add`, `git commit`, `git push`, `git pull`, `git fetch`, and their sequence.</a:t>
            </a:r>
          </a:p>
          <a:p>
            <a:pPr>
              <a:lnSpc>
                <a:spcPct val="115000"/>
              </a:lnSpc>
              <a:spcAft>
                <a:spcPts val="800"/>
              </a:spcAft>
              <a:defRPr sz="1300">
                <a:solidFill>
                  <a:srgbClr val="1E293B"/>
                </a:solidFill>
                <a:latin typeface="Arial"/>
              </a:defRPr>
            </a:pPr>
            <a:r>
              <a:t>•   **Pull Requests (PRs):** The mechanism for code review, integration, and collaboration across branches.</a:t>
            </a:r>
          </a:p>
          <a:p>
            <a:pPr>
              <a:lnSpc>
                <a:spcPct val="115000"/>
              </a:lnSpc>
              <a:spcAft>
                <a:spcPts val="800"/>
              </a:spcAft>
              <a:defRPr sz="1300">
                <a:solidFill>
                  <a:srgbClr val="1E293B"/>
                </a:solidFill>
                <a:latin typeface="Arial"/>
              </a:defRPr>
            </a:pPr>
            <a:r>
              <a:t>•   **Basic Repository Structure:** Essential files like `README.md`, `.gitignore`, and their immediate impact.</a:t>
            </a:r>
          </a:p>
          <a:p>
            <a:pPr>
              <a:spcBef>
                <a:spcPts val="1400"/>
              </a:spcBef>
              <a:defRPr sz="1050" b="1">
                <a:solidFill>
                  <a:srgbClr val="4F46E5"/>
                </a:solidFill>
                <a:latin typeface="Arial"/>
              </a:defRPr>
            </a:pPr>
            <a:r>
              <a:t>Key Takeaway: Mastering these core concepts and commands is the bedrock for all advanced GitHub operations and collaborative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Baseline Security &amp; DevSecOps: Hardening the Foundation</a:t>
            </a:r>
          </a:p>
          <a:p>
            <a:pPr>
              <a:spcBef>
                <a:spcPts val="400"/>
              </a:spcBef>
              <a:defRPr sz="1300" b="1">
                <a:solidFill>
                  <a:srgbClr val="4F46E5"/>
                </a:solidFill>
                <a:latin typeface="Arial"/>
              </a:defRPr>
            </a:pPr>
            <a:r>
              <a:t>Implementing Foundational Security Measures in GitHub (Part 1 Focus)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**Principle of Least Privilege (PoLP):** Assigning appropriate roles (Read, Triage, Write, Maintain, Admin) and team-based permissions.</a:t>
            </a:r>
          </a:p>
          <a:p>
            <a:pPr>
              <a:lnSpc>
                <a:spcPct val="115000"/>
              </a:lnSpc>
              <a:spcAft>
                <a:spcPts val="800"/>
              </a:spcAft>
              <a:defRPr sz="1300">
                <a:solidFill>
                  <a:srgbClr val="1E293B"/>
                </a:solidFill>
                <a:latin typeface="Arial"/>
              </a:defRPr>
            </a:pPr>
            <a:r>
              <a:t>•   **SSH Key Management:** Secure authentication to GitHub, key generation, and best practices for key protection.</a:t>
            </a:r>
          </a:p>
          <a:p>
            <a:pPr>
              <a:lnSpc>
                <a:spcPct val="115000"/>
              </a:lnSpc>
              <a:spcAft>
                <a:spcPts val="800"/>
              </a:spcAft>
              <a:defRPr sz="1300">
                <a:solidFill>
                  <a:srgbClr val="1E293B"/>
                </a:solidFill>
                <a:latin typeface="Arial"/>
              </a:defRPr>
            </a:pPr>
            <a:r>
              <a:t>•   **`.gitignore` Effectiveness:** Preventing accidental exposure of sensitive files (credentials, build artifacts, large binaries) by proper configuration.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**Basic Branch Protection Rules:** Enforcing critical safeguards on 'main' or production branches (e.g., 'Require a pull request before merging', 'Require status checks to pass').</a:t>
            </a:r>
          </a:p>
          <a:p>
            <a:pPr>
              <a:lnSpc>
                <a:spcPct val="115000"/>
              </a:lnSpc>
              <a:spcAft>
                <a:spcPts val="800"/>
              </a:spcAft>
              <a:defRPr sz="1300">
                <a:solidFill>
                  <a:srgbClr val="1E293B"/>
                </a:solidFill>
                <a:latin typeface="Arial"/>
              </a:defRPr>
            </a:pPr>
            <a:r>
              <a:t>•   **Understanding Public vs. Private Repositories:** Strategic decisions for intellectual property and open-source contributions.</a:t>
            </a:r>
          </a:p>
          <a:p>
            <a:pPr>
              <a:lnSpc>
                <a:spcPct val="115000"/>
              </a:lnSpc>
              <a:spcAft>
                <a:spcPts val="800"/>
              </a:spcAft>
              <a:defRPr sz="1300">
                <a:solidFill>
                  <a:srgbClr val="1E293B"/>
                </a:solidFill>
                <a:latin typeface="Arial"/>
              </a:defRPr>
            </a:pPr>
            <a:r>
              <a:t>•   **Initial Credential Scanning Awareness:** The risk of hardcoded secrets and basic preventative measures (e.g., pre-commit hooks for pattern matching).</a:t>
            </a:r>
          </a:p>
          <a:p>
            <a:pPr>
              <a:spcBef>
                <a:spcPts val="1400"/>
              </a:spcBef>
              <a:defRPr sz="1050" b="1">
                <a:solidFill>
                  <a:srgbClr val="4F46E5"/>
                </a:solidFill>
                <a:latin typeface="Arial"/>
              </a:defRPr>
            </a:pPr>
            <a:r>
              <a:t>Key Takeaway: Security is not an afterthought; foundational protections implemented early significantly reduce attack surface and compliance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Principles &amp; Foundational Troubleshooting</a:t>
            </a:r>
          </a:p>
          <a:p>
            <a:pPr>
              <a:spcBef>
                <a:spcPts val="400"/>
              </a:spcBef>
              <a:defRPr sz="1300" b="1">
                <a:solidFill>
                  <a:srgbClr val="4F46E5"/>
                </a:solidFill>
                <a:latin typeface="Arial"/>
              </a:defRPr>
            </a:pPr>
            <a:r>
              <a:t>Ensuring Reliability and Resolving Common GitHub Incidents (Part 1 Focus)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**Version Control as an SRE Tool:** Leveraging Git history for auditing, 'blame' for accountability, and reverts for incident recovery.</a:t>
            </a:r>
          </a:p>
          <a:p>
            <a:pPr>
              <a:lnSpc>
                <a:spcPct val="115000"/>
              </a:lnSpc>
              <a:spcAft>
                <a:spcPts val="800"/>
              </a:spcAft>
              <a:defRPr sz="1300">
                <a:solidFill>
                  <a:srgbClr val="1E293B"/>
                </a:solidFill>
                <a:latin typeface="Arial"/>
              </a:defRPr>
            </a:pPr>
            <a:r>
              <a:t>•   **Understanding Git Log &amp; History:** Deciphering commit messages, commit hashes, and the timeline of changes for debugging.</a:t>
            </a:r>
          </a:p>
          <a:p>
            <a:pPr>
              <a:lnSpc>
                <a:spcPct val="115000"/>
              </a:lnSpc>
              <a:spcAft>
                <a:spcPts val="800"/>
              </a:spcAft>
              <a:defRPr sz="1300">
                <a:solidFill>
                  <a:srgbClr val="1E293B"/>
                </a:solidFill>
                <a:latin typeface="Arial"/>
              </a:defRPr>
            </a:pPr>
            <a:r>
              <a:t>•   **Resolving Merge Conflicts:** Practical steps for identifying, understanding, and manually resolving conflict markers (`&lt;&lt;&lt;&lt;&lt;&lt;&lt;`, `=======`, `&gt;&gt;&gt;&gt;&gt;&gt;&gt;`).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**Undoing Changes Safely:** `git reset` (soft, mixed, hard) for local history manipulation vs. `git revert` for public history (creating a new commit).</a:t>
            </a:r>
          </a:p>
          <a:p>
            <a:pPr>
              <a:lnSpc>
                <a:spcPct val="115000"/>
              </a:lnSpc>
              <a:spcAft>
                <a:spcPts val="800"/>
              </a:spcAft>
              <a:defRPr sz="1300">
                <a:solidFill>
                  <a:srgbClr val="1E293B"/>
                </a:solidFill>
                <a:latin typeface="Arial"/>
              </a:defRPr>
            </a:pPr>
            <a:r>
              <a:t>•   **Common Connectivity Issues:** Diagnosing SSH agent problems, network proxy configurations, and repository URL errors.</a:t>
            </a:r>
          </a:p>
          <a:p>
            <a:pPr>
              <a:lnSpc>
                <a:spcPct val="115000"/>
              </a:lnSpc>
              <a:spcAft>
                <a:spcPts val="800"/>
              </a:spcAft>
              <a:defRPr sz="1300">
                <a:solidFill>
                  <a:srgbClr val="1E293B"/>
                </a:solidFill>
                <a:latin typeface="Arial"/>
              </a:defRPr>
            </a:pPr>
            <a:r>
              <a:t>•   **Leveraging GitHub Status Page &amp; Documentation:** Knowing where to look for platform-wide incidents and official troubleshooting guides.</a:t>
            </a:r>
          </a:p>
          <a:p>
            <a:pPr>
              <a:spcBef>
                <a:spcPts val="1400"/>
              </a:spcBef>
              <a:defRPr sz="1050" b="1">
                <a:solidFill>
                  <a:srgbClr val="4F46E5"/>
                </a:solidFill>
                <a:latin typeface="Arial"/>
              </a:defRPr>
            </a:pPr>
            <a:r>
              <a:t>Key Takeaway: A robust understanding of Git operations is crucial for diagnosing, mitigating, and recovering from incidents efficiently, upholding service reliability.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Mastery Roadmap: Core GitHub (Part 1)</a:t>
            </a:r>
          </a:p>
          <a:p>
            <a:pPr>
              <a:spcBef>
                <a:spcPts val="400"/>
              </a:spcBef>
              <a:defRPr sz="1300" b="1">
                <a:solidFill>
                  <a:srgbClr val="14B8A6"/>
                </a:solidFill>
                <a:latin typeface="Arial"/>
              </a:defRPr>
            </a:pPr>
            <a:r>
              <a:t>A 6-Month Plan for Establishing Enterprise-Grade GitHub Proficiency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Core Mechanics &amp; Workflow Consolidation:** Daily practice with basic commands, branching, merging, and pull requests in team projects. Focus on commit hygiene.</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2-3: Repository Management &amp; Team Collaboration:** Actively participate in code reviews, understand fork/clone dynamics, and apply basic branch protection rules.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3-4: Foundational Security Integration &amp; Automation:** Implement SSH keys universally, refine `.gitignore` across repositories, explore pre-commit hook usage for secrets.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Consistent application, continuous learning, and sharing knowledge are the pillars of achieving enterprise-level GitHub proficiency.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