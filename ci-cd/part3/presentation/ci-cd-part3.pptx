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everyone, and welcome to the final installment of our CI/CD workshop series. Over the past two sessions, we've built a solid understanding of automated build, test, and deployment pipelines. Today, we shift our focus to the operational reality: how do we ensure the applications we deploy remain stable, performant, and secure in production? This session is all about operationalizing excellence – moving beyond deployment to mastery of Site Reliability Engineering, robust observability, and effective incident response. We'll dive into the practical aspects of keeping your systems healthy and resilient.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effectively operate a system in production, you need to see what's happening. Our core architecture for Part 3 revolves around a robust observability stack. We'll discuss how to unify metrics collection using Prometheus, visualize these metrics with Grafana, and manage alerts with Alertmanager. Centralized logging is non-negotiable for troubleshooting, and distributed tracing becomes indispensable as system complexity grows. Critically, we introduce the SRE concept of Error Budgets and define clear SLIs and SLOs. These aren't just technical metrics; they're business-aligned targets that dictate how much unreliability the service can tolerate before engineering efforts shift to stability.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doesn't end when an application is deployed; in fact, it becomes even more critical. DevSecOps means integrating security throughout the lifecycle, and in production, this means continuous vigilance. We'll explore runtime security monitoring to catch threats as they happen, and discuss how to continuously scan for vulnerabilities in your running applications. Immutable infrastructure is a powerful concept here, preventing unauthorized changes. Proper secrets management is paramount to avoid exposing sensitive data. Finally, having dedicated security incident response playbooks is crucial – these are distinct from general incident runbooks and focus specifically on security breaches.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the rubber meets the road. When things go wrong in production, how do you respond? We'll detail an effective incident management framework, emphasizing clear roles and communication to minimize chaos. We'll then delve into structured troubleshooting methodologies that help engineers systematically approach problems. A key part of proactive SRE is crafting custom Prometheus alerting rules – going beyond basic thresholds to create intelligent alerts that truly signify an issue. These alerts must be backed by comprehensive runbooks – your 'how-to' guides for incident resolution. Finally, the post-incident phase is crucial: blameless Root Cause Analyses transform incidents into learning opportunities, leading to long-term systemic improvements.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Mastering SRE and production operations isn't an overnight task. It's a journey requiring commitment and a strategic approach. This 6-month roadmap provides a practical, phased implementation plan. We start with laying down the observability foundation and getting basic alerts in place. Then, we move to more sophisticated alerting and begin documenting our response procedures with initial runbooks. The final phase focuses on formalizing our incident management, integrating advanced security measures, and embedding the critical RCA process into our culture. Remember, this is an iterative process; each phase builds upon the last, driving us towards a more resilient, observable, and secure production environment.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91440" cy="29260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011680"/>
            <a:ext cx="9601200" cy="2926080"/>
          </a:xfrm>
          <a:prstGeom prst="rect">
            <a:avLst/>
          </a:prstGeom>
          <a:noFill/>
        </p:spPr>
        <p:txBody>
          <a:bodyPr wrap="square" lIns="0" tIns="0" bIns="0" rIns="0">
            <a:spAutoFit/>
          </a:bodyPr>
          <a:lstStyle/>
          <a:p>
            <a:pPr>
              <a:spcAft>
                <a:spcPts val="1000"/>
              </a:spcAft>
              <a:defRPr sz="1300" b="1">
                <a:solidFill>
                  <a:srgbClr val="14B8A6"/>
                </a:solidFill>
                <a:latin typeface="Arial"/>
              </a:defRPr>
            </a:pPr>
            <a:r>
              <a:t>6-MONTH DEVops MASTERCLASS</a:t>
            </a:r>
          </a:p>
          <a:p>
            <a:pPr>
              <a:defRPr sz="4400" b="1">
                <a:solidFill>
                  <a:srgbClr val="F1F5F9"/>
                </a:solidFill>
                <a:latin typeface="Arial"/>
              </a:defRPr>
            </a:pPr>
            <a:r>
              <a:t>CI/CD Workshop: Part 3/3 - Operationalizing Excellence</a:t>
            </a:r>
          </a:p>
          <a:p>
            <a:pPr>
              <a:spcBef>
                <a:spcPts val="1000"/>
              </a:spcBef>
              <a:defRPr sz="1600">
                <a:solidFill>
                  <a:srgbClr val="94A3B8"/>
                </a:solidFill>
                <a:latin typeface="Arial"/>
              </a:defRPr>
            </a:pPr>
            <a:r>
              <a:t>Mastering Production SRE, Observability, and Incident Response</a:t>
            </a:r>
          </a:p>
        </p:txBody>
      </p:sp>
      <p:sp>
        <p:nvSpPr>
          <p:cNvPr id="5" name="TextBox 4"/>
          <p:cNvSpPr txBox="1"/>
          <p:nvPr/>
        </p:nvSpPr>
        <p:spPr>
          <a:xfrm>
            <a:off x="1097280" y="5669280"/>
            <a:ext cx="9601200" cy="548640"/>
          </a:xfrm>
          <a:prstGeom prst="rect">
            <a:avLst/>
          </a:prstGeom>
          <a:noFill/>
        </p:spPr>
        <p:txBody>
          <a:bodyPr wrap="none">
            <a:spAutoFit/>
          </a:bodyPr>
          <a:lstStyle/>
          <a:p>
            <a:pPr>
              <a:defRPr sz="950" b="1">
                <a:solidFill>
                  <a:srgbClr val="64748B"/>
                </a:solidFill>
                <a:latin typeface="Arial"/>
              </a:defRPr>
            </a:pPr>
            <a:r>
              <a:t>SRE &amp; PLATFORM ENGINEERING GROUP  •  AUTOMATED PIPELINE GENERATION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Foundational Observability &amp; SRE Architecture</a:t>
            </a:r>
          </a:p>
          <a:p>
            <a:pPr>
              <a:spcBef>
                <a:spcPts val="400"/>
              </a:spcBef>
              <a:defRPr sz="1300" b="1">
                <a:solidFill>
                  <a:srgbClr val="4F46E5"/>
                </a:solidFill>
                <a:latin typeface="Arial"/>
              </a:defRPr>
            </a:pPr>
            <a:r>
              <a:t>Building the Lenses for Production Visibility and Control</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**Unified Monitoring Stack:** Integrating Prometheus for metrics, Grafana for visualization, and Alertmanager for notification management across all environments.</a:t>
            </a:r>
          </a:p>
          <a:p>
            <a:pPr>
              <a:lnSpc>
                <a:spcPct val="115000"/>
              </a:lnSpc>
              <a:spcAft>
                <a:spcPts val="800"/>
              </a:spcAft>
              <a:defRPr sz="1300">
                <a:solidFill>
                  <a:srgbClr val="1E293B"/>
                </a:solidFill>
                <a:latin typeface="Arial"/>
              </a:defRPr>
            </a:pPr>
            <a:r>
              <a:t>•   **Centralized Logging:** Implementing ELK (Elasticsearch, Logstash, Kibana) or Loki for aggregating, indexing, and analyzing logs from diverse services.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**Distributed Tracing:** Adopting Jaeger or OpenTelemetry for end-to-end request tracing, critical for microservices and complex distributed systems.</a:t>
            </a:r>
          </a:p>
          <a:p>
            <a:pPr>
              <a:lnSpc>
                <a:spcPct val="115000"/>
              </a:lnSpc>
              <a:spcAft>
                <a:spcPts val="800"/>
              </a:spcAft>
              <a:defRPr sz="1300">
                <a:solidFill>
                  <a:srgbClr val="1E293B"/>
                </a:solidFill>
                <a:latin typeface="Arial"/>
              </a:defRPr>
            </a:pPr>
            <a:r>
              <a:t>•   **Error Budgets &amp; SLIs/SLOs:** Architecting systems with clear Service Level Indicators (SLIs) and Service Level Objectives (SLOs) to drive operational priorities and reliability targets.</a:t>
            </a:r>
          </a:p>
          <a:p>
            <a:pPr>
              <a:spcBef>
                <a:spcPts val="1400"/>
              </a:spcBef>
              <a:defRPr sz="1050" b="1">
                <a:solidFill>
                  <a:srgbClr val="4F46E5"/>
                </a:solidFill>
                <a:latin typeface="Arial"/>
              </a:defRPr>
            </a:pPr>
            <a:r>
              <a:t>Key Takeaway: A comprehensive observability architecture is the bedrock for proactive SRE, enabling rapid diagnostics and informed decision-making.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Fortifying Production: DevSecOps &amp; Runtime Security</a:t>
            </a:r>
          </a:p>
          <a:p>
            <a:pPr>
              <a:spcBef>
                <a:spcPts val="400"/>
              </a:spcBef>
              <a:defRPr sz="1300" b="1">
                <a:solidFill>
                  <a:srgbClr val="4F46E5"/>
                </a:solidFill>
                <a:latin typeface="Arial"/>
              </a:defRPr>
            </a:pPr>
            <a:r>
              <a:t>Integrating Security as a Continuous Operational Imperative</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**Runtime Security Monitoring:** Implementing tools like Falco or host-based intrusion detection systems (HIDS) to detect anomalous behavior and potential threats in real-time.</a:t>
            </a:r>
          </a:p>
          <a:p>
            <a:pPr>
              <a:lnSpc>
                <a:spcPct val="115000"/>
              </a:lnSpc>
              <a:spcAft>
                <a:spcPts val="800"/>
              </a:spcAft>
              <a:defRPr sz="1300">
                <a:solidFill>
                  <a:srgbClr val="1E293B"/>
                </a:solidFill>
                <a:latin typeface="Arial"/>
              </a:defRPr>
            </a:pPr>
            <a:r>
              <a:t>•   **Continuous Vulnerability Scanning:** Extending vulnerability checks (SAST/DAST) to deployed artifacts and runtime environments, not just pre-deployment.</a:t>
            </a:r>
          </a:p>
          <a:p>
            <a:pPr>
              <a:lnSpc>
                <a:spcPct val="115000"/>
              </a:lnSpc>
              <a:spcAft>
                <a:spcPts val="800"/>
              </a:spcAft>
              <a:defRPr sz="1300">
                <a:solidFill>
                  <a:srgbClr val="1E293B"/>
                </a:solidFill>
                <a:latin typeface="Arial"/>
              </a:defRPr>
            </a:pPr>
            <a:r>
              <a:t>•   **Immutable Infrastructure &amp; Configuration Drift Detection:** Ensuring deployed components remain unchanged, and alerting on any unauthorized modifications.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**Secrets Management Integration:** Securely managing and injecting credentials, API keys, and sensitive data at runtime using solutions like Vault or AWS Secrets Manager.</a:t>
            </a:r>
          </a:p>
          <a:p>
            <a:pPr>
              <a:lnSpc>
                <a:spcPct val="115000"/>
              </a:lnSpc>
              <a:spcAft>
                <a:spcPts val="800"/>
              </a:spcAft>
              <a:defRPr sz="1300">
                <a:solidFill>
                  <a:srgbClr val="1E293B"/>
                </a:solidFill>
                <a:latin typeface="Arial"/>
              </a:defRPr>
            </a:pPr>
            <a:r>
              <a:t>•   **Security Incident Response Playbooks:** Developing specific runbooks for common security incidents (e.g., unauthorized access, data exfiltration, DDoS attacks).</a:t>
            </a:r>
          </a:p>
          <a:p>
            <a:pPr>
              <a:spcBef>
                <a:spcPts val="1400"/>
              </a:spcBef>
              <a:defRPr sz="1050" b="1">
                <a:solidFill>
                  <a:srgbClr val="4F46E5"/>
                </a:solidFill>
                <a:latin typeface="Arial"/>
              </a:defRPr>
            </a:pPr>
            <a:r>
              <a:t>Key Takeaway: DevSecOps principles extend deeply into production, demanding continuous monitoring, enforcement, and a well-defined security incident response strategy.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SRE in Action: Incident Management &amp; Proactive Troubleshooting</a:t>
            </a:r>
          </a:p>
          <a:p>
            <a:pPr>
              <a:spcBef>
                <a:spcPts val="400"/>
              </a:spcBef>
              <a:defRPr sz="1300" b="1">
                <a:solidFill>
                  <a:srgbClr val="4F46E5"/>
                </a:solidFill>
                <a:latin typeface="Arial"/>
              </a:defRPr>
            </a:pPr>
            <a:r>
              <a:t>From Alerts to Resolution: Crafting Resilience Through Disciplined Response</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**Effective Incident Management Framework:** Defining roles (Incident Commander, Comms Lead), communication protocols, and escalation paths for rapid response.</a:t>
            </a:r>
          </a:p>
          <a:p>
            <a:pPr>
              <a:lnSpc>
                <a:spcPct val="115000"/>
              </a:lnSpc>
              <a:spcAft>
                <a:spcPts val="800"/>
              </a:spcAft>
              <a:defRPr sz="1300">
                <a:solidFill>
                  <a:srgbClr val="1E293B"/>
                </a:solidFill>
                <a:latin typeface="Arial"/>
              </a:defRPr>
            </a:pPr>
            <a:r>
              <a:t>•   **Structured Troubleshooting Methodologies:** Applying techniques like the scientific method, divide-and-conquer, or 'The Five Whys' to diagnose complex production issues efficiently.</a:t>
            </a:r>
          </a:p>
          <a:p>
            <a:pPr>
              <a:lnSpc>
                <a:spcPct val="115000"/>
              </a:lnSpc>
              <a:spcAft>
                <a:spcPts val="800"/>
              </a:spcAft>
              <a:defRPr sz="1300">
                <a:solidFill>
                  <a:srgbClr val="1E293B"/>
                </a:solidFill>
                <a:latin typeface="Arial"/>
              </a:defRPr>
            </a:pPr>
            <a:r>
              <a:t>•   **Custom Prometheus Alerting Rules:** Developing advanced recording rules for aggregated metrics and complex alerting rules with multi-condition logic and dynamic thresholds.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**Comprehensive Incident Runbooks:** Creating detailed, actionable, and living documentation for diagnosing and resolving common and critical incidents, linked to alerts.</a:t>
            </a:r>
          </a:p>
          <a:p>
            <a:pPr>
              <a:lnSpc>
                <a:spcPct val="115000"/>
              </a:lnSpc>
              <a:spcAft>
                <a:spcPts val="800"/>
              </a:spcAft>
              <a:defRPr sz="1300">
                <a:solidFill>
                  <a:srgbClr val="1E293B"/>
                </a:solidFill>
                <a:latin typeface="Arial"/>
              </a:defRPr>
            </a:pPr>
            <a:r>
              <a:t>•   **Thorough Root Cause Analysis (RCA):** Conducting blameless post-mortems, identifying systemic weaknesses, and tracking actionable preventative items to closure.</a:t>
            </a:r>
          </a:p>
          <a:p>
            <a:pPr>
              <a:spcBef>
                <a:spcPts val="1400"/>
              </a:spcBef>
              <a:defRPr sz="1050" b="1">
                <a:solidFill>
                  <a:srgbClr val="4F46E5"/>
                </a:solidFill>
                <a:latin typeface="Arial"/>
              </a:defRPr>
            </a:pPr>
            <a:r>
              <a:t>Key Takeaway: Proactive SRE practices, coupled with disciplined incident management and thorough RCAs, are the cornerstones of minimizing MTTR and fostering continuous reliability improvement.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F1F5F9"/>
                </a:solidFill>
                <a:latin typeface="Arial"/>
              </a:defRPr>
            </a:pPr>
            <a:r>
              <a:t>Strategic 6-Month Mastery Roadmap for Production SRE</a:t>
            </a:r>
          </a:p>
          <a:p>
            <a:pPr>
              <a:spcBef>
                <a:spcPts val="400"/>
              </a:spcBef>
              <a:defRPr sz="1300" b="1">
                <a:solidFill>
                  <a:srgbClr val="14B8A6"/>
                </a:solidFill>
                <a:latin typeface="Arial"/>
              </a:defRPr>
            </a:pPr>
            <a:r>
              <a:t>Phased Implementation for Sustainable Operational Excellence and Reliability</a:t>
            </a:r>
          </a:p>
        </p:txBody>
      </p:sp>
      <p:sp>
        <p:nvSpPr>
          <p:cNvPr id="4" name="Rectangle 3"/>
          <p:cNvSpPr/>
          <p:nvPr/>
        </p:nvSpPr>
        <p:spPr>
          <a:xfrm>
            <a:off x="731520" y="3474720"/>
            <a:ext cx="106984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0312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01</a:t>
            </a:r>
          </a:p>
          <a:p>
            <a:pPr algn="ctr">
              <a:defRPr sz="1200">
                <a:solidFill>
                  <a:srgbClr val="F1F5F9"/>
                </a:solidFill>
                <a:latin typeface="Arial"/>
              </a:defRPr>
            </a:pPr>
            <a:r>
              <a:t>**Months 1-2: Observability Foundation &amp; Baseline Alerting** - Deploy unified monitoring, logging, tracing. Define initial SLIs/SLOs for critical services. Configure basic Prometheus alerts for key health metrics.</a:t>
            </a:r>
          </a:p>
        </p:txBody>
      </p:sp>
      <p:sp>
        <p:nvSpPr>
          <p:cNvPr id="7" name="Rectangle 6"/>
          <p:cNvSpPr/>
          <p:nvPr/>
        </p:nvSpPr>
        <p:spPr>
          <a:xfrm>
            <a:off x="585216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02</a:t>
            </a:r>
          </a:p>
          <a:p>
            <a:pPr algn="ctr">
              <a:defRPr sz="1200">
                <a:solidFill>
                  <a:srgbClr val="F1F5F9"/>
                </a:solidFill>
                <a:latin typeface="Arial"/>
              </a:defRPr>
            </a:pPr>
            <a:r>
              <a:t>**Months 3-4: Advanced Alerting &amp; Initial Runbooks** - Develop custom Prometheus recording and alerting rules based on error budgets. Draft runbooks for top 5-10 common incidents. Conduct tabletop incident simulations.</a:t>
            </a:r>
          </a:p>
        </p:txBody>
      </p:sp>
      <p:sp>
        <p:nvSpPr>
          <p:cNvPr id="9" name="Rectangle 8"/>
          <p:cNvSpPr/>
          <p:nvPr/>
        </p:nvSpPr>
        <p:spPr>
          <a:xfrm>
            <a:off x="960120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03</a:t>
            </a:r>
          </a:p>
          <a:p>
            <a:pPr algn="ctr">
              <a:defRPr sz="1200">
                <a:solidFill>
                  <a:srgbClr val="F1F5F9"/>
                </a:solidFill>
                <a:latin typeface="Arial"/>
              </a:defRPr>
            </a:pPr>
            <a:r>
              <a:t>**Months 5-6: Incident Management Maturity &amp; Security Integration** - Formalize incident commander roles, communication plans. Integrate runtime security monitoring tools. Implement first blameless RCA process. Begin automating runbook steps.</a:t>
            </a:r>
          </a:p>
        </p:txBody>
      </p:sp>
      <p:sp>
        <p:nvSpPr>
          <p:cNvPr id="11" name="TextBox 10"/>
          <p:cNvSpPr txBox="1"/>
          <p:nvPr/>
        </p:nvSpPr>
        <p:spPr>
          <a:xfrm>
            <a:off x="731520" y="5943600"/>
            <a:ext cx="10698480" cy="457200"/>
          </a:xfrm>
          <a:prstGeom prst="rect">
            <a:avLst/>
          </a:prstGeom>
          <a:noFill/>
        </p:spPr>
        <p:txBody>
          <a:bodyPr wrap="none">
            <a:spAutoFit/>
          </a:bodyPr>
          <a:lstStyle/>
          <a:p>
            <a:pPr algn="ctr">
              <a:defRPr sz="1100" b="1">
                <a:solidFill>
                  <a:srgbClr val="14B8A6"/>
                </a:solidFill>
                <a:latin typeface="Arial"/>
              </a:defRPr>
            </a:pPr>
            <a:r>
              <a:t>Goal: Achieving SRE mastery is an iterative journey. A phased roadmap ensures steady progress, building capabilities incrementally for sustained operational excellence.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