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Part 1 of our CI/CD Masterclass series. Today, we focus on the foundations: building deterministic pipelines, optimizing runner topologies, and integrating security and observability at the ground level. We will move away from legacy, mutable build servers toward highly scalable, containerized execution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dive into the core architecture. We must transition away from mutable Jenkins masters to ephemeral, containerized executors. Ensure you are locking down your container images using SHA digests rather than tags, and implement robust caching keys to prevent redundant dependency downloads.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at the foundational level is about eliminating static secrets. By using OIDC, we eliminate long-lived cloud credentials on our runners. Additionally, we enforce non-blocking SAST and SBOM generation during the compile stage to catch vulnerabilities before they reach any registry.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pipeline fails, SREs need rapid feedback. By exporting pipeline metrics to Prometheus and centralizing logs with unique build IDs, we reduce MTTR significantly. Remember, a rollback should never require a full rebuild; it should be a metadata or tag pointer update where possible.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roadmap outlines our strategic journey. We begin with standardization of our runners and pipeline definitions, transition into zero-trust security integrations in the mid-term, and culminate with advanced observability and performance tuning to achieve a highly resilient software delivery lifecycle.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Architecting Modern CI/CD Foundations</a:t>
            </a:r>
          </a:p>
          <a:p>
            <a:pPr>
              <a:spcBef>
                <a:spcPts val="1000"/>
              </a:spcBef>
              <a:defRPr sz="1600">
                <a:solidFill>
                  <a:srgbClr val="94A3B8"/>
                </a:solidFill>
                <a:latin typeface="Arial"/>
              </a:defRPr>
            </a:pPr>
            <a:r>
              <a:t>Part 1: Topologies, Configurations, and Declarative Delivery Pipelines</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Declarative Pipeline Topologies &amp; Core Configurations</a:t>
            </a:r>
          </a:p>
          <a:p>
            <a:pPr>
              <a:spcBef>
                <a:spcPts val="400"/>
              </a:spcBef>
              <a:defRPr sz="1300" b="1">
                <a:solidFill>
                  <a:srgbClr val="4F46E5"/>
                </a:solidFill>
                <a:latin typeface="Arial"/>
              </a:defRPr>
            </a:pPr>
            <a:r>
              <a:t>Designing Deterministic, Scalable, and Cached Build Architectures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Decoupled Runner Topologies: Leveraging ephemeral, self-hosted Kubernetes runners (e.g., Actions Runner Controller) to isolate build environments and eliminate execution drift.</a:t>
            </a:r>
          </a:p>
          <a:p>
            <a:pPr>
              <a:lnSpc>
                <a:spcPct val="115000"/>
              </a:lnSpc>
              <a:spcAft>
                <a:spcPts val="800"/>
              </a:spcAft>
              <a:defRPr sz="1300">
                <a:solidFill>
                  <a:srgbClr val="1E293B"/>
                </a:solidFill>
                <a:latin typeface="Arial"/>
              </a:defRPr>
            </a:pPr>
            <a:r>
              <a:t>•   Deterministic Declarative Pipelines: Enforcing immutable build environments using explicit containerized steps (e.g., using explicit SHA-256 image digests instead of mutable 'latest' tags).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Advanced Caching Strategies: Implementing multi-key distributed caching (e.g., 'v1-deps-{{ checksum "package-lock.json" }}') to reduce build times by up to 70% across branch executions.</a:t>
            </a:r>
          </a:p>
          <a:p>
            <a:pPr>
              <a:lnSpc>
                <a:spcPct val="115000"/>
              </a:lnSpc>
              <a:spcAft>
                <a:spcPts val="800"/>
              </a:spcAft>
              <a:defRPr sz="1300">
                <a:solidFill>
                  <a:srgbClr val="1E293B"/>
                </a:solidFill>
                <a:latin typeface="Arial"/>
              </a:defRPr>
            </a:pPr>
            <a:r>
              <a:t>•   Artifact Offloading &amp; Provenance: Utilizing content-addressable storage (Nexus, Artifactory) with SHA-256 validation for build outputs, avoiding storing binaries in Git repositories.</a:t>
            </a:r>
          </a:p>
          <a:p>
            <a:pPr>
              <a:spcBef>
                <a:spcPts val="1400"/>
              </a:spcBef>
              <a:defRPr sz="1050" b="1">
                <a:solidFill>
                  <a:srgbClr val="4F46E5"/>
                </a:solidFill>
                <a:latin typeface="Arial"/>
              </a:defRPr>
            </a:pPr>
            <a:r>
              <a:t>Key Takeaway: Deterministic execution environments combined with intelligent caching and decoupled runners form the baseline of an enterprise-grade CI/CD pipeline.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Foundational DevSecOps: Hardening the Pipeline</a:t>
            </a:r>
          </a:p>
          <a:p>
            <a:pPr>
              <a:spcBef>
                <a:spcPts val="400"/>
              </a:spcBef>
              <a:defRPr sz="1300" b="1">
                <a:solidFill>
                  <a:srgbClr val="4F46E5"/>
                </a:solidFill>
                <a:latin typeface="Arial"/>
              </a:defRPr>
            </a:pPr>
            <a:r>
              <a:t>Securing Runners, Managing Secrets, and Shifting Security Left</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Zero-Trust Secret Injection: Replacing hardcoded environment variables with dynamic OpenID Connect (OIDC) authentication to fetch ephemeral secrets from HashiCorp Vault or AWS Secrets Manager.</a:t>
            </a:r>
          </a:p>
          <a:p>
            <a:pPr>
              <a:lnSpc>
                <a:spcPct val="115000"/>
              </a:lnSpc>
              <a:spcAft>
                <a:spcPts val="800"/>
              </a:spcAft>
              <a:defRPr sz="1300">
                <a:solidFill>
                  <a:srgbClr val="1E293B"/>
                </a:solidFill>
                <a:latin typeface="Arial"/>
              </a:defRPr>
            </a:pPr>
            <a:r>
              <a:t>•   Static Application Security Testing (SAST): Integrating lightweight, non-blocking AST tools (e.g., Semgrep, SonarQube) directly into the commit phase with strict PR-blocking rules.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Software Bill of Materials (SBOM): Generating CycloneDX or SPDX compliant SBOMs at build time using Syft or Trivy to track and inventory transitive dependency vulnerabilities.</a:t>
            </a:r>
          </a:p>
          <a:p>
            <a:pPr>
              <a:lnSpc>
                <a:spcPct val="115000"/>
              </a:lnSpc>
              <a:spcAft>
                <a:spcPts val="800"/>
              </a:spcAft>
              <a:defRPr sz="1300">
                <a:solidFill>
                  <a:srgbClr val="1E293B"/>
                </a:solidFill>
                <a:latin typeface="Arial"/>
              </a:defRPr>
            </a:pPr>
            <a:r>
              <a:t>•   Runner Network Isolation: Restricting runner network egress using Kubernetes network policies (Calico/Cilium) to prevent data exfiltration during untrusted dependency resolution.</a:t>
            </a:r>
          </a:p>
          <a:p>
            <a:pPr>
              <a:spcBef>
                <a:spcPts val="1400"/>
              </a:spcBef>
              <a:defRPr sz="1050" b="1">
                <a:solidFill>
                  <a:srgbClr val="4F46E5"/>
                </a:solidFill>
                <a:latin typeface="Arial"/>
              </a:defRPr>
            </a:pPr>
            <a:r>
              <a:t>Key Takeaway: Security must be baked into the foundational pipeline configuration using dynamic identity (OIDC) and automated static scans rather than treated as an afterthought.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SRE &amp; Pipeline Observability: Metrics, Logs, and Rollbacks</a:t>
            </a:r>
          </a:p>
          <a:p>
            <a:pPr>
              <a:spcBef>
                <a:spcPts val="400"/>
              </a:spcBef>
              <a:defRPr sz="1300" b="1">
                <a:solidFill>
                  <a:srgbClr val="4F46E5"/>
                </a:solidFill>
                <a:latin typeface="Arial"/>
              </a:defRPr>
            </a:pPr>
            <a:r>
              <a:t>Minimizing Mean Time to Repair (MTTR) for Build and Deployment Failures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Pipeline Golden Signals: Monitoring pipeline execution duration, failure rates, queue wait times, and runner resource utilization (CPU/Memory) via Prometheus exporters.</a:t>
            </a:r>
          </a:p>
          <a:p>
            <a:pPr>
              <a:lnSpc>
                <a:spcPct val="115000"/>
              </a:lnSpc>
              <a:spcAft>
                <a:spcPts val="800"/>
              </a:spcAft>
              <a:defRPr sz="1300">
                <a:solidFill>
                  <a:srgbClr val="1E293B"/>
                </a:solidFill>
                <a:latin typeface="Arial"/>
              </a:defRPr>
            </a:pPr>
            <a:r>
              <a:t>•   Structured Logging &amp; Traceability: Injecting unique build IDs and correlation tokens across pipeline stages to enable centralized log aggregation in OpenSearch or Splunk.</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Deterministic Rollback Topologies: Designing instant rollback mechanisms utilizing Git-revert strategies or blue-green traffic switching, bypassing full recompilation phases.</a:t>
            </a:r>
          </a:p>
          <a:p>
            <a:pPr>
              <a:lnSpc>
                <a:spcPct val="115000"/>
              </a:lnSpc>
              <a:spcAft>
                <a:spcPts val="800"/>
              </a:spcAft>
              <a:defRPr sz="1300">
                <a:solidFill>
                  <a:srgbClr val="1E293B"/>
                </a:solidFill>
                <a:latin typeface="Arial"/>
              </a:defRPr>
            </a:pPr>
            <a:r>
              <a:t>•   Self-Healing Runner Pools: Implementing autoscaling runner policies based on queue-depth metrics to mitigate job starvation and resource exhaustion incidents.</a:t>
            </a:r>
          </a:p>
          <a:p>
            <a:pPr>
              <a:spcBef>
                <a:spcPts val="1400"/>
              </a:spcBef>
              <a:defRPr sz="1050" b="1">
                <a:solidFill>
                  <a:srgbClr val="4F46E5"/>
                </a:solidFill>
                <a:latin typeface="Arial"/>
              </a:defRPr>
            </a:pPr>
            <a:r>
              <a:t>Key Takeaway: Treat your deployment pipelines as production-critical software; monitor them with the same rigor, using metrics, structured logging, and robust rollback pathways.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6-Month Strategic CI/CD Mastery Roadmap</a:t>
            </a:r>
          </a:p>
          <a:p>
            <a:pPr>
              <a:spcBef>
                <a:spcPts val="400"/>
              </a:spcBef>
              <a:defRPr sz="1300" b="1">
                <a:solidFill>
                  <a:srgbClr val="14B8A6"/>
                </a:solidFill>
                <a:latin typeface="Arial"/>
              </a:defRPr>
            </a:pPr>
            <a:r>
              <a:t>A Phased Execution Plan for Implementing Enterprise-Grade Delivery Pipelines</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(Standardization): Audit existing build workflows, migrate legacy scripts to declarative YAML, and establish containerized, ephemeral runner pools.</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(Hardening &amp; Security): Implement OIDC-based secret management, integrate SAST/SCA scanning into pull requests, and enforce strict network egress rules on runners.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(Observability &amp; Optimization): Deploy Prometheus pipeline exporters, implement distributed caching, and establish automated rollback strategies with defined SLIs/SLOs.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Achieving CI/CD excellence requires a structured approach—moving from standardizing execution environments, to hardening security, and finally optimizing through deep SRE observability.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