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1 of our Enterprise Git Mastery series. Today, we are moving past basic 'add/commit/push' workflows to dissect Git’s internal architecture, local topologies, and security foundations. As architects and SREs, understanding Git’s DAG and cryptographic object model is crucial for designing robust CI/CD pipelines and troubleshooting complex repository states.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dissect the logical three-tree model and contrast it with Git's physical storage model. We emphasize that Git does not store diffs; it stores snapshots. Understanding the transition of data from working tree to index via 'git add', and then to object store via 'git commit' using plumbing commands, demystifies how Git manages state and prevents data loss during complex rebases.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Slide 3, we address Git security. A common vulnerability is author spoofing—anyone can commit as anyone else if signature verification is not enforced. We'll discuss configuring GPG/SSH keys for signing commits. We also show how to use 'includeIf' in .gitconfig to separate corporate configurations from personal ones, and how to implement pre-commit hooks to stop API keys and certificates from ever being written to the Git object store.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focuses on SRE-level incident response within Git. Developers often panic when they lose commits during a hard reset or get stuck in a detached HEAD state. We will demystify these states, showing how the reflog acts as a transaction log of the local repository. We will also cover database maintenance using 'git fsck' and garbage collection, which are vital when troubleshooting corrupted local environments or optimizing large monorepos.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on Slide 5, we present a pragmatic 6-month roadmap to scale these foundations across your engineering organization. We start with low-hanging fruit like local hardening and commit signing in the first two months. By mid-year, we transition to advanced local workflows, and ultimately scale to monorepo optimizations and tight GitOps pipeline integrations. This roadmap ensures your infrastructure and developer experience scale securely and efficiently.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Git Foundations &amp; Architecture (Part 1/3)</a:t>
            </a:r>
          </a:p>
          <a:p>
            <a:pPr>
              <a:spcBef>
                <a:spcPts val="1000"/>
              </a:spcBef>
              <a:defRPr sz="1600">
                <a:solidFill>
                  <a:srgbClr val="94A3B8"/>
                </a:solidFill>
                <a:latin typeface="Arial"/>
              </a:defRPr>
            </a:pPr>
            <a:r>
              <a:t>Establishing Immutable Version Control, Cryptographic Integrity, and High-Performance Local Topologies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Anatomy of the Git Directed Acyclic Graph (DAG)</a:t>
            </a:r>
          </a:p>
          <a:p>
            <a:pPr>
              <a:spcBef>
                <a:spcPts val="400"/>
              </a:spcBef>
              <a:defRPr sz="1300" b="1">
                <a:solidFill>
                  <a:srgbClr val="4F46E5"/>
                </a:solidFill>
                <a:latin typeface="Arial"/>
              </a:defRPr>
            </a:pPr>
            <a:r>
              <a:t>Deep-Dive into Objects, Plumbing Commands, and Three-Tree Architecture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The Three-Tree Architecture: Mastering the distinct lifecycles of the Working Directory, the Staging Area (Index), and the HEAD repository state.</a:t>
            </a:r>
          </a:p>
          <a:p>
            <a:pPr>
              <a:lnSpc>
                <a:spcPct val="115000"/>
              </a:lnSpc>
              <a:spcAft>
                <a:spcPts val="800"/>
              </a:spcAft>
              <a:defRPr sz="1300">
                <a:solidFill>
                  <a:srgbClr val="1E293B"/>
                </a:solidFill>
                <a:latin typeface="Arial"/>
              </a:defRPr>
            </a:pPr>
            <a:r>
              <a:t>•   The Immutable Object Store: How Git uses SHA-1/SHA-256 hashing to write Blobs (file content), Trees (directories), Commits (metadata + tree pointers), and Tags (annotated references).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Plumbing vs. Porcelain: Leveraging low-level plumbing commands (cat-file, hash-object, write-tree) to inspect, debug, and script custom repository states programmatically.</a:t>
            </a:r>
          </a:p>
          <a:p>
            <a:pPr>
              <a:spcBef>
                <a:spcPts val="1400"/>
              </a:spcBef>
              <a:defRPr sz="1050" b="1">
                <a:solidFill>
                  <a:srgbClr val="4F46E5"/>
                </a:solidFill>
                <a:latin typeface="Arial"/>
              </a:defRPr>
            </a:pPr>
            <a:r>
              <a:t>Key Takeaway: Every Git commit is an immutable snapshot of the entire project state, referenced via cryptographic hashes, ensuring absolute historical integrity.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the Local Git Environment</a:t>
            </a:r>
          </a:p>
          <a:p>
            <a:pPr>
              <a:spcBef>
                <a:spcPts val="400"/>
              </a:spcBef>
              <a:defRPr sz="1300" b="1">
                <a:solidFill>
                  <a:srgbClr val="4F46E5"/>
                </a:solidFill>
                <a:latin typeface="Arial"/>
              </a:defRPr>
            </a:pPr>
            <a:r>
              <a:t>Enforcing Cryptographic Identity, Global Configurations, and Secret Prevention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Cryptographic Commit Verification: Configuring mandatory SSH or GPG signing (commit.gpgsign, tag.gpgsign) to prevent author spoofing and guarantee non-repudiation.</a:t>
            </a:r>
          </a:p>
          <a:p>
            <a:pPr>
              <a:lnSpc>
                <a:spcPct val="115000"/>
              </a:lnSpc>
              <a:spcAft>
                <a:spcPts val="800"/>
              </a:spcAft>
              <a:defRPr sz="1300">
                <a:solidFill>
                  <a:srgbClr val="1E293B"/>
                </a:solidFill>
                <a:latin typeface="Arial"/>
              </a:defRPr>
            </a:pPr>
            <a:r>
              <a:t>•   Enterprise-Grade Configuration Management: Structuring local, global, and system-level .gitconfig files with conditional includes (includeIf) for multi-tenant developer workstations.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Automated Secret Prevention: Implementing pre-commit hooks and static analysis tools (e.g., Gitleaks, Trufflehog) within the local lifecycle to block credentials before they reach the staging area.</a:t>
            </a:r>
          </a:p>
          <a:p>
            <a:pPr>
              <a:spcBef>
                <a:spcPts val="1400"/>
              </a:spcBef>
              <a:defRPr sz="1050" b="1">
                <a:solidFill>
                  <a:srgbClr val="4F46E5"/>
                </a:solidFill>
                <a:latin typeface="Arial"/>
              </a:defRPr>
            </a:pPr>
            <a:r>
              <a:t>Key Takeaway: Security in Git starts at the developer workstation; enforcing signed commits and local pre-commit scanning is the first line of defense against supply chain attacks.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Guide to Disaster Recovery &amp; Git Internals</a:t>
            </a:r>
          </a:p>
          <a:p>
            <a:pPr>
              <a:spcBef>
                <a:spcPts val="400"/>
              </a:spcBef>
              <a:defRPr sz="1300" b="1">
                <a:solidFill>
                  <a:srgbClr val="4F46E5"/>
                </a:solidFill>
                <a:latin typeface="Arial"/>
              </a:defRPr>
            </a:pPr>
            <a:r>
              <a:t>Rescuing Lost Commits, Resolving Head Anomalies, and Analyzing Reflogs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The SRE Safety Net (The Reflog): Utilizing git reflog to trace and recover orphaned commits, accidental hard resets (reset --hard), or broken rebase operations.</a:t>
            </a:r>
          </a:p>
          <a:p>
            <a:pPr>
              <a:lnSpc>
                <a:spcPct val="115000"/>
              </a:lnSpc>
              <a:spcAft>
                <a:spcPts val="800"/>
              </a:spcAft>
              <a:defRPr sz="1300">
                <a:solidFill>
                  <a:srgbClr val="1E293B"/>
                </a:solidFill>
                <a:latin typeface="Arial"/>
              </a:defRPr>
            </a:pPr>
            <a:r>
              <a:t>•   Demystifying 'Detached HEAD' States: Understanding the mechanics of a HEAD pointing directly to a commit SHA rather than a branch reference, and safely reconciling it.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Repository Diagnostics and Garbage Collection: Executing git fsck to verify database integrity and utilizing git gc --prune=now safely to optimize local packfiles and prune dangling objects.</a:t>
            </a:r>
          </a:p>
          <a:p>
            <a:pPr>
              <a:spcBef>
                <a:spcPts val="1400"/>
              </a:spcBef>
              <a:defRPr sz="1050" b="1">
                <a:solidFill>
                  <a:srgbClr val="4F46E5"/>
                </a:solidFill>
                <a:latin typeface="Arial"/>
              </a:defRPr>
            </a:pPr>
            <a:r>
              <a:t>Key Takeaway: In Git, data is rarely lost immediately; the reflog and loose object store provide a reliable window for SREs to recover from catastrophic local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Git Mastery &amp; Architecture Roadmap</a:t>
            </a:r>
          </a:p>
          <a:p>
            <a:pPr>
              <a:spcBef>
                <a:spcPts val="400"/>
              </a:spcBef>
              <a:defRPr sz="1300" b="1">
                <a:solidFill>
                  <a:srgbClr val="14B8A6"/>
                </a:solidFill>
                <a:latin typeface="Arial"/>
              </a:defRPr>
            </a:pPr>
            <a:r>
              <a:t>Elevating Team Workflows from Basic Versioning to High-Performance GitOps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 1-2 (Foundational Hardening): Standardize signing keys, establish enterprise-wide .gitignore and .gitattributes policies, and implement pre-commit secret scanning hooks.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 3-4 (Advanced Local Workflows): Train engineering teams on interactive rebasing, precise cherry-picking, complex conflict resolution strategies, and advanced reflog recovery.</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 5-6 (Scale &amp; Platform Integration): Integrate local security policies with CI/CD branch protection rules, optimize monorepos using sparse-checkouts, and align with GitOps patterns.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Transitioning from basic Git usage to an enterprise GitOps model requires a structured journey of local hardening, advanced workflow training, and automated policy enforcement.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