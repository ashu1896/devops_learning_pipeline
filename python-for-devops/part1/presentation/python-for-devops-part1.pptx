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In Part 1 of our Python for DevOps series, we are focusing on core foundations—moving away from fragile shell scripts toward enterprise-grade, maintainable Python automation. We will cover environment isolation, security hardening, robust error handling, and a strategic mastery roadmap.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breaks down execution topology. As SREs, our first rule is determinism. Relying on global system Python is a critical anti-pattern. We enforce environment isolation using venv or uv, prioritize native libraries to minimize supply chain attack surfaces, and enforce strict hash-verified lockfiles across automated build pipelines.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cannot be an afterthought in DevOps scripting. In Slide 3, we emphasize secure credential handling—never hardcoding secrets or connection strings. We enforce subprocess safety with strict timeouts to prevent hanging jobs, and audit third-party packages via pip-audit directly inside pre-commit workflows.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Slide 4, we focus on SRE principles. When a script runs in a CI runner or Kubernetes CronJob, plain print statements are insufficient. We mandate structured JSON logging with correlation IDs. Additionally, scripts must catch specific exceptions, exit with standardized codes, and trap SIGTERM signals for clean shutdown.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Slide 5 provides a 6-month capability maturity roadmap. Engineers often rush into complex cloud SDKs like Boto3 without understanding exception handling or virtual environments. This phased approach guarantees a solid foundation in clean code, security, and SRE best practices before moving on to Cloud Native automation in Parts 2 and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2011680"/>
            <a:ext cx="91440" cy="2926080"/>
          </a:xfrm>
          <a:prstGeom prst="rect">
            <a:avLst/>
          </a:prstGeom>
          <a:solidFill>
            <a:srgbClr val="4F46E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011680"/>
            <a:ext cx="9601200" cy="2926080"/>
          </a:xfrm>
          <a:prstGeom prst="rect">
            <a:avLst/>
          </a:prstGeom>
          <a:noFill/>
        </p:spPr>
        <p:txBody>
          <a:bodyPr wrap="square" lIns="0" tIns="0" bIns="0" rIns="0">
            <a:spAutoFit/>
          </a:bodyPr>
          <a:lstStyle/>
          <a:p>
            <a:pPr>
              <a:spcAft>
                <a:spcPts val="1000"/>
              </a:spcAft>
              <a:defRPr sz="1300" b="1">
                <a:solidFill>
                  <a:srgbClr val="14B8A6"/>
                </a:solidFill>
                <a:latin typeface="Arial"/>
              </a:defRPr>
            </a:pPr>
            <a:r>
              <a:t>6-MONTH DEVops MASTERCLASS</a:t>
            </a:r>
          </a:p>
          <a:p>
            <a:pPr>
              <a:defRPr sz="4400" b="1">
                <a:solidFill>
                  <a:srgbClr val="F1F5F9"/>
                </a:solidFill>
                <a:latin typeface="Arial"/>
              </a:defRPr>
            </a:pPr>
            <a:r>
              <a:t>Python for DevOps: Core Foundations &amp; Scripting Architecture</a:t>
            </a:r>
          </a:p>
          <a:p>
            <a:pPr>
              <a:spcBef>
                <a:spcPts val="1000"/>
              </a:spcBef>
              <a:defRPr sz="1600">
                <a:solidFill>
                  <a:srgbClr val="94A3B8"/>
                </a:solidFill>
                <a:latin typeface="Arial"/>
              </a:defRPr>
            </a:pPr>
            <a:r>
              <a:t>Enterprise Automation Strategy &amp; Production-Ready Standards (Part 1 of 3)</a:t>
            </a:r>
          </a:p>
        </p:txBody>
      </p:sp>
      <p:sp>
        <p:nvSpPr>
          <p:cNvPr id="5" name="TextBox 4"/>
          <p:cNvSpPr txBox="1"/>
          <p:nvPr/>
        </p:nvSpPr>
        <p:spPr>
          <a:xfrm>
            <a:off x="1097280" y="5669280"/>
            <a:ext cx="9601200" cy="548640"/>
          </a:xfrm>
          <a:prstGeom prst="rect">
            <a:avLst/>
          </a:prstGeom>
          <a:noFill/>
        </p:spPr>
        <p:txBody>
          <a:bodyPr wrap="none">
            <a:spAutoFit/>
          </a:bodyPr>
          <a:lstStyle/>
          <a:p>
            <a:pPr>
              <a:defRPr sz="950" b="1">
                <a:solidFill>
                  <a:srgbClr val="64748B"/>
                </a:solidFill>
                <a:latin typeface="Arial"/>
              </a:defRPr>
            </a:pPr>
            <a:r>
              <a:t>SRE &amp; PLATFORM ENGINEERING GROUP  •  AUTOMATED PIPELINE GENERATION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Environment Topology &amp; Tooling Foundations</a:t>
            </a:r>
          </a:p>
          <a:p>
            <a:pPr>
              <a:spcBef>
                <a:spcPts val="400"/>
              </a:spcBef>
              <a:defRPr sz="1300" b="1">
                <a:solidFill>
                  <a:srgbClr val="4F46E5"/>
                </a:solidFill>
                <a:latin typeface="Arial"/>
              </a:defRPr>
            </a:pPr>
            <a:r>
              <a:t>Modular Architecture, Runtime Isolation, and Dependency Management</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Runtime Isolation &amp; Governance: Enforce strict virtual environment (`venv`, `uv`, `poetry`) boundaries to prevent system-level package pollution</a:t>
            </a:r>
          </a:p>
          <a:p>
            <a:pPr>
              <a:lnSpc>
                <a:spcPct val="115000"/>
              </a:lnSpc>
              <a:spcAft>
                <a:spcPts val="800"/>
              </a:spcAft>
              <a:defRPr sz="1300">
                <a:solidFill>
                  <a:srgbClr val="1E293B"/>
                </a:solidFill>
                <a:latin typeface="Arial"/>
              </a:defRPr>
            </a:pPr>
            <a:r>
              <a:t>•   Standard Library Prioritization: Leverage native modules (`os`, `sys`, `subprocess`, `pathlib`, `json`) for zero-dependency portability across runners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Deterministic Package Management: Standardize dependency pinning via hash-verified lockfiles (`requirements.txt`, `Pipfile.lock`) in CI/CD</a:t>
            </a:r>
          </a:p>
          <a:p>
            <a:pPr>
              <a:lnSpc>
                <a:spcPct val="115000"/>
              </a:lnSpc>
              <a:spcAft>
                <a:spcPts val="800"/>
              </a:spcAft>
              <a:defRPr sz="1300">
                <a:solidFill>
                  <a:srgbClr val="1E293B"/>
                </a:solidFill>
                <a:latin typeface="Arial"/>
              </a:defRPr>
            </a:pPr>
            <a:r>
              <a:t>•   Structured CLI Architecture: Modularize operational logic using standardized argument parsing frameworks (`argparse`, `click`, `typer`)</a:t>
            </a:r>
          </a:p>
          <a:p>
            <a:pPr>
              <a:spcBef>
                <a:spcPts val="1400"/>
              </a:spcBef>
              <a:defRPr sz="1050" b="1">
                <a:solidFill>
                  <a:srgbClr val="4F46E5"/>
                </a:solidFill>
                <a:latin typeface="Arial"/>
              </a:defRPr>
            </a:pPr>
            <a:r>
              <a:t>Key Takeaway: A resilient Python DevOps workflow depends on strict environment isolation, standard library prioritization, and deterministic dependency locking.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Script Hardening &amp; DevSecOps Integration</a:t>
            </a:r>
          </a:p>
          <a:p>
            <a:pPr>
              <a:spcBef>
                <a:spcPts val="400"/>
              </a:spcBef>
              <a:defRPr sz="1300" b="1">
                <a:solidFill>
                  <a:srgbClr val="4F46E5"/>
                </a:solidFill>
                <a:latin typeface="Arial"/>
              </a:defRPr>
            </a:pPr>
            <a:r>
              <a:t>Secrets Management, Static Analysis, and Supply Chain Guardrails</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Zero-Trust Secrets Ingestion: Prohibit hardcoded credentials; fetch secrets at runtime via environment variables or secret vaults (`os.getenv`, HashiCorp Vault API)</a:t>
            </a:r>
          </a:p>
          <a:p>
            <a:pPr>
              <a:lnSpc>
                <a:spcPct val="115000"/>
              </a:lnSpc>
              <a:spcAft>
                <a:spcPts val="800"/>
              </a:spcAft>
              <a:defRPr sz="1300">
                <a:solidFill>
                  <a:srgbClr val="1E293B"/>
                </a:solidFill>
                <a:latin typeface="Arial"/>
              </a:defRPr>
            </a:pPr>
            <a:r>
              <a:t>•   AST &amp; Static Security Analysis: Integrate `bandit` and `semgrep` into pre-commit hooks to detect unsafe deserialization, shell injections, and weak permissions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Software Supply Chain Auditing: Execute automated vulnerability scanning on third-party packages using `pip-audit` and `safety` in build pipelines</a:t>
            </a:r>
          </a:p>
          <a:p>
            <a:pPr>
              <a:lnSpc>
                <a:spcPct val="115000"/>
              </a:lnSpc>
              <a:spcAft>
                <a:spcPts val="800"/>
              </a:spcAft>
              <a:defRPr sz="1300">
                <a:solidFill>
                  <a:srgbClr val="1E293B"/>
                </a:solidFill>
                <a:latin typeface="Arial"/>
              </a:defRPr>
            </a:pPr>
            <a:r>
              <a:t>•   Defensive Execution Limits: Enforce explicit execution timeouts and strict argument sanitization on all OS sub-processes (`subprocess.run(..., timeout=30, check=True)`)</a:t>
            </a:r>
          </a:p>
          <a:p>
            <a:pPr>
              <a:spcBef>
                <a:spcPts val="1400"/>
              </a:spcBef>
              <a:defRPr sz="1050" b="1">
                <a:solidFill>
                  <a:srgbClr val="4F46E5"/>
                </a:solidFill>
                <a:latin typeface="Arial"/>
              </a:defRPr>
            </a:pPr>
            <a:r>
              <a:t>Key Takeaway: Shift security left by integrating static analysis, secrets masking, and subprocess guards directly into early Python development flows.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1E293B"/>
                </a:solidFill>
                <a:latin typeface="Arial"/>
              </a:defRPr>
            </a:pPr>
            <a:r>
              <a:t>SRE Resiliency, Logging &amp; Incident Diagnostics</a:t>
            </a:r>
          </a:p>
          <a:p>
            <a:pPr>
              <a:spcBef>
                <a:spcPts val="400"/>
              </a:spcBef>
              <a:defRPr sz="1300" b="1">
                <a:solidFill>
                  <a:srgbClr val="4F46E5"/>
                </a:solidFill>
                <a:latin typeface="Arial"/>
              </a:defRPr>
            </a:pPr>
            <a:r>
              <a:t>Defensive Error Handling, Structured Telemetry, and Rapid Troubleshooting</a:t>
            </a:r>
          </a:p>
        </p:txBody>
      </p:sp>
      <p:sp>
        <p:nvSpPr>
          <p:cNvPr id="4" name="TextBox 3"/>
          <p:cNvSpPr txBox="1"/>
          <p:nvPr/>
        </p:nvSpPr>
        <p:spPr>
          <a:xfrm>
            <a:off x="731520" y="1828800"/>
            <a:ext cx="5120640" cy="3840480"/>
          </a:xfrm>
          <a:prstGeom prst="rect">
            <a:avLst/>
          </a:prstGeom>
          <a:noFill/>
        </p:spPr>
        <p:txBody>
          <a:bodyPr wrap="square">
            <a:spAutoFit/>
          </a:bodyPr>
          <a:lstStyle/>
          <a:p>
            <a:pPr>
              <a:spcAft>
                <a:spcPts val="1000"/>
              </a:spcAft>
              <a:defRPr sz="1100" b="1">
                <a:solidFill>
                  <a:srgbClr val="4F46E5"/>
                </a:solidFill>
                <a:latin typeface="Arial"/>
              </a:defRPr>
            </a:pPr>
            <a:r>
              <a:t>ARCHITECTURAL BLUEPRINT &amp; BLUEPRINTS</a:t>
            </a:r>
          </a:p>
          <a:p>
            <a:pPr>
              <a:lnSpc>
                <a:spcPct val="115000"/>
              </a:lnSpc>
              <a:spcAft>
                <a:spcPts val="800"/>
              </a:spcAft>
              <a:defRPr sz="1300">
                <a:solidFill>
                  <a:srgbClr val="1E293B"/>
                </a:solidFill>
                <a:latin typeface="Arial"/>
              </a:defRPr>
            </a:pPr>
            <a:r>
              <a:t>•   Structured JSON Telemetry: Configure `logging` module to emit machine-readable JSON logs with trace IDs for centralized ingestion (Datadog, Splunk, Elastic)</a:t>
            </a:r>
          </a:p>
          <a:p>
            <a:pPr>
              <a:lnSpc>
                <a:spcPct val="115000"/>
              </a:lnSpc>
              <a:spcAft>
                <a:spcPts val="800"/>
              </a:spcAft>
              <a:defRPr sz="1300">
                <a:solidFill>
                  <a:srgbClr val="1E293B"/>
                </a:solidFill>
                <a:latin typeface="Arial"/>
              </a:defRPr>
            </a:pPr>
            <a:r>
              <a:t>•   Defensive Exception Hierarchies: Implement explicit, typed exception handling (`try/except/else/finally`) with fallback strategies instead of broad `except:` blocks</a:t>
            </a:r>
          </a:p>
        </p:txBody>
      </p:sp>
      <p:sp>
        <p:nvSpPr>
          <p:cNvPr id="5" name="Rectangle 4"/>
          <p:cNvSpPr/>
          <p:nvPr/>
        </p:nvSpPr>
        <p:spPr>
          <a:xfrm>
            <a:off x="6217920" y="1828800"/>
            <a:ext cx="5212080" cy="3840480"/>
          </a:xfrm>
          <a:prstGeom prst="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217920" y="1828800"/>
            <a:ext cx="5212080" cy="109728"/>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92240" y="2103120"/>
            <a:ext cx="4663440" cy="3291840"/>
          </a:xfrm>
          <a:prstGeom prst="rect">
            <a:avLst/>
          </a:prstGeom>
          <a:noFill/>
        </p:spPr>
        <p:txBody>
          <a:bodyPr wrap="square">
            <a:spAutoFit/>
          </a:bodyPr>
          <a:lstStyle/>
          <a:p>
            <a:pPr>
              <a:spcAft>
                <a:spcPts val="1000"/>
              </a:spcAft>
              <a:defRPr sz="1100" b="1">
                <a:solidFill>
                  <a:srgbClr val="14B8A6"/>
                </a:solidFill>
                <a:latin typeface="Arial"/>
              </a:defRPr>
            </a:pPr>
            <a:r>
              <a:t>ENTERPRISE PRO-TIPS &amp; STRATEGIES</a:t>
            </a:r>
          </a:p>
          <a:p>
            <a:pPr>
              <a:lnSpc>
                <a:spcPct val="115000"/>
              </a:lnSpc>
              <a:spcAft>
                <a:spcPts val="800"/>
              </a:spcAft>
              <a:defRPr sz="1300">
                <a:solidFill>
                  <a:srgbClr val="1E293B"/>
                </a:solidFill>
                <a:latin typeface="Arial"/>
              </a:defRPr>
            </a:pPr>
            <a:r>
              <a:t>•   Self-Healing Diagnostic Tools: Build CLI-driven diagnostic health checks that execute synthetic network/API probes and return explicit POSIX exit codes</a:t>
            </a:r>
          </a:p>
          <a:p>
            <a:pPr>
              <a:lnSpc>
                <a:spcPct val="115000"/>
              </a:lnSpc>
              <a:spcAft>
                <a:spcPts val="800"/>
              </a:spcAft>
              <a:defRPr sz="1300">
                <a:solidFill>
                  <a:srgbClr val="1E293B"/>
                </a:solidFill>
                <a:latin typeface="Arial"/>
              </a:defRPr>
            </a:pPr>
            <a:r>
              <a:t>•   Graceful Signal Handling: Intercept POSIX signals (`signal.SIGTERM`, `signal.SIGINT`) to release file locks, close sockets, and clean up temporary state</a:t>
            </a:r>
          </a:p>
          <a:p>
            <a:pPr>
              <a:spcBef>
                <a:spcPts val="1400"/>
              </a:spcBef>
              <a:defRPr sz="1050" b="1">
                <a:solidFill>
                  <a:srgbClr val="4F46E5"/>
                </a:solidFill>
                <a:latin typeface="Arial"/>
              </a:defRPr>
            </a:pPr>
            <a:r>
              <a:t>Key Takeaway: Production-grade scripts must fail predictably, emit structured diagnostic telemetry, and respect system signals during operational incidents.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1097280"/>
          </a:xfrm>
          <a:prstGeom prst="rect">
            <a:avLst/>
          </a:prstGeom>
          <a:noFill/>
        </p:spPr>
        <p:txBody>
          <a:bodyPr wrap="square" lIns="0" tIns="0" bIns="0" rIns="0">
            <a:spAutoFit/>
          </a:bodyPr>
          <a:lstStyle/>
          <a:p>
            <a:pPr>
              <a:defRPr sz="2800" b="1">
                <a:solidFill>
                  <a:srgbClr val="F1F5F9"/>
                </a:solidFill>
                <a:latin typeface="Arial"/>
              </a:defRPr>
            </a:pPr>
            <a:r>
              <a:t>Strategic 6-Month Mastery Roadmap (Part 1 Focus)</a:t>
            </a:r>
          </a:p>
          <a:p>
            <a:pPr>
              <a:spcBef>
                <a:spcPts val="400"/>
              </a:spcBef>
              <a:defRPr sz="1300" b="1">
                <a:solidFill>
                  <a:srgbClr val="14B8A6"/>
                </a:solidFill>
                <a:latin typeface="Arial"/>
              </a:defRPr>
            </a:pPr>
            <a:r>
              <a:t>Crawl-Walk-Run Framework for Foundational Python Engineering</a:t>
            </a:r>
          </a:p>
        </p:txBody>
      </p:sp>
      <p:sp>
        <p:nvSpPr>
          <p:cNvPr id="4" name="Rectangle 3"/>
          <p:cNvSpPr/>
          <p:nvPr/>
        </p:nvSpPr>
        <p:spPr>
          <a:xfrm>
            <a:off x="731520" y="3474720"/>
            <a:ext cx="10698480" cy="36576"/>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10312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01</a:t>
            </a:r>
          </a:p>
          <a:p>
            <a:pPr algn="ctr">
              <a:defRPr sz="1200">
                <a:solidFill>
                  <a:srgbClr val="F1F5F9"/>
                </a:solidFill>
                <a:latin typeface="Arial"/>
              </a:defRPr>
            </a:pPr>
            <a:r>
              <a:t>Months 1-2 (Foundations &amp; Core Syntax): Master Python data structures, standard library IO (`pathlib`, `subprocess`), object-oriented scripting, and virtual environment governance</a:t>
            </a:r>
          </a:p>
        </p:txBody>
      </p:sp>
      <p:sp>
        <p:nvSpPr>
          <p:cNvPr id="7" name="Rectangle 6"/>
          <p:cNvSpPr/>
          <p:nvPr/>
        </p:nvSpPr>
        <p:spPr>
          <a:xfrm>
            <a:off x="585216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48056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02</a:t>
            </a:r>
          </a:p>
          <a:p>
            <a:pPr algn="ctr">
              <a:defRPr sz="1200">
                <a:solidFill>
                  <a:srgbClr val="F1F5F9"/>
                </a:solidFill>
                <a:latin typeface="Arial"/>
              </a:defRPr>
            </a:pPr>
            <a:r>
              <a:t>Months 3-4 (Tooling &amp; Security Hardening): Build standardized CLI utilities using `click`, enforce pre-commit static analysis (`flake8`, `bandit`), and automate secure credential injection</a:t>
            </a:r>
          </a:p>
        </p:txBody>
      </p:sp>
      <p:sp>
        <p:nvSpPr>
          <p:cNvPr id="9" name="Rectangle 8"/>
          <p:cNvSpPr/>
          <p:nvPr/>
        </p:nvSpPr>
        <p:spPr>
          <a:xfrm>
            <a:off x="9601200" y="3364992"/>
            <a:ext cx="256032" cy="256032"/>
          </a:xfrm>
          <a:prstGeom prst="rect">
            <a:avLst/>
          </a:prstGeom>
          <a:solidFill>
            <a:srgbClr val="4F46E5"/>
          </a:solidFill>
          <a:ln w="25400">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0" y="3840480"/>
            <a:ext cx="3200400" cy="2011680"/>
          </a:xfrm>
          <a:prstGeom prst="rect">
            <a:avLst/>
          </a:prstGeom>
          <a:noFill/>
        </p:spPr>
        <p:txBody>
          <a:bodyPr wrap="square">
            <a:spAutoFit/>
          </a:bodyPr>
          <a:lstStyle/>
          <a:p>
            <a:pPr algn="ctr">
              <a:spcAft>
                <a:spcPts val="600"/>
              </a:spcAft>
              <a:defRPr sz="1100" b="1">
                <a:solidFill>
                  <a:srgbClr val="14B8A6"/>
                </a:solidFill>
                <a:latin typeface="Arial"/>
              </a:defRPr>
            </a:pPr>
            <a:r>
              <a:t>MILESTONE 03</a:t>
            </a:r>
          </a:p>
          <a:p>
            <a:pPr algn="ctr">
              <a:defRPr sz="1200">
                <a:solidFill>
                  <a:srgbClr val="F1F5F9"/>
                </a:solidFill>
                <a:latin typeface="Arial"/>
              </a:defRPr>
            </a:pPr>
            <a:r>
              <a:t>Months 5-6 (Enterprise SRE Integration): Construct production-ready diagnostic tools, implement structured JSON logging, achieve 80%+ unit test coverage with `pytest`, and embed into CI/CD</a:t>
            </a:r>
          </a:p>
        </p:txBody>
      </p:sp>
      <p:sp>
        <p:nvSpPr>
          <p:cNvPr id="11" name="TextBox 10"/>
          <p:cNvSpPr txBox="1"/>
          <p:nvPr/>
        </p:nvSpPr>
        <p:spPr>
          <a:xfrm>
            <a:off x="731520" y="5943600"/>
            <a:ext cx="10698480" cy="457200"/>
          </a:xfrm>
          <a:prstGeom prst="rect">
            <a:avLst/>
          </a:prstGeom>
          <a:noFill/>
        </p:spPr>
        <p:txBody>
          <a:bodyPr wrap="none">
            <a:spAutoFit/>
          </a:bodyPr>
          <a:lstStyle/>
          <a:p>
            <a:pPr algn="ctr">
              <a:defRPr sz="1100" b="1">
                <a:solidFill>
                  <a:srgbClr val="14B8A6"/>
                </a:solidFill>
                <a:latin typeface="Arial"/>
              </a:defRPr>
            </a:pPr>
            <a:r>
              <a:t>Goal: Mastering Python for DevOps requires a structured transition from basic ad-hoc scripting to enterprise-grade, battle-tested software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