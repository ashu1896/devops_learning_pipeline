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Part 1 of our Azure Enterprise Workshop. Today we are focusing on the foundational layer of Azure. We will move beyond simple click-ops and dive deep into enterprise landing zones, Bicep/CLI-driven deployments, policy-driven governance, and SRE monitoring baselines. This is designed for senior engineers looking to architect robust, production-grade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 we look at the structural blueprint. Enterprise Azure starts with Management Groups, not subscriptions. We isolate platform concerns from application landing zones. For network topology, the Hub-and-Spoke model remains the gold standard. Note how we use Azure Bicep to deploy these resources deterministically, avoiding manual configuration drift. Ensure your VNet peering has 'allowVirtualNetworkAccess' enabled but carefully manage gateway transit.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addresses security and governance. We must move away from static credentials. Use Managed Identities for everything. When Key Vault is required, always place it behind a Private Endpoint and enable Purge Protection to prevent accidental or malicious deletion. Azure Policy should be treated as code—deploy your policy definitions and assignments via your GitOps pipelines to block non-compliant resource creation at the API level.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to Slide 4: SRE and troubleshooting. An Azure environment without a centralized Log Analytics Workspace is a black box. You must master KQL; it is the lingua franca of Azure monitoring. When troubleshooting network connectivity across spokes, don't guess—use Network Watcher's Connection Monitor and check NSG Flow Logs. Combine these with Azure Monitor Action Groups to trigger automated recovery runbooks when thresholds are breached.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Slide 5 presents our strategic 6-month roadmap. This is a realistic timeline for an enterprise team to transition from legacy setups to a modern, automated platform engineering model. Focus on landing zones and policies first, secure the identity and secrets layer in the middle phase, and dedicate the final months to mature SRE capabilities and automation. This systematic approach guarantees long-term operational excellence.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Enterprise Azure Foundations &amp; Hybrid Topology</a:t>
            </a:r>
          </a:p>
          <a:p>
            <a:pPr>
              <a:spcBef>
                <a:spcPts val="1000"/>
              </a:spcBef>
              <a:defRPr sz="1600">
                <a:solidFill>
                  <a:srgbClr val="94A3B8"/>
                </a:solidFill>
                <a:latin typeface="Arial"/>
              </a:defRPr>
            </a:pPr>
            <a:r>
              <a:t>Part 1: Architecture, Governance, Security, and SRE Baseline</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Enterprise Resource Hierarchy &amp; Hub-Spoke Topology</a:t>
            </a:r>
          </a:p>
          <a:p>
            <a:pPr>
              <a:spcBef>
                <a:spcPts val="400"/>
              </a:spcBef>
              <a:defRPr sz="1300" b="1">
                <a:solidFill>
                  <a:srgbClr val="4F46E5"/>
                </a:solidFill>
                <a:latin typeface="Arial"/>
              </a:defRPr>
            </a:pPr>
            <a:r>
              <a:t>Landing Zone Architecture, VNet Peering, and Declarative Bicep Provisioning</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Management Group Hierarchy: Structuring Root, Platform (Identity, Management, Connectivity), and Landing Zone subscription scopes for scale.</a:t>
            </a:r>
          </a:p>
          <a:p>
            <a:pPr>
              <a:lnSpc>
                <a:spcPct val="115000"/>
              </a:lnSpc>
              <a:spcAft>
                <a:spcPts val="800"/>
              </a:spcAft>
              <a:defRPr sz="1300">
                <a:solidFill>
                  <a:srgbClr val="1E293B"/>
                </a:solidFill>
                <a:latin typeface="Arial"/>
              </a:defRPr>
            </a:pPr>
            <a:r>
              <a:t>•   Hub-Spoke VNet Topology: Concentrating ingress/egress through a central Hub VNet featuring Azure Firewall Premium and ExpressRoute/VPN gateways.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Declarative Deployment: Utilizing Azure Bicep modules for deterministic provisioning of VNets, subnets, and peerings (Microsoft.Network/virtualNetworks).</a:t>
            </a:r>
          </a:p>
          <a:p>
            <a:pPr>
              <a:lnSpc>
                <a:spcPct val="115000"/>
              </a:lnSpc>
              <a:spcAft>
                <a:spcPts val="800"/>
              </a:spcAft>
              <a:defRPr sz="1300">
                <a:solidFill>
                  <a:srgbClr val="1E293B"/>
                </a:solidFill>
                <a:latin typeface="Arial"/>
              </a:defRPr>
            </a:pPr>
            <a:r>
              <a:t>•   Command-Line Control: Leveraging Azure CLI (az network vnet create and az deployment sub create) to automate multi-tenant bootstrapping.</a:t>
            </a:r>
          </a:p>
          <a:p>
            <a:pPr>
              <a:spcBef>
                <a:spcPts val="1400"/>
              </a:spcBef>
              <a:defRPr sz="1050" b="1">
                <a:solidFill>
                  <a:srgbClr val="4F46E5"/>
                </a:solidFill>
                <a:latin typeface="Arial"/>
              </a:defRPr>
            </a:pPr>
            <a:r>
              <a:t>Key Takeaway: A well-structured management group hierarchy combined with a hub-and-spoke virtual network topology forms the bedrock of secure, scalable Azure environments.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Zero-Trust Governance &amp; DevSecOps Guardrails</a:t>
            </a:r>
          </a:p>
          <a:p>
            <a:pPr>
              <a:spcBef>
                <a:spcPts val="400"/>
              </a:spcBef>
              <a:defRPr sz="1300" b="1">
                <a:solidFill>
                  <a:srgbClr val="4F46E5"/>
                </a:solidFill>
                <a:latin typeface="Arial"/>
              </a:defRPr>
            </a:pPr>
            <a:r>
              <a:t>Azure Policy, RBAC, Managed Identities, and Key Vault Integration</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Policy-as-Code: Enforcing compliance boundaries (e.g., allowed regions, mandatory tags, disabled public IPs) using custom Azure Policy definitions.</a:t>
            </a:r>
          </a:p>
          <a:p>
            <a:pPr>
              <a:lnSpc>
                <a:spcPct val="115000"/>
              </a:lnSpc>
              <a:spcAft>
                <a:spcPts val="800"/>
              </a:spcAft>
              <a:defRPr sz="1300">
                <a:solidFill>
                  <a:srgbClr val="1E293B"/>
                </a:solidFill>
                <a:latin typeface="Arial"/>
              </a:defRPr>
            </a:pPr>
            <a:r>
              <a:t>•   Least-Privilege RBAC: Eliminating permanent owner roles in favor of custom roles, PIM (Privileged Identity Management), and ABAC (Attribute-Based Access Control).</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Workload Identity: Eliminating hardcoded secrets by enforcing System-Assigned and User-Assigned Managed Identities across App Services and AKS.</a:t>
            </a:r>
          </a:p>
          <a:p>
            <a:pPr>
              <a:lnSpc>
                <a:spcPct val="115000"/>
              </a:lnSpc>
              <a:spcAft>
                <a:spcPts val="800"/>
              </a:spcAft>
              <a:defRPr sz="1300">
                <a:solidFill>
                  <a:srgbClr val="1E293B"/>
                </a:solidFill>
                <a:latin typeface="Arial"/>
              </a:defRPr>
            </a:pPr>
            <a:r>
              <a:t>•   Key Vault Hardening: Securing secrets, keys, and certificates with private endpoints, soft-delete, purge protection, and RBAC-authorized access policies.</a:t>
            </a:r>
          </a:p>
          <a:p>
            <a:pPr>
              <a:spcBef>
                <a:spcPts val="1400"/>
              </a:spcBef>
              <a:defRPr sz="1050" b="1">
                <a:solidFill>
                  <a:srgbClr val="4F46E5"/>
                </a:solidFill>
                <a:latin typeface="Arial"/>
              </a:defRPr>
            </a:pPr>
            <a:r>
              <a:t>Key Takeaway: Shift left by embedding Azure Policy guardrails in your CI/CD pipelines and enforcing identity-based, passwordless authentication across all workloads.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Observability Baselines &amp; Diagnostic Operations</a:t>
            </a:r>
          </a:p>
          <a:p>
            <a:pPr>
              <a:spcBef>
                <a:spcPts val="400"/>
              </a:spcBef>
              <a:defRPr sz="1300" b="1">
                <a:solidFill>
                  <a:srgbClr val="4F46E5"/>
                </a:solidFill>
                <a:latin typeface="Arial"/>
              </a:defRPr>
            </a:pPr>
            <a:r>
              <a:t>Azure Monitor, Log Analytics, KQL, and Network Troubleshooting</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Log Analytics Workspace: Centralizing diagnostic logs across subscriptions with optimized retention policies and commitment tiers.</a:t>
            </a:r>
          </a:p>
          <a:p>
            <a:pPr>
              <a:lnSpc>
                <a:spcPct val="115000"/>
              </a:lnSpc>
              <a:spcAft>
                <a:spcPts val="800"/>
              </a:spcAft>
              <a:defRPr sz="1300">
                <a:solidFill>
                  <a:srgbClr val="1E293B"/>
                </a:solidFill>
                <a:latin typeface="Arial"/>
              </a:defRPr>
            </a:pPr>
            <a:r>
              <a:t>•   Kusto Query Language (KQL): Writing advanced queries to correlate AzureActivity, DiagnosticLogs, and AppTraces for rapid root-cause analysis.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Network Watcher: Utilizing Connection Monitor, IP Flow Verify, and NSG Flow Logs to diagnose routing anomalies and blocked traffic.</a:t>
            </a:r>
          </a:p>
          <a:p>
            <a:pPr>
              <a:lnSpc>
                <a:spcPct val="115000"/>
              </a:lnSpc>
              <a:spcAft>
                <a:spcPts val="800"/>
              </a:spcAft>
              <a:defRPr sz="1300">
                <a:solidFill>
                  <a:srgbClr val="1E293B"/>
                </a:solidFill>
                <a:latin typeface="Arial"/>
              </a:defRPr>
            </a:pPr>
            <a:r>
              <a:t>•   Action Groups &amp; Alerts: Configuring dynamic threshold alerts and automated runbooks via Azure Logic Apps for self-healing infrastructure.</a:t>
            </a:r>
          </a:p>
          <a:p>
            <a:pPr>
              <a:spcBef>
                <a:spcPts val="1400"/>
              </a:spcBef>
              <a:defRPr sz="1050" b="1">
                <a:solidFill>
                  <a:srgbClr val="4F46E5"/>
                </a:solidFill>
                <a:latin typeface="Arial"/>
              </a:defRPr>
            </a:pPr>
            <a:r>
              <a:t>Key Takeaway: Proactive SRE in Azure relies on centralized telemetry, structured KQL analysis, and automated diagnostic tools to minimize Mean Time to Resolution (MTTR).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6-Month Azure Platform Engineering Roadmap</a:t>
            </a:r>
          </a:p>
          <a:p>
            <a:pPr>
              <a:spcBef>
                <a:spcPts val="400"/>
              </a:spcBef>
              <a:defRPr sz="1300" b="1">
                <a:solidFill>
                  <a:srgbClr val="14B8A6"/>
                </a:solidFill>
                <a:latin typeface="Arial"/>
              </a:defRPr>
            </a:pPr>
            <a:r>
              <a:t>Transitioning from Foundations to Automated Enterprise Scale</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Establish CAF landing zones, deploy Hub-Spoke VNets via CI/CD pipelines, and enforce baseline Azure Policies.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Implement comprehensive RBAC/PIM structures, migrate workloads to Managed Identities, and configure Azure Key Vault private endpoints.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Standardize Log Analytics architecture, build enterprise KQL alert libraries, and automate incident response using Azure Logic Apps.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A structured, phased approach ensures that foundational security and observability are deeply integrated before scaling workload migrations.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