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Welcome to the third and final part of our Azure at Scale workshop series. Today, we shift our focus squarely onto the operational heart of our platforms: Production Site Reliability Engineering, advanced diagnostics, and mastering incident response. We'll move beyond deployment strategies to explore how we ensure our applications not just run, but run flawlessly, reliably, and with minimal downtime. Our goal is to empower you to build and maintain highly resilient and observable systems in Azure.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can even think about troubleshooting, we need to ensure we can 'see' our systems. Azure offers a powerful suite of tools that, when integrated correctly, form an unbreakable observability foundation. Azure Monitor is our central nervous system, collecting all telemetry. Application Insights gives us application-centric views, vital for microservices. Log Analytics acts as our data warehouse for deep dives and historical analysis. Crucially, for those running Kubernetes or specific custom agents, Azure Monitor for Prometheus allows us to ingest those valuable custom metrics, extending our visibility. We also can't forget synthetic tests to ensure availability from an external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our primary focus today is SRE, we cannot talk about production readiness without addressing security. Security vulnerabilities are often the root cause of critical operational incidents. Integrating security into our operational pipeline means leveraging tools like Azure Defender for Cloud for proactive threat detection, and Azure Policy to prevent configurations that might introduce risk. During an incident, RBAC is paramount to ensure only authorized personnel can access sensitive data or perform critical remediation steps. Furthermore, adopting a DevSecOps mindset ensures we're building secure systems from the ground up, reducing the surface area for incidents in production. Azure Sentinel then helps us correlate security and operational data for a unified view.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encapsulates the heart of today's workshop. SRE is about proactivity and resilience. We leverage Azure Monitor's advanced capabilities, including KQL-based alerts, to detect anomalies and SLI breaches. For specialized metrics, especially from Kubernetes or custom agents, we integrate Prometheus alerting rules directly within Azure Managed Prometheus, allowing us to define highly specific conditions that reflect our service health. When an alert fires, automation through Logic Apps or Azure Automation can kick off initial diagnostics or even self-healing. Central to incident management are our runbooks – these are live documents, living guides that equip responders with the steps to diagnose and resolve issues efficiently. And finally, the blameless post-mortem is crucial, not for assigning blame, but for understanding the systemic factors behind an incident and driving lasting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Achieving operational mastery isn't an overnight task. It's a strategic journey that requires a phased approach. In the first couple of months, our focus is on establishing robust observability and baseline metrics. This 'seeing' phase is critical. Months three and four are about turning that visibility into action – implementing sophisticated alerting, especially leveraging custom Prometheus rules for granular control, and starting with automation. The final phase, months five and six, is where we truly mature: conducting drills, formalizing our post-mortem process to ensure we learn from every incident, and building a culture of continuous improvement across all engineering teams. This roadmap provides a clear path to building a high-performing SRE practice.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Azure at Scale: Operational Excellence Workshop (Part 3/3)</a:t>
            </a:r>
          </a:p>
          <a:p>
            <a:pPr>
              <a:spcBef>
                <a:spcPts val="1000"/>
              </a:spcBef>
              <a:defRPr sz="1600">
                <a:solidFill>
                  <a:srgbClr val="94A3B8"/>
                </a:solidFill>
                <a:latin typeface="Arial"/>
              </a:defRPr>
            </a:pPr>
            <a:r>
              <a:t>Mastering Production SRE, Advanced Diagnostics, and Incident Management Architectures</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Azure Operational Pillars: Observability &amp; Resilience Foundations</a:t>
            </a:r>
          </a:p>
          <a:p>
            <a:pPr>
              <a:spcBef>
                <a:spcPts val="400"/>
              </a:spcBef>
              <a:defRPr sz="1300" b="1">
                <a:solidFill>
                  <a:srgbClr val="4F46E5"/>
                </a:solidFill>
                <a:latin typeface="Arial"/>
              </a:defRPr>
            </a:pPr>
            <a:r>
              <a:t>Laying the Groundwork for Proactive SRE in Azure</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**Unified Telemetry with Azure Monitor**: Centralizing metrics, logs, and traces from diverse Azure resources and custom applications.</a:t>
            </a:r>
          </a:p>
          <a:p>
            <a:pPr>
              <a:lnSpc>
                <a:spcPct val="115000"/>
              </a:lnSpc>
              <a:spcAft>
                <a:spcPts val="800"/>
              </a:spcAft>
              <a:defRPr sz="1300">
                <a:solidFill>
                  <a:srgbClr val="1E293B"/>
                </a:solidFill>
                <a:latin typeface="Arial"/>
              </a:defRPr>
            </a:pPr>
            <a:r>
              <a:t>•   **Application Insights for APM Excellence**: Deep application performance monitoring, dependency mapping, and user experience analytics.</a:t>
            </a:r>
          </a:p>
          <a:p>
            <a:pPr>
              <a:lnSpc>
                <a:spcPct val="115000"/>
              </a:lnSpc>
              <a:spcAft>
                <a:spcPts val="800"/>
              </a:spcAft>
              <a:defRPr sz="1300">
                <a:solidFill>
                  <a:srgbClr val="1E293B"/>
                </a:solidFill>
                <a:latin typeface="Arial"/>
              </a:defRPr>
            </a:pPr>
            <a:r>
              <a:t>•   **Log Analytics Workspaces as the Data Lake**: Aggregating operational data for advanced querying, correlation, and long-term retention.</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**Integrating Custom Metrics &amp; Prometheus**: Leveraging Azure Monitor's Prometheus-compatible endpoint for specialized workload observability.</a:t>
            </a:r>
          </a:p>
          <a:p>
            <a:pPr>
              <a:lnSpc>
                <a:spcPct val="115000"/>
              </a:lnSpc>
              <a:spcAft>
                <a:spcPts val="800"/>
              </a:spcAft>
              <a:defRPr sz="1300">
                <a:solidFill>
                  <a:srgbClr val="1E293B"/>
                </a:solidFill>
                <a:latin typeface="Arial"/>
              </a:defRPr>
            </a:pPr>
            <a:r>
              <a:t>•   **Distributed Tracing for Microservices**: End-to-end visibility across complex service architectures to pinpoint latency and failures.</a:t>
            </a:r>
          </a:p>
          <a:p>
            <a:pPr>
              <a:lnSpc>
                <a:spcPct val="115000"/>
              </a:lnSpc>
              <a:spcAft>
                <a:spcPts val="800"/>
              </a:spcAft>
              <a:defRPr sz="1300">
                <a:solidFill>
                  <a:srgbClr val="1E293B"/>
                </a:solidFill>
                <a:latin typeface="Arial"/>
              </a:defRPr>
            </a:pPr>
            <a:r>
              <a:t>•   **Synthetic Transactions &amp; Availability Tests**: Proactively detecting issues before they impact end-users by simulating user journeys.</a:t>
            </a:r>
          </a:p>
          <a:p>
            <a:pPr>
              <a:spcBef>
                <a:spcPts val="1400"/>
              </a:spcBef>
              <a:defRPr sz="1050" b="1">
                <a:solidFill>
                  <a:srgbClr val="4F46E5"/>
                </a:solidFill>
                <a:latin typeface="Arial"/>
              </a:defRPr>
            </a:pPr>
            <a:r>
              <a:t>Key Takeaway: A comprehensive, integrated observability stack is the non-negotiable bedrock for any effective SRE practice, enabling proactive issue detection and rapid diagnosis.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Securing the Operational Pipeline: DevSecOps in Production</a:t>
            </a:r>
          </a:p>
          <a:p>
            <a:pPr>
              <a:spcBef>
                <a:spcPts val="400"/>
              </a:spcBef>
              <a:defRPr sz="1300" b="1">
                <a:solidFill>
                  <a:srgbClr val="4F46E5"/>
                </a:solidFill>
                <a:latin typeface="Arial"/>
              </a:defRPr>
            </a:pPr>
            <a:r>
              <a:t>Integrating Security into Monitoring, Alerting, and Incident Response Workflows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**Azure Defender for Cloud Integration**: Real-time threat detection and vulnerability management across Azure resources, feeding into operational alerts.</a:t>
            </a:r>
          </a:p>
          <a:p>
            <a:pPr>
              <a:lnSpc>
                <a:spcPct val="115000"/>
              </a:lnSpc>
              <a:spcAft>
                <a:spcPts val="800"/>
              </a:spcAft>
              <a:defRPr sz="1300">
                <a:solidFill>
                  <a:srgbClr val="1E293B"/>
                </a:solidFill>
                <a:latin typeface="Arial"/>
              </a:defRPr>
            </a:pPr>
            <a:r>
              <a:t>•   **Azure Policy for Configuration Governance**: Enforcing security baselines and preventing misconfigurations that can lead to operational incidents or breaches.</a:t>
            </a:r>
          </a:p>
          <a:p>
            <a:pPr>
              <a:lnSpc>
                <a:spcPct val="115000"/>
              </a:lnSpc>
              <a:spcAft>
                <a:spcPts val="800"/>
              </a:spcAft>
              <a:defRPr sz="1300">
                <a:solidFill>
                  <a:srgbClr val="1E293B"/>
                </a:solidFill>
                <a:latin typeface="Arial"/>
              </a:defRPr>
            </a:pPr>
            <a:r>
              <a:t>•   **Least Privilege Access (RBAC) for Incident Teams**: Granular control over diagnostic data and remediation actions during an incident.</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**Secure Logging &amp; Data Integrity**: Ensuring tamper-proof and encrypted storage for all operational logs, critical for forensics and compliance.</a:t>
            </a:r>
          </a:p>
          <a:p>
            <a:pPr>
              <a:lnSpc>
                <a:spcPct val="115000"/>
              </a:lnSpc>
              <a:spcAft>
                <a:spcPts val="800"/>
              </a:spcAft>
              <a:defRPr sz="1300">
                <a:solidFill>
                  <a:srgbClr val="1E293B"/>
                </a:solidFill>
                <a:latin typeface="Arial"/>
              </a:defRPr>
            </a:pPr>
            <a:r>
              <a:t>•   **Automated Security Scans in CI/CD**: Shifting left to catch security flaws before they become production problems, reducing incident potential.</a:t>
            </a:r>
          </a:p>
          <a:p>
            <a:pPr>
              <a:lnSpc>
                <a:spcPct val="115000"/>
              </a:lnSpc>
              <a:spcAft>
                <a:spcPts val="800"/>
              </a:spcAft>
              <a:defRPr sz="1300">
                <a:solidFill>
                  <a:srgbClr val="1E293B"/>
                </a:solidFill>
                <a:latin typeface="Arial"/>
              </a:defRPr>
            </a:pPr>
            <a:r>
              <a:t>•   **Azure Sentinel for SIEM &amp; SOAR**: Correlating operational telemetry with security events for holistic threat detection and automated response playbooks.</a:t>
            </a:r>
          </a:p>
          <a:p>
            <a:pPr>
              <a:spcBef>
                <a:spcPts val="1400"/>
              </a:spcBef>
              <a:defRPr sz="1050" b="1">
                <a:solidFill>
                  <a:srgbClr val="4F46E5"/>
                </a:solidFill>
                <a:latin typeface="Arial"/>
              </a:defRPr>
            </a:pPr>
            <a:r>
              <a:t>Key Takeaway: Security is not a separate discipline; it's an intrinsic part of operational resilience. A robust DevSecOps approach prevents incidents and streamlines secure incident response.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SRE in Action: Proactive Troubleshooting &amp; Incident Excellence</a:t>
            </a:r>
          </a:p>
          <a:p>
            <a:pPr>
              <a:spcBef>
                <a:spcPts val="400"/>
              </a:spcBef>
              <a:defRPr sz="1300" b="1">
                <a:solidFill>
                  <a:srgbClr val="4F46E5"/>
                </a:solidFill>
                <a:latin typeface="Arial"/>
              </a:defRPr>
            </a:pPr>
            <a:r>
              <a:t>Implementing Robust Diagnostics, Alerting, and Post-Mortem Processes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**Sophisticated Alerting with Azure Monitor**: Defining alert rules based on critical SLIs, leveraging Kusto Query Language (KQL) for complex conditions.</a:t>
            </a:r>
          </a:p>
          <a:p>
            <a:pPr>
              <a:lnSpc>
                <a:spcPct val="115000"/>
              </a:lnSpc>
              <a:spcAft>
                <a:spcPts val="800"/>
              </a:spcAft>
              <a:defRPr sz="1300">
                <a:solidFill>
                  <a:srgbClr val="1E293B"/>
                </a:solidFill>
                <a:latin typeface="Arial"/>
              </a:defRPr>
            </a:pPr>
            <a:r>
              <a:t>•   **Custom Prometheus Alerting Rules in Azure Managed Prometheus**: Crafting granular alert expressions (e.g., `rate(http_requests_total{job='my-app'}[5m]) &lt; 0.1`) and integrating with Alertmanager for routing.</a:t>
            </a:r>
          </a:p>
          <a:p>
            <a:pPr>
              <a:lnSpc>
                <a:spcPct val="115000"/>
              </a:lnSpc>
              <a:spcAft>
                <a:spcPts val="800"/>
              </a:spcAft>
              <a:defRPr sz="1300">
                <a:solidFill>
                  <a:srgbClr val="1E293B"/>
                </a:solidFill>
                <a:latin typeface="Arial"/>
              </a:defRPr>
            </a:pPr>
            <a:r>
              <a:t>•   **Automated Remediation with Azure Logic Apps/Automation**: Triggering self-healing actions or diagnostic data collection upon alert firing.</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**Structured Incident Response Framework**: Establishing clear severity levels, communication protocols, and escalation matrices.</a:t>
            </a:r>
          </a:p>
          <a:p>
            <a:pPr>
              <a:lnSpc>
                <a:spcPct val="115000"/>
              </a:lnSpc>
              <a:spcAft>
                <a:spcPts val="800"/>
              </a:spcAft>
              <a:defRPr sz="1300">
                <a:solidFill>
                  <a:srgbClr val="1E293B"/>
                </a:solidFill>
                <a:latin typeface="Arial"/>
              </a:defRPr>
            </a:pPr>
            <a:r>
              <a:t>•   **Comprehensive Incident Runbooks &amp; Playbooks**: Step-by-step guides for common incidents, including diagnostic commands, temporary mitigations, and known resolutions.</a:t>
            </a:r>
          </a:p>
          <a:p>
            <a:pPr>
              <a:lnSpc>
                <a:spcPct val="115000"/>
              </a:lnSpc>
              <a:spcAft>
                <a:spcPts val="800"/>
              </a:spcAft>
              <a:defRPr sz="1300">
                <a:solidFill>
                  <a:srgbClr val="1E293B"/>
                </a:solidFill>
                <a:latin typeface="Arial"/>
              </a:defRPr>
            </a:pPr>
            <a:r>
              <a:t>•   **Blameless Post-Mortems &amp; Root Cause Analysis (RCA)**: Facilitating learning from failures, identifying systemic weaknesses, and driving preventative actions and architectural improvements.</a:t>
            </a:r>
          </a:p>
          <a:p>
            <a:pPr>
              <a:spcBef>
                <a:spcPts val="1400"/>
              </a:spcBef>
              <a:defRPr sz="1050" b="1">
                <a:solidFill>
                  <a:srgbClr val="4F46E5"/>
                </a:solidFill>
                <a:latin typeface="Arial"/>
              </a:defRPr>
            </a:pPr>
            <a:r>
              <a:t>Key Takeaway: Empowering SRE teams with advanced diagnostic tools, precise alerting, and structured incident management dramatically minimizes Mean Time To Recovery (MTTR) and fosters a culture of continuous learning.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Strategic Roadmap: Achieving Operational Mastery in 6 Months</a:t>
            </a:r>
          </a:p>
          <a:p>
            <a:pPr>
              <a:spcBef>
                <a:spcPts val="400"/>
              </a:spcBef>
              <a:defRPr sz="1300" b="1">
                <a:solidFill>
                  <a:srgbClr val="14B8A6"/>
                </a:solidFill>
                <a:latin typeface="Arial"/>
              </a:defRPr>
            </a:pPr>
            <a:r>
              <a:t>Phased Approach to Elevating Azure SRE Capabilities</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Foundational Observability &amp; Baselines**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  - Standardize Azure Monitor and Log Analytics across all critical services.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  - Implement Application Insights for all Tier-1/Tier-2 applications, establish baseline metrics and SLIs.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Operational excellence is an iterative journey, not a destination. A structured, phased roadmap ensures continuous improvement and builds a resilient, learning SRE organization.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