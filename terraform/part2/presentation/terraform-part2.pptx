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Terraform mastery series. Today, we transition from basic syntax to enterprise-scale operations. We will dissect the architectural patterns required to scale to thousands of resources, secure our pipelines with policy-as-code, and handle complex SRE incident response scenarios.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scaling to thousands of resources, a single monolithic state file becomes a bottleneck and a massive blast radius risk. We must decouple state files along service or organizational boundaries. Furthermore, we need to proactively manage provider rate limits by tuning concurrency and configuring backoff strategies within the provider blocks.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IaC is not just about static analysis of code. We must enforce runtime guardrails using Sentinel or OPA. Additionally, we must eliminate static credentials. By using OIDC, our runners dynamically authenticate to cloud providers, ensuring that no long-lived secrets ever exist in our code or CI/CD variables.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SREs, we must treat the Terraform state file with the same care as a production database. When state corruption or lockouts occur, we need clear, rehearsed playbooks. We will cover how to safely force-unlock state files, perform surgical state surgery without losing resources, and implement continuous drift detection to combat manual changes.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6-month roadmap provides a structured path for your organization to transition from ad-hoc Terraform usage to a highly matured, secure, and self-healing cloud platform. Start with state refactoring and OIDC, move to automated guardrails, and finish with continuous drift detection and SRE operational readiness.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Scaling Terraform for Enterprise: Architecture, Security &amp; Performance</a:t>
            </a:r>
          </a:p>
          <a:p>
            <a:pPr>
              <a:spcBef>
                <a:spcPts val="1000"/>
              </a:spcBef>
              <a:defRPr sz="1600">
                <a:solidFill>
                  <a:srgbClr val="94A3B8"/>
                </a:solidFill>
                <a:latin typeface="Arial"/>
              </a:defRPr>
            </a:pPr>
            <a:r>
              <a:t>Terraform Part 2/3: Mastering State, Policy-as-Code, Sandboxing, and Scale Boundaries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High-Scale Architecture &amp; Performance Tuning</a:t>
            </a:r>
          </a:p>
          <a:p>
            <a:pPr>
              <a:spcBef>
                <a:spcPts val="400"/>
              </a:spcBef>
              <a:defRPr sz="1300" b="1">
                <a:solidFill>
                  <a:srgbClr val="4F46E5"/>
                </a:solidFill>
                <a:latin typeface="Arial"/>
              </a:defRPr>
            </a:pPr>
            <a:r>
              <a:t>Decoupling State, Managing Blast Radii, and Optimizing Provider Performance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State Splitting &amp; Monorepo Isolation: Transitioning from monolithic state files to decoupled, micro-state architectures using Terraform Remote State data sources and tfe_outputs.</a:t>
            </a:r>
          </a:p>
          <a:p>
            <a:pPr>
              <a:lnSpc>
                <a:spcPct val="115000"/>
              </a:lnSpc>
              <a:spcAft>
                <a:spcPts val="800"/>
              </a:spcAft>
              <a:defRPr sz="1300">
                <a:solidFill>
                  <a:srgbClr val="1E293B"/>
                </a:solidFill>
                <a:latin typeface="Arial"/>
              </a:defRPr>
            </a:pPr>
            <a:r>
              <a:t>•   Provider Performance Optimization: Tuning provider-level rate-limiting/retry configurations, utilizing parallelism flags, and leveraging custom provider alias blocks for multi-region execution.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Scale Boundary Mitigation: Handling cloud provider API rate limits by implementing target-based execution as an emergency fallback and configuring asynchronous resource polling.</a:t>
            </a:r>
          </a:p>
          <a:p>
            <a:pPr>
              <a:spcBef>
                <a:spcPts val="1400"/>
              </a:spcBef>
              <a:defRPr sz="1050" b="1">
                <a:solidFill>
                  <a:srgbClr val="4F46E5"/>
                </a:solidFill>
                <a:latin typeface="Arial"/>
              </a:defRPr>
            </a:pPr>
            <a:r>
              <a:t>Key Takeaway: Minimize blast radius and eliminate API throttling by partitioning state files and tuning provider execution concurrency.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Enterprise Hardening &amp; DevSecOps Guardrails</a:t>
            </a:r>
          </a:p>
          <a:p>
            <a:pPr>
              <a:spcBef>
                <a:spcPts val="400"/>
              </a:spcBef>
              <a:defRPr sz="1300" b="1">
                <a:solidFill>
                  <a:srgbClr val="4F46E5"/>
                </a:solidFill>
                <a:latin typeface="Arial"/>
              </a:defRPr>
            </a:pPr>
            <a:r>
              <a:t>Policy-as-Code, Secure Sandboxing, and Zero-Trust Secret Management</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Policy-as-Code Integration: Enforcement of compliance boundaries using Open Policy Agent (OPA) or HashiCorp Sentinel before plans reach the apply phase.</a:t>
            </a:r>
          </a:p>
          <a:p>
            <a:pPr>
              <a:lnSpc>
                <a:spcPct val="115000"/>
              </a:lnSpc>
              <a:spcAft>
                <a:spcPts val="800"/>
              </a:spcAft>
              <a:defRPr sz="1300">
                <a:solidFill>
                  <a:srgbClr val="1E293B"/>
                </a:solidFill>
                <a:latin typeface="Arial"/>
              </a:defRPr>
            </a:pPr>
            <a:r>
              <a:t>•   Secure Sandboxing &amp; Runner Isolation: Executing runs inside ephemeral, non-privileged containers with minimal IAM roles mapped dynamically via OpenID Connect (OIDC).</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Zero-Trust Secret Management: Eliminating hardcoded credentials by dynamically generating short-lived cloud credentials using HashiCorp Vault or cloud-native identity providers.</a:t>
            </a:r>
          </a:p>
          <a:p>
            <a:pPr>
              <a:spcBef>
                <a:spcPts val="1400"/>
              </a:spcBef>
              <a:defRPr sz="1050" b="1">
                <a:solidFill>
                  <a:srgbClr val="4F46E5"/>
                </a:solidFill>
                <a:latin typeface="Arial"/>
              </a:defRPr>
            </a:pPr>
            <a:r>
              <a:t>Key Takeaway: Shift security left by wrapping Terraform executions in isolated, policy-enforced sandboxes with dynamic, short-lived credentials.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Playbooks: Incident Management &amp; State Recovery</a:t>
            </a:r>
          </a:p>
          <a:p>
            <a:pPr>
              <a:spcBef>
                <a:spcPts val="400"/>
              </a:spcBef>
              <a:defRPr sz="1300" b="1">
                <a:solidFill>
                  <a:srgbClr val="4F46E5"/>
                </a:solidFill>
                <a:latin typeface="Arial"/>
              </a:defRPr>
            </a:pPr>
            <a:r>
              <a:t>Mitigating Concurrency Lockouts, State Corruption, and Configuration Drift</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State Corruption Recovery: Implementing automated state backup policies and executing precise surgical state modifications using terraform state mv, rm, and push.</a:t>
            </a:r>
          </a:p>
          <a:p>
            <a:pPr>
              <a:lnSpc>
                <a:spcPct val="115000"/>
              </a:lnSpc>
              <a:spcAft>
                <a:spcPts val="800"/>
              </a:spcAft>
              <a:defRPr sz="1300">
                <a:solidFill>
                  <a:srgbClr val="1E293B"/>
                </a:solidFill>
                <a:latin typeface="Arial"/>
              </a:defRPr>
            </a:pPr>
            <a:r>
              <a:t>•   Handling Concurrency Lockouts: Resolving distributed lock issues in S3/DynamoDB or Consul by analyzing lock IDs and safely executing force-unlock commands during stuck runs.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Continuous Drift Detection: Setting up scheduled, non-destructive terraform plan detailed-exitcode jobs to alert on and automatically remediate out-of-band modifications.</a:t>
            </a:r>
          </a:p>
          <a:p>
            <a:pPr>
              <a:spcBef>
                <a:spcPts val="1400"/>
              </a:spcBef>
              <a:defRPr sz="1050" b="1">
                <a:solidFill>
                  <a:srgbClr val="4F46E5"/>
                </a:solidFill>
                <a:latin typeface="Arial"/>
              </a:defRPr>
            </a:pPr>
            <a:r>
              <a:t>Key Takeaway: Treat state as production data; protect it with automated backups, strict locking mechanisms, and continuous reconciliation loops.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Enterprise Capability Roadmap</a:t>
            </a:r>
          </a:p>
          <a:p>
            <a:pPr>
              <a:spcBef>
                <a:spcPts val="400"/>
              </a:spcBef>
              <a:defRPr sz="1300" b="1">
                <a:solidFill>
                  <a:srgbClr val="14B8A6"/>
                </a:solidFill>
                <a:latin typeface="Arial"/>
              </a:defRPr>
            </a:pPr>
            <a:r>
              <a:t>A Phased Strategy for Scaling, Hardening, and Automating IaC Operations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Refactor monolithic state files into a micro-state architecture, implement OIDC for runners, and enforce mandatory pull-request-driven plan visibility.</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Integrate OPA/Sentinel policy engines into CI/CD pipelines, establish a private module registry with automated semantic versioning, and mandate sandbox testing.</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Deploy automated drift detection engines with Slack/PagerDuty alerting, optimize provider concurrency for large-scale workspaces, and roll out SRE disaster recovery drills.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Scale maturity systematically by first isolating state, then hardening with policy-as-code, and finally automating Day-2 drift detection and recovery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