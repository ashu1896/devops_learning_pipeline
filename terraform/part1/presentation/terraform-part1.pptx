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the first part of our Terraform workshop series. Today, we're diving deep into the fundamentals. The goal isn't just to learn commands, but to understand the strategic 'why' behind adopting Terraform – how it enables enterprise-grade infrastructure delivery, reduces manual errors, and provides a single source of truth for your cloud environment. This session will equip you with the essential knowledge to start building, managing, and securing your infrastructure with confidence.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covers the very essence of Terraform. We'll start with the declarative HCL language, explaining each core component from providers connecting to your cloud, to resources defining infrastructure, and data sources fetching existing information. Understanding the standard workflow is non-negotiable for safe and predictable operations. We'll then discuss how to structure your projects for clarity, leading into the absolutely vital topic of remote state management – this is where collaboration and reliability truly begin for any enterprise team. The state file is your source of truth; securing and managing it correctly is paramount.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paramount. We often think of security 'after' deployment, but with IaC, it starts with the code itself. We'll discuss how to apply the principle of least privilege to the Terraform execution identity – ensuring it only has permissions for what it needs to manage. Crucially, we'll cover how to handle sensitive data without compromising security, emphasizing that secrets never belong directly in HCL. The state file, being a blueprint of your infrastructure, requires robust protection, including encryption and access control. Finally, integrating security early through code reviews and version control fosters a DevSecOps mindset from day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Site Reliability Engineering principles are vital for any automated system. Terraform's idempotent nature is a cornerstone of its reliability, ensuring that subsequent runs achieve the same desired state. We'll discuss how to approach rollbacks effectively using your VCS and the `plan` command. Knowing how to troubleshoot common issues – from authentication failures to state file problems – is critical for any SRE or DevOps professional. We'll also cover how to use Terraform's built-in logging capabilities to debug complex issues and how to manually detect configuration drift, ensuring your deployed infrastructure truly matches your code.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roadmap provides a strategic path to mastering the foundational aspects of Terraform within your first six months. It's not just about learning individual commands but progressively integrating best practices for security, collaboration, and reliability. By the end of this period, you should be comfortable building and managing a complete, albeit simple, application stack. This structured progression ensures you're not just 'using' Terraform, but strategically leveraging it to build reliable, secure, and scalable cloud infrastructure. This solid foundation will be crucial as we move into more advanced topics in Parts 2 and 3 of this workshop series.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Terraform: Infrastructure as Code for the Enterprise</a:t>
            </a:r>
          </a:p>
          <a:p>
            <a:pPr>
              <a:spcBef>
                <a:spcPts val="1000"/>
              </a:spcBef>
              <a:defRPr sz="1600">
                <a:solidFill>
                  <a:srgbClr val="94A3B8"/>
                </a:solidFill>
                <a:latin typeface="Arial"/>
              </a:defRPr>
            </a:pPr>
            <a:r>
              <a:t>Part 1/3: Core Foundations, Strategic Setup, and Foundational Topologies</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Terraform Core: Concepts, Workflow, and Project Structure</a:t>
            </a:r>
          </a:p>
          <a:p>
            <a:pPr>
              <a:spcBef>
                <a:spcPts val="400"/>
              </a:spcBef>
              <a:defRPr sz="1300" b="1">
                <a:solidFill>
                  <a:srgbClr val="4F46E5"/>
                </a:solidFill>
                <a:latin typeface="Arial"/>
              </a:defRPr>
            </a:pPr>
            <a:r>
              <a:t>From HCL Basics to Collaborative Project Layouts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**Core Concepts:** Providers, Resources, Data Sources, Variables, Outputs, Modules (basic introduction), State File (local vs. remote).</a:t>
            </a:r>
          </a:p>
          <a:p>
            <a:pPr>
              <a:lnSpc>
                <a:spcPct val="115000"/>
              </a:lnSpc>
              <a:spcAft>
                <a:spcPts val="800"/>
              </a:spcAft>
              <a:defRPr sz="1300">
                <a:solidFill>
                  <a:srgbClr val="1E293B"/>
                </a:solidFill>
                <a:latin typeface="Arial"/>
              </a:defRPr>
            </a:pPr>
            <a:r>
              <a:t>•   **Standard Workflow:** `terraform init`, `plan`, `apply`, `destroy`, `fmt`, `validate` – understanding their purpose and sequence.</a:t>
            </a:r>
          </a:p>
          <a:p>
            <a:pPr>
              <a:lnSpc>
                <a:spcPct val="115000"/>
              </a:lnSpc>
              <a:spcAft>
                <a:spcPts val="800"/>
              </a:spcAft>
              <a:defRPr sz="1300">
                <a:solidFill>
                  <a:srgbClr val="1E293B"/>
                </a:solidFill>
                <a:latin typeface="Arial"/>
              </a:defRPr>
            </a:pPr>
            <a:r>
              <a:t>•   **Basic Configuration Syntax (HCL):** Crafting provider blocks, resource declarations, variable definitions, and output values.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**Foundational Project Layouts:** Single-environment, single-account structures; organization for readability and maintainability.</a:t>
            </a:r>
          </a:p>
          <a:p>
            <a:pPr>
              <a:lnSpc>
                <a:spcPct val="115000"/>
              </a:lnSpc>
              <a:spcAft>
                <a:spcPts val="800"/>
              </a:spcAft>
              <a:defRPr sz="1300">
                <a:solidFill>
                  <a:srgbClr val="1E293B"/>
                </a:solidFill>
                <a:latin typeface="Arial"/>
              </a:defRPr>
            </a:pPr>
            <a:r>
              <a:t>•   **Remote State Management:** The critical role of backend configurations (e.g., S3, Azure Blob, GCS) for collaboration, state locking, and durability.</a:t>
            </a:r>
          </a:p>
          <a:p>
            <a:pPr>
              <a:spcBef>
                <a:spcPts val="1400"/>
              </a:spcBef>
              <a:defRPr sz="1050" b="1">
                <a:solidFill>
                  <a:srgbClr val="4F46E5"/>
                </a:solidFill>
                <a:latin typeface="Arial"/>
              </a:defRPr>
            </a:pPr>
            <a:r>
              <a:t>Key Takeaway: Mastering the fundamental building blocks and operational flow is critical for effective, collaborative, and scalable IaC adoption.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Secure By Design: Hardening Basic Terraform Deployments</a:t>
            </a:r>
          </a:p>
          <a:p>
            <a:pPr>
              <a:spcBef>
                <a:spcPts val="400"/>
              </a:spcBef>
              <a:defRPr sz="1300" b="1">
                <a:solidFill>
                  <a:srgbClr val="4F46E5"/>
                </a:solidFill>
                <a:latin typeface="Arial"/>
              </a:defRPr>
            </a:pPr>
            <a:r>
              <a:t>Proactive Security Measures in Core IaC</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**Least Privilege Principle:** Implementing fine-grained IAM policies for Terraform execution users/roles (e.g., specific resource write permissions, read-only for `plan`).</a:t>
            </a:r>
          </a:p>
          <a:p>
            <a:pPr>
              <a:lnSpc>
                <a:spcPct val="115000"/>
              </a:lnSpc>
              <a:spcAft>
                <a:spcPts val="800"/>
              </a:spcAft>
              <a:defRPr sz="1300">
                <a:solidFill>
                  <a:srgbClr val="1E293B"/>
                </a:solidFill>
                <a:latin typeface="Arial"/>
              </a:defRPr>
            </a:pPr>
            <a:r>
              <a:t>•   **Sensitive Data Handling:** Avoiding hardcoding secrets in HCL; introduction to environment variables, `terraform.tfvars` (with caution), and basic secret management integration.</a:t>
            </a:r>
          </a:p>
          <a:p>
            <a:pPr>
              <a:lnSpc>
                <a:spcPct val="115000"/>
              </a:lnSpc>
              <a:spcAft>
                <a:spcPts val="800"/>
              </a:spcAft>
              <a:defRPr sz="1300">
                <a:solidFill>
                  <a:srgbClr val="1E293B"/>
                </a:solidFill>
                <a:latin typeface="Arial"/>
              </a:defRPr>
            </a:pPr>
            <a:r>
              <a:t>•   **State File Security:** Ensuring encryption at rest and in transit for remote state backends (e.g., S3 bucket encryption, network access controls, KMS integration).</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**Code Review &amp; Linting:** Establishing early-stage quality gates through mandatory peer reviews and using `terraform validate` and basic static analysis for HCL configurations.</a:t>
            </a:r>
          </a:p>
          <a:p>
            <a:pPr>
              <a:lnSpc>
                <a:spcPct val="115000"/>
              </a:lnSpc>
              <a:spcAft>
                <a:spcPts val="800"/>
              </a:spcAft>
              <a:defRPr sz="1300">
                <a:solidFill>
                  <a:srgbClr val="1E293B"/>
                </a:solidFill>
                <a:latin typeface="Arial"/>
              </a:defRPr>
            </a:pPr>
            <a:r>
              <a:t>•   **Version Control Integration:** Enforcing all Terraform configurations reside in a VCS (Git) for auditability, change tracking, and roll-back capabilities.</a:t>
            </a:r>
          </a:p>
          <a:p>
            <a:pPr>
              <a:spcBef>
                <a:spcPts val="1400"/>
              </a:spcBef>
              <a:defRPr sz="1050" b="1">
                <a:solidFill>
                  <a:srgbClr val="4F46E5"/>
                </a:solidFill>
                <a:latin typeface="Arial"/>
              </a:defRPr>
            </a:pPr>
            <a:r>
              <a:t>Key Takeaway: Security is not an afterthought; it's woven into the very first lines of your Terraform code and the fabric of your IaC workflow.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SRE Principles: Ensuring Reliability in Basic Terraform Operations</a:t>
            </a:r>
          </a:p>
          <a:p>
            <a:pPr>
              <a:spcBef>
                <a:spcPts val="400"/>
              </a:spcBef>
              <a:defRPr sz="1300" b="1">
                <a:solidFill>
                  <a:srgbClr val="4F46E5"/>
                </a:solidFill>
                <a:latin typeface="Arial"/>
              </a:defRPr>
            </a:pPr>
            <a:r>
              <a:t>Proactive Monitoring and Troubleshooting Fundamentals for IaC</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**Idempotency &amp; Desired State:** Understanding how Terraform ensures infrastructure converges to the desired state, and its implications for operational reliability.</a:t>
            </a:r>
          </a:p>
          <a:p>
            <a:pPr>
              <a:lnSpc>
                <a:spcPct val="115000"/>
              </a:lnSpc>
              <a:spcAft>
                <a:spcPts val="800"/>
              </a:spcAft>
              <a:defRPr sz="1300">
                <a:solidFill>
                  <a:srgbClr val="1E293B"/>
                </a:solidFill>
                <a:latin typeface="Arial"/>
              </a:defRPr>
            </a:pPr>
            <a:r>
              <a:t>•   **Basic Rollback Strategies:** Leveraging Version Control System (VCS) for reverting configuration changes and utilizing `terraform plan` for impact assessment before applying.</a:t>
            </a:r>
          </a:p>
          <a:p>
            <a:pPr>
              <a:lnSpc>
                <a:spcPct val="115000"/>
              </a:lnSpc>
              <a:spcAft>
                <a:spcPts val="800"/>
              </a:spcAft>
              <a:defRPr sz="1300">
                <a:solidFill>
                  <a:srgbClr val="1E293B"/>
                </a:solidFill>
                <a:latin typeface="Arial"/>
              </a:defRPr>
            </a:pPr>
            <a:r>
              <a:t>•   **Troubleshooting Common Errors:** Diagnosing provider authentication issues, state file corruption (and basic recovery concepts), dependency cycles, and API rate limiting.</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**Logging &amp; Debugging:** Effectively utilizing the `TF_LOG` environment variable (e.g., `TF_LOG=TRACE`) to gain deeper insights into Terraform's execution for diagnostics.</a:t>
            </a:r>
          </a:p>
          <a:p>
            <a:pPr>
              <a:lnSpc>
                <a:spcPct val="115000"/>
              </a:lnSpc>
              <a:spcAft>
                <a:spcPts val="800"/>
              </a:spcAft>
              <a:defRPr sz="1300">
                <a:solidFill>
                  <a:srgbClr val="1E293B"/>
                </a:solidFill>
                <a:latin typeface="Arial"/>
              </a:defRPr>
            </a:pPr>
            <a:r>
              <a:t>•   **Drift Detection (Manual):** Periodically running `terraform plan` against deployed infrastructure to identify configuration drift from the declared state.</a:t>
            </a:r>
          </a:p>
          <a:p>
            <a:pPr>
              <a:spcBef>
                <a:spcPts val="1400"/>
              </a:spcBef>
              <a:defRPr sz="1050" b="1">
                <a:solidFill>
                  <a:srgbClr val="4F46E5"/>
                </a:solidFill>
                <a:latin typeface="Arial"/>
              </a:defRPr>
            </a:pPr>
            <a:r>
              <a:t>Key Takeaway: Reliable infrastructure automation requires understanding Terraform's operational nuances and having clear troubleshooting pathways for maintaining desired state.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Your First 6 Months: Strategic Terraform Mastery Roadmap (Part 1)</a:t>
            </a:r>
          </a:p>
          <a:p>
            <a:pPr>
              <a:spcBef>
                <a:spcPts val="400"/>
              </a:spcBef>
              <a:defRPr sz="1300" b="1">
                <a:solidFill>
                  <a:srgbClr val="14B8A6"/>
                </a:solidFill>
                <a:latin typeface="Arial"/>
              </a:defRPr>
            </a:pPr>
            <a:r>
              <a:t>Building a Foundation for Enterprise IaC Excellence</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 1-2: Core Proficiency &amp; Setup:** Master HCL syntax, basic providers (e.g., AWS EC2, S3), remote state configuration, and the `init/plan/apply` cycle. Implement basic modularization for reuse.</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 3-4: Security &amp; Collaboration Integration:** Establish robust IAM for Terraform execution, integrate with VCS and enforce peer code reviews. Begin exploring `terraform workspaces` for environment isolation (dev/staging).</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 5-6: Reliability &amp; Foundational Expansion:** Focus on robust state management practices, understand resource lifecycles, and explore `terraform import` for onboarding existing infrastructure. Start building simple, reproducible environment stacks.</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A structured approach to learning and applying Terraform ensures a solid, scalable, and secure foundation for future IaC initiatives across the enterprise.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