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final part of our Terraform masterclass series. Today, we transition from development and security to SRE, operational resilience, and advanced troubleshooting. We will explore how to recover from corrupted states, monitor Terraform execution with Prometheus, and build concrete incident response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mechanics of state locking. When a CI/CD pipeline crashes mid-apply, it leaves a lock in your backend (like DynamoDB). SREs must understand how to safely inspect the lock metadata, verify no active processes are running, and execute a force-unlock. We must also ensure versioning is enabled on our S3/GCS state buckets to allow rapid point-in-time recovery if state corruption occurs.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Debugging often requires enabling verbose logging. However, TF_LOG=DEBUG can dump raw API payloads containing database passwords or private keys. As SREs, we must configure our runners to mask sensitive outputs, sanitize state files, and ensure that troubleshooting is conducted within secure, isolated sandboxes using read-only or highly scoped ephemeral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achieve true reliability, we must observe our Terraform execution. By exporting pipeline metrics to Prometheus, we can alert on anomalous apply durations or high failure spikes. If drift is detected, an automated alert triggers our runbook: first, run a refresh-only plan; second, isolate the affected workspace; third, reconcile the drift using target-specific applies if necessary. This structured approach underpins our blameless RCAs.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at how to implement this strategically over the next six months. We start by securing our baselines—versioning and metrics. Next, we build proactive drift detection so we catch changes before they cause incidents. In the final phase, we run game days. By simulating state failures, we ensure our team is trained, our runbooks are accurate, and our systems are truly resilient.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Advanced Terraform SRE: Diagnostics, Incident Response &amp; Runbooks</a:t>
            </a:r>
          </a:p>
          <a:p>
            <a:pPr>
              <a:spcBef>
                <a:spcPts val="1000"/>
              </a:spcBef>
              <a:defRPr sz="1600">
                <a:solidFill>
                  <a:srgbClr val="94A3B8"/>
                </a:solidFill>
                <a:latin typeface="Arial"/>
              </a:defRPr>
            </a:pPr>
            <a:r>
              <a:t>Infrastructure-as-Code Resilience, Observability, and Recovery at Scale (Part 3/3)</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State Lock Failures &amp; Backend Disaster Recovery</a:t>
            </a:r>
          </a:p>
          <a:p>
            <a:pPr>
              <a:spcBef>
                <a:spcPts val="400"/>
              </a:spcBef>
              <a:defRPr sz="1300" b="1">
                <a:solidFill>
                  <a:srgbClr val="4F46E5"/>
                </a:solidFill>
                <a:latin typeface="Arial"/>
              </a:defRPr>
            </a:pPr>
            <a:r>
              <a:t>Architecture of State Locking, Race Conditions, and Manual/Automated Recovery Strategies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State Lock Exhaustion: Demystifying DynamoDB/Consul lock mechanisms and resolving persistent 'Error acquiring state lock' during parallel CI/CD runs.</a:t>
            </a:r>
          </a:p>
          <a:p>
            <a:pPr>
              <a:lnSpc>
                <a:spcPct val="115000"/>
              </a:lnSpc>
              <a:spcAft>
                <a:spcPts val="800"/>
              </a:spcAft>
              <a:defRPr sz="1300">
                <a:solidFill>
                  <a:srgbClr val="1E293B"/>
                </a:solidFill>
                <a:latin typeface="Arial"/>
              </a:defRPr>
            </a:pPr>
            <a:r>
              <a:t>•   Manual Unlock Protocols: Executing safe 'terraform force-unlock &lt;LOCK_ID&gt;' operations without risking concurrent writes or split-brain states.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Backend Recovery Pipelines: Architectural patterns for automated state backups, point-in-time versioning rollbacks, and reconciling diverged remote states.</a:t>
            </a:r>
          </a:p>
          <a:p>
            <a:pPr>
              <a:spcBef>
                <a:spcPts val="1400"/>
              </a:spcBef>
              <a:defRPr sz="1050" b="1">
                <a:solidFill>
                  <a:srgbClr val="4F46E5"/>
                </a:solidFill>
                <a:latin typeface="Arial"/>
              </a:defRPr>
            </a:pPr>
            <a:r>
              <a:t>Key Takeaway: Resilient state management relies on strict concurrency controls, clear force-unlock runbooks, and automated state-store replication.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Secure Debugging &amp; State Sanitation</a:t>
            </a:r>
          </a:p>
          <a:p>
            <a:pPr>
              <a:spcBef>
                <a:spcPts val="400"/>
              </a:spcBef>
              <a:defRPr sz="1300" b="1">
                <a:solidFill>
                  <a:srgbClr val="4F46E5"/>
                </a:solidFill>
                <a:latin typeface="Arial"/>
              </a:defRPr>
            </a:pPr>
            <a:r>
              <a:t>Preventing Secret Leakage in TF_LOG, State Files, and Diagnostic Artifacts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Sanitizing TF_LOG: Handling sensitive variables to prevent plain-text exposure in 'TF_LOG=DEBUG' traces within CI/CD runner logs.</a:t>
            </a:r>
          </a:p>
          <a:p>
            <a:pPr>
              <a:lnSpc>
                <a:spcPct val="115000"/>
              </a:lnSpc>
              <a:spcAft>
                <a:spcPts val="800"/>
              </a:spcAft>
              <a:defRPr sz="1300">
                <a:solidFill>
                  <a:srgbClr val="1E293B"/>
                </a:solidFill>
                <a:latin typeface="Arial"/>
              </a:defRPr>
            </a:pPr>
            <a:r>
              <a:t>•   State File Redaction: Leveraging 'nonsensitive()' carefully and implementing automated scanning tools (e.g., TruffleHog) on state storage buckets.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Secure Incident Sandboxes: Creating isolated scratch spaces with ephemeral credentials to debug complex state drift without production write access.</a:t>
            </a:r>
          </a:p>
          <a:p>
            <a:pPr>
              <a:spcBef>
                <a:spcPts val="1400"/>
              </a:spcBef>
              <a:defRPr sz="1050" b="1">
                <a:solidFill>
                  <a:srgbClr val="4F46E5"/>
                </a:solidFill>
                <a:latin typeface="Arial"/>
              </a:defRPr>
            </a:pPr>
            <a:r>
              <a:t>Key Takeaway: Debugging production IaC issues must never compromise security; enforce strict log sanitation and ephemeral access controls during incidents.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Prometheus Observability &amp; Incident Runbooks</a:t>
            </a:r>
          </a:p>
          <a:p>
            <a:pPr>
              <a:spcBef>
                <a:spcPts val="400"/>
              </a:spcBef>
              <a:defRPr sz="1300" b="1">
                <a:solidFill>
                  <a:srgbClr val="4F46E5"/>
                </a:solidFill>
                <a:latin typeface="Arial"/>
              </a:defRPr>
            </a:pPr>
            <a:r>
              <a:t>Custom Alerting Rules, Runbooks, and RCA Frameworks for Terraform Pipelines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Pipeline Metrics &amp; Alerting: Designing Prometheus rules for tracking long-running applies, high failure rates, and drift detection frequency.</a:t>
            </a:r>
          </a:p>
          <a:p>
            <a:pPr>
              <a:lnSpc>
                <a:spcPct val="115000"/>
              </a:lnSpc>
              <a:spcAft>
                <a:spcPts val="800"/>
              </a:spcAft>
              <a:defRPr sz="1300">
                <a:solidFill>
                  <a:srgbClr val="1E293B"/>
                </a:solidFill>
                <a:latin typeface="Arial"/>
              </a:defRPr>
            </a:pPr>
            <a:r>
              <a:t>•   Incident Runbook (State Drift): Step-by-step triage for unexpected infrastructure drift, utilizing 'terraform plan -detailed-exitcode' to trigger alerts.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Blameless RCA Framework: Structuring Root Cause Analyses for IaC failures, focusing on state-to-reality divergence and upstream API rate-limiting.</a:t>
            </a:r>
          </a:p>
          <a:p>
            <a:pPr>
              <a:spcBef>
                <a:spcPts val="1400"/>
              </a:spcBef>
              <a:defRPr sz="1050" b="1">
                <a:solidFill>
                  <a:srgbClr val="4F46E5"/>
                </a:solidFill>
                <a:latin typeface="Arial"/>
              </a:defRPr>
            </a:pPr>
            <a:r>
              <a:t>Key Takeaway: Turn IaC pipelines from black boxes into observable systems with custom Prometheus metrics, proactive drift alerts, and actionable runbooks.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SRE &amp; IaC Resilience Roadmap</a:t>
            </a:r>
          </a:p>
          <a:p>
            <a:pPr>
              <a:spcBef>
                <a:spcPts val="400"/>
              </a:spcBef>
              <a:defRPr sz="1300" b="1">
                <a:solidFill>
                  <a:srgbClr val="14B8A6"/>
                </a:solidFill>
                <a:latin typeface="Arial"/>
              </a:defRPr>
            </a:pPr>
            <a:r>
              <a:t>Phased Implementation of Observability, Automated Remediation, and Chaos Engineering</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(Observability &amp; Baseline): Standardize remote state versioning, configure automated state backups, and deploy Prometheus exporters for CI/CD runners.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(Drift &amp; Alerting): Implement daily scheduled drift detection runs across all production workspaces with Slack/PagerDuty alerts for unmanaged changes.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(Chaos &amp; Automation): Conduct game days simulating state lock exhaustion and backend outages; build automated self-healing pipelines for common drift scenarios.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Transitioning to a high-reliability IaC paradigm requires a structured roadmap balancing baseline observability with proactive chaos testing.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