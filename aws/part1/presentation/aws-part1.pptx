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1 of our AWS Technical Workshop. Today, we focus on the bedrock of any enterprise-grade deployment: VPC design, foundational IAM security, basic SRE observability patterns, and troubleshooting paradigms. This session is designed for senior engineers looking to standardize cloud infrastructure with zero-trust principles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designing your VPC, never share a single NAT Gateway across AZs in production; a single AZ outage would break egress traffic for all other zones. Ensure your route tables are explicitly associated with subnets rather than relying on default VPC associations. Use Terraform to enforce these topologies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Security Groups are stateful; you only need to define the ingress rule, and the egress return traffic is allowed automatically. NACLs are stateless and require explicit inbound and outbound rules, including ephemeral port ranges (1024-65535). Always enforce KMS encryption at rest using CMKs rather than default AWS managed keys for better rotation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application fails to connect, do not open port 22 to the world. Use SSM Session Manager to access instances securely without an IGW or bastion host. Leverage VPC Flow Logs with Athena queries to quickly isolate whether traffic is being dropped by a Security Group (REJECT) or a NACL.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roadmap ensures your team does not skip foundational steps. Start with pure infrastructure codification, layer on advanced security boundaries, and conclude with SRE-driven observability and chaos engineering simulations to validate system resilience.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AWS Foundations: Architecture, Security, and SRE Best Practices (Part 1/3)</a:t>
            </a:r>
          </a:p>
          <a:p>
            <a:pPr>
              <a:spcBef>
                <a:spcPts val="1000"/>
              </a:spcBef>
              <a:defRPr sz="1600">
                <a:solidFill>
                  <a:srgbClr val="94A3B8"/>
                </a:solidFill>
                <a:latin typeface="Arial"/>
              </a:defRPr>
            </a:pPr>
            <a:r>
              <a:t>Establishing a Resilient, Secure, and Highly Available Cloud Landing Zone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Architectural Foundations: Multi-AZ VPC Topology &amp; Networking</a:t>
            </a:r>
          </a:p>
          <a:p>
            <a:pPr>
              <a:spcBef>
                <a:spcPts val="400"/>
              </a:spcBef>
              <a:defRPr sz="1300" b="1">
                <a:solidFill>
                  <a:srgbClr val="4F46E5"/>
                </a:solidFill>
                <a:latin typeface="Arial"/>
              </a:defRPr>
            </a:pPr>
            <a:r>
              <a:t>Designing High-Availability Networks with Deterministic Traffic Routing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VPC &amp; Subnet Segmentation: Deploying across a minimum of 3 Availability Zones (AZs) with dedicated Public, Private (App), and Isolated (Data) subnets.</a:t>
            </a:r>
          </a:p>
          <a:p>
            <a:pPr>
              <a:lnSpc>
                <a:spcPct val="115000"/>
              </a:lnSpc>
              <a:spcAft>
                <a:spcPts val="800"/>
              </a:spcAft>
              <a:defRPr sz="1300">
                <a:solidFill>
                  <a:srgbClr val="1E293B"/>
                </a:solidFill>
                <a:latin typeface="Arial"/>
              </a:defRPr>
            </a:pPr>
            <a:r>
              <a:t>•   Deterministic Routing: Utilizing Internet Gateways (IGW) for egress/ingress on public subnets, and redundant NAT Gateways (1 per AZ) for secure private egress.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Compute Provisioning: Launching EC2 instances within Auto Scaling Groups (ASGs) integrated with Application Load Balancers (ALBs) for high availability.</a:t>
            </a:r>
          </a:p>
          <a:p>
            <a:pPr>
              <a:lnSpc>
                <a:spcPct val="115000"/>
              </a:lnSpc>
              <a:spcAft>
                <a:spcPts val="800"/>
              </a:spcAft>
              <a:defRPr sz="1300">
                <a:solidFill>
                  <a:srgbClr val="1E293B"/>
                </a:solidFill>
                <a:latin typeface="Arial"/>
              </a:defRPr>
            </a:pPr>
            <a:r>
              <a:t>•   Infrastructure as Code (IaC): Standardizing foundational topologies using modular Terraform or AWS CDK with strict state management.</a:t>
            </a:r>
          </a:p>
          <a:p>
            <a:pPr>
              <a:spcBef>
                <a:spcPts val="1400"/>
              </a:spcBef>
              <a:defRPr sz="1050" b="1">
                <a:solidFill>
                  <a:srgbClr val="4F46E5"/>
                </a:solidFill>
                <a:latin typeface="Arial"/>
              </a:defRPr>
            </a:pPr>
            <a:r>
              <a:t>Key Takeaway: Isolate workloads and eliminate single points of failure by enforcing multi-AZ architectures and strict subnet boundaries.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Foundational Hardening: IAM, Security Groups &amp; Network ACLs</a:t>
            </a:r>
          </a:p>
          <a:p>
            <a:pPr>
              <a:spcBef>
                <a:spcPts val="400"/>
              </a:spcBef>
              <a:defRPr sz="1300" b="1">
                <a:solidFill>
                  <a:srgbClr val="4F46E5"/>
                </a:solidFill>
                <a:latin typeface="Arial"/>
              </a:defRPr>
            </a:pPr>
            <a:r>
              <a:t>Enforcing Least-Privilege Access and Multi-Layered Defense-in-Depth</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IAM Least-Privilege: Crafting customer-managed policies with explicit actions, resource-level permissions, and strict condition keys (e.g., source IP, MFA).</a:t>
            </a:r>
          </a:p>
          <a:p>
            <a:pPr>
              <a:lnSpc>
                <a:spcPct val="115000"/>
              </a:lnSpc>
              <a:spcAft>
                <a:spcPts val="800"/>
              </a:spcAft>
              <a:defRPr sz="1300">
                <a:solidFill>
                  <a:srgbClr val="1E293B"/>
                </a:solidFill>
                <a:latin typeface="Arial"/>
              </a:defRPr>
            </a:pPr>
            <a:r>
              <a:t>•   Stateful vs. Stateless Firewalls: Layering stateful Security Groups (instance-level) with stateless Network ACLs (subnet-level) to mitigate malicious traffic.</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Data Protection at Rest &amp; Transit: Enforcing default AWS KMS customer-managed keys (CMK) for EBS/S3, and TLS 1.3 termination at the ALB level.</a:t>
            </a:r>
          </a:p>
          <a:p>
            <a:pPr>
              <a:lnSpc>
                <a:spcPct val="115000"/>
              </a:lnSpc>
              <a:spcAft>
                <a:spcPts val="800"/>
              </a:spcAft>
              <a:defRPr sz="1300">
                <a:solidFill>
                  <a:srgbClr val="1E293B"/>
                </a:solidFill>
                <a:latin typeface="Arial"/>
              </a:defRPr>
            </a:pPr>
            <a:r>
              <a:t>•   Audit &amp; Governance: Enabling AWS CloudTrail organization-wide with log-file validation and streaming to a central, write-once-read-many (WORM) S3 bucket.</a:t>
            </a:r>
          </a:p>
          <a:p>
            <a:pPr>
              <a:spcBef>
                <a:spcPts val="1400"/>
              </a:spcBef>
              <a:defRPr sz="1050" b="1">
                <a:solidFill>
                  <a:srgbClr val="4F46E5"/>
                </a:solidFill>
                <a:latin typeface="Arial"/>
              </a:defRPr>
            </a:pPr>
            <a:r>
              <a:t>Key Takeaway: Security must be applied at every layer—identity, network, and data—ensuring compromised credentials or instances do not lead to lateral movement.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Observability &amp; SRE: Incident Diagnostics &amp; Flow Monitoring</a:t>
            </a:r>
          </a:p>
          <a:p>
            <a:pPr>
              <a:spcBef>
                <a:spcPts val="400"/>
              </a:spcBef>
              <a:defRPr sz="1300" b="1">
                <a:solidFill>
                  <a:srgbClr val="4F46E5"/>
                </a:solidFill>
                <a:latin typeface="Arial"/>
              </a:defRPr>
            </a:pPr>
            <a:r>
              <a:t>Proactive Fault Detection and Rapid MTTR via Native AWS Instrumentation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VPC Flow Logs Analysis: Capturing IP traffic patterns to diagnose rejected connection attempts (e.g., security group or NACL misconfigurations).</a:t>
            </a:r>
          </a:p>
          <a:p>
            <a:pPr>
              <a:lnSpc>
                <a:spcPct val="115000"/>
              </a:lnSpc>
              <a:spcAft>
                <a:spcPts val="800"/>
              </a:spcAft>
              <a:defRPr sz="1300">
                <a:solidFill>
                  <a:srgbClr val="1E293B"/>
                </a:solidFill>
                <a:latin typeface="Arial"/>
              </a:defRPr>
            </a:pPr>
            <a:r>
              <a:t>•   CloudWatch Metrics &amp; Alarms: Establishing baseline metrics for EC2 (CPU, Disk I/O) and ALB (HTTP 5XX, TargetResponseTime) with dynamic anomaly detection.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Diagnostic Runbooks: Utilizing AWS Systems Manager (SSM) Session Manager for secure, SSH-less instance access and automated remediation scripts.</a:t>
            </a:r>
          </a:p>
          <a:p>
            <a:pPr>
              <a:lnSpc>
                <a:spcPct val="115000"/>
              </a:lnSpc>
              <a:spcAft>
                <a:spcPts val="800"/>
              </a:spcAft>
              <a:defRPr sz="1300">
                <a:solidFill>
                  <a:srgbClr val="1E293B"/>
                </a:solidFill>
                <a:latin typeface="Arial"/>
              </a:defRPr>
            </a:pPr>
            <a:r>
              <a:t>•   Troubleshooting Tooling: Utilizing commands like 'aws-cli' query filters ('--query'), 'dig' for DNS resolution validation, and 'curl -Iv' to isolate TCP/TLS handshakes.</a:t>
            </a:r>
          </a:p>
          <a:p>
            <a:pPr>
              <a:spcBef>
                <a:spcPts val="1400"/>
              </a:spcBef>
              <a:defRPr sz="1050" b="1">
                <a:solidFill>
                  <a:srgbClr val="4F46E5"/>
                </a:solidFill>
                <a:latin typeface="Arial"/>
              </a:defRPr>
            </a:pPr>
            <a:r>
              <a:t>Key Takeaway: Minimize Mean Time to Resolution (MTTR) by combining comprehensive VPC Flow Logs, structured CloudWatch Alarms, and secure SSM diagnostic paths.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Mastery Roadmap: AWS Foundations</a:t>
            </a:r>
          </a:p>
          <a:p>
            <a:pPr>
              <a:spcBef>
                <a:spcPts val="400"/>
              </a:spcBef>
              <a:defRPr sz="1300" b="1">
                <a:solidFill>
                  <a:srgbClr val="14B8A6"/>
                </a:solidFill>
                <a:latin typeface="Arial"/>
              </a:defRPr>
            </a:pPr>
            <a:r>
              <a:t>A Structured Technical Progression for Engineering Teams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(Infrastructure &amp; Networking): Master multi-AZ VPC design, transit routing, and infrastructure codification using Terraform.</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(Identity &amp; Hardening): Implement advanced IAM policies, AWS Organizations SCPs, KMS envelope encryption, and automated security scanning.</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(Observability &amp; SRE): Build robust CloudWatch dashboards, orchestrate auto-scaling policies based on custom metrics, and simulate failure modes.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True AWS mastery requires a phased approach, transitioning from basic network isolation to automated guardrails and deep observability.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