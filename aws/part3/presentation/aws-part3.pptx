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Welcome to the final part of our AWS workshop series. In Part 1 and 2, we covered core AWS services and architectural patterns. Today, we're diving deep into the critical domain of operational excellence, exploring how SRE principles, robust diagnostics, and efficient incident management are paramount for any enterprise-grade AWS environment. This isn't just about 'keeping the lights on'; it's about engineering reliability, anticipating failures, and learning from every event to build truly resilient 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core of SRE is engineering reliability. We start with SLOs and SLIs – moving beyond just availability to encompass latency, throughput, and error rates, giving us a true measure of user experience. Our observability architecture needs to be unified, pulling data from disparate AWS services into a coherent view, perhaps with Grafana dashboards fed by Prometheus and CloudWatch. Crucially, we're building automation into every layer, from provisioning to response. And remember, the error budget isn't just a number; it's a strategic tool, allowing us to innovate while maintaining reliability, all within a culture that views failure as a learning opportunity, not an blame game.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talk about production SRE, security is non-negotiable. Our monitoring tools themselves are prime targets, so hardening access to logs, metrics, and dashboards is critical using strict IAM policies. For diagnostics, we eliminate direct access wherever possible, preferring secure, auditable methods like Session Manager. We also need to 'shift left' security into our operational tooling. This means integrating security findings from GuardDuty or Security Hub directly into our Prometheus or Grafana alerts, ensuring security events are treated with the same urgency as performance issues. Automated remediation for security findings can dramatically reduce blast radius, and throughout all incident management, we must maintain strict audit trails for compliance.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rubber meets the road. When an incident occurs, efficient diagnostics are paramount. We'll explore how to leverage CloudWatch Logs Insights for rapid log querying, X-Ray for distributed tracing, and VPC Flow Logs for network-level issues. For alerting, beyond simple thresholds, we'll dive into crafting custom Prometheus rules that leverage advanced PromQL, including multi-dimensional grouping and 'for' clauses to reduce noise. Our runbooks need to be clear, actionable, and regularly updated – think of them as living code. The RCA process must be blameless, focusing on systemic improvements. And finally, to truly test our resilience, we'll touch upon Chaos Engineering, deliberately introducing failures to strengthen our systems proactively.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effectively implement these SRE principles, a phased approach is essential. In the first two months, focus on getting your observability foundation solid. You can't improve what you can't measure. Months three and four are about making that observability actionable – building intelligent alerts that truly matter and automating responses. This is also where those crucial runbooks start to take shape. Finally, in months five and six, we elevate to true mastery. This involves embedding RCAs into your culture, continuously refining processes based on learnings, and proactively testing your systems with chaos engineering. Remember, SRE is a marathon, not a sprint, and this roadmap provides a clear path to achieving advanced operational excellence on AWS.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Mastering AWS Operations: SRE, Diagnostics &amp; Incident Response</a:t>
            </a:r>
          </a:p>
          <a:p>
            <a:pPr>
              <a:spcBef>
                <a:spcPts val="1000"/>
              </a:spcBef>
              <a:defRPr sz="1600">
                <a:solidFill>
                  <a:srgbClr val="94A3B8"/>
                </a:solidFill>
                <a:latin typeface="Arial"/>
              </a:defRPr>
            </a:pPr>
            <a:r>
              <a:t>Part 3/3: Elevating Production Excellence and Resilience Architecture</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Foundational Pillars of Production SRE on AWS</a:t>
            </a:r>
          </a:p>
          <a:p>
            <a:pPr>
              <a:spcBef>
                <a:spcPts val="400"/>
              </a:spcBef>
              <a:defRPr sz="1300" b="1">
                <a:solidFill>
                  <a:srgbClr val="4F46E5"/>
                </a:solidFill>
                <a:latin typeface="Arial"/>
              </a:defRPr>
            </a:pPr>
            <a:r>
              <a:t>Proactive Observability, Automated Remediation, and Operational Maturity Models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Defining Service Level Objectives (SLOs) and Indicators (SLIs) for AWS Services: Establishing quantifiable reliability targets beyond basic uptime.</a:t>
            </a:r>
          </a:p>
          <a:p>
            <a:pPr>
              <a:lnSpc>
                <a:spcPct val="115000"/>
              </a:lnSpc>
              <a:spcAft>
                <a:spcPts val="800"/>
              </a:spcAft>
              <a:defRPr sz="1300">
                <a:solidFill>
                  <a:srgbClr val="1E293B"/>
                </a:solidFill>
                <a:latin typeface="Arial"/>
              </a:defRPr>
            </a:pPr>
            <a:r>
              <a:t>•   Integrated Observability Architecture: Centralizing metrics (CloudWatch, Prometheus), logs (CloudWatch Logs, OpenSearch), and traces (AWS X-Ray, OpenTelemetry) for unified visibility.</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Event-Driven Automation for Operational Tasks: Leveraging Lambda, EventBridge, and Systems Manager for self-healing and automated runbooks.</a:t>
            </a:r>
          </a:p>
          <a:p>
            <a:pPr>
              <a:lnSpc>
                <a:spcPct val="115000"/>
              </a:lnSpc>
              <a:spcAft>
                <a:spcPts val="800"/>
              </a:spcAft>
              <a:defRPr sz="1300">
                <a:solidFill>
                  <a:srgbClr val="1E293B"/>
                </a:solidFill>
                <a:latin typeface="Arial"/>
              </a:defRPr>
            </a:pPr>
            <a:r>
              <a:t>•   Error Budgets and Blameless Culture: Fostering continuous improvement through measured risk-taking and learning from incidents.</a:t>
            </a:r>
          </a:p>
          <a:p>
            <a:pPr>
              <a:spcBef>
                <a:spcPts val="1400"/>
              </a:spcBef>
              <a:defRPr sz="1050" b="1">
                <a:solidFill>
                  <a:srgbClr val="4F46E5"/>
                </a:solidFill>
                <a:latin typeface="Arial"/>
              </a:defRPr>
            </a:pPr>
            <a:r>
              <a:t>Key Takeaway: Robust SRE on AWS hinges on a comprehensive observability stack, clear reliability targets, and an automation-first mindset to prevent and mitigate operational disruptions.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Securing Operational Excellence: DevSecOps in Production SRE</a:t>
            </a:r>
          </a:p>
          <a:p>
            <a:pPr>
              <a:spcBef>
                <a:spcPts val="400"/>
              </a:spcBef>
              <a:defRPr sz="1300" b="1">
                <a:solidFill>
                  <a:srgbClr val="4F46E5"/>
                </a:solidFill>
                <a:latin typeface="Arial"/>
              </a:defRPr>
            </a:pPr>
            <a:r>
              <a:t>Integrating Security into Diagnostics, Alerting, and Incident Response Workflows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Hardening the Observability Plane: Implementing Least Privilege for Monitoring Agents, Log Access, and Dashboard Viewers (IAM Roles, Attribute-Based Access Control).</a:t>
            </a:r>
          </a:p>
          <a:p>
            <a:pPr>
              <a:lnSpc>
                <a:spcPct val="115000"/>
              </a:lnSpc>
              <a:spcAft>
                <a:spcPts val="800"/>
              </a:spcAft>
              <a:defRPr sz="1300">
                <a:solidFill>
                  <a:srgbClr val="1E293B"/>
                </a:solidFill>
                <a:latin typeface="Arial"/>
              </a:defRPr>
            </a:pPr>
            <a:r>
              <a:t>•   Secure Diagnostic Access: Utilizing Session Manager and VPC Endpoints for secure, auditable access to instances without open SSH ports.</a:t>
            </a:r>
          </a:p>
          <a:p>
            <a:pPr>
              <a:lnSpc>
                <a:spcPct val="115000"/>
              </a:lnSpc>
              <a:spcAft>
                <a:spcPts val="800"/>
              </a:spcAft>
              <a:defRPr sz="1300">
                <a:solidFill>
                  <a:srgbClr val="1E293B"/>
                </a:solidFill>
                <a:latin typeface="Arial"/>
              </a:defRPr>
            </a:pPr>
            <a:r>
              <a:t>•   Integrating Security Telemetry: Feeding AWS GuardDuty, Security Hub, and WAF logs into centralized monitoring for proactive threat detection.</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Automated Security Remediation: Triggering Lambda functions via EventBridge for immediate response to security findings (e.g., isolating compromised resources).</a:t>
            </a:r>
          </a:p>
          <a:p>
            <a:pPr>
              <a:lnSpc>
                <a:spcPct val="115000"/>
              </a:lnSpc>
              <a:spcAft>
                <a:spcPts val="800"/>
              </a:spcAft>
              <a:defRPr sz="1300">
                <a:solidFill>
                  <a:srgbClr val="1E293B"/>
                </a:solidFill>
                <a:latin typeface="Arial"/>
              </a:defRPr>
            </a:pPr>
            <a:r>
              <a:t>•   Compliance and Auditability in Incident Management: Ensuring all incident response activities and data handling adhere to regulatory requirements and internal policies.</a:t>
            </a:r>
          </a:p>
          <a:p>
            <a:pPr>
              <a:spcBef>
                <a:spcPts val="1400"/>
              </a:spcBef>
              <a:defRPr sz="1050" b="1">
                <a:solidFill>
                  <a:srgbClr val="4F46E5"/>
                </a:solidFill>
                <a:latin typeface="Arial"/>
              </a:defRPr>
            </a:pPr>
            <a:r>
              <a:t>Key Takeaway: Security is not an add-on; it's an intrinsic part of SRE. A robust DevSecOps approach ensures that our diagnostic and incident response capabilities are inherently secure and compliant.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Incident Mastery: From Diagnostics to Post-Mortem</a:t>
            </a:r>
          </a:p>
          <a:p>
            <a:pPr>
              <a:spcBef>
                <a:spcPts val="400"/>
              </a:spcBef>
              <a:defRPr sz="1300" b="1">
                <a:solidFill>
                  <a:srgbClr val="4F46E5"/>
                </a:solidFill>
                <a:latin typeface="Arial"/>
              </a:defRPr>
            </a:pPr>
            <a:r>
              <a:t>Effective Troubleshooting, Custom Alerting, and Continuous Learning Cycles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Advanced AWS Diagnostic Techniques: Deep dives into CloudWatch Logs Insights, X-Ray service maps, VPC Flow Logs for network forensics, and EC2 instance metrics for root cause identification.</a:t>
            </a:r>
          </a:p>
          <a:p>
            <a:pPr>
              <a:lnSpc>
                <a:spcPct val="115000"/>
              </a:lnSpc>
              <a:spcAft>
                <a:spcPts val="800"/>
              </a:spcAft>
              <a:defRPr sz="1300">
                <a:solidFill>
                  <a:srgbClr val="1E293B"/>
                </a:solidFill>
                <a:latin typeface="Arial"/>
              </a:defRPr>
            </a:pPr>
            <a:r>
              <a:t>•   Custom Prometheus Alerting Rules &amp; Best Practices: Defining multi-dimensional alerts, saturation-based alerts (e.g., disk fill rate), anomaly detection, and alert fatigue reduction strategies (e.g., 'sum by' clauses, 'for' clauses).</a:t>
            </a:r>
          </a:p>
          <a:p>
            <a:pPr>
              <a:lnSpc>
                <a:spcPct val="115000"/>
              </a:lnSpc>
              <a:spcAft>
                <a:spcPts val="800"/>
              </a:spcAft>
              <a:defRPr sz="1300">
                <a:solidFill>
                  <a:srgbClr val="1E293B"/>
                </a:solidFill>
                <a:latin typeface="Arial"/>
              </a:defRPr>
            </a:pPr>
            <a:r>
              <a:t>•   Structured Incident Response Runbooks: Developing living documents detailing step-by-step actions, escalation paths, communication templates, and decision matrices for common incidents.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Blameless Root Cause Analysis (RCA) &amp; Post-Mortem Facilitation: Utilizing techniques like the '5 Whys' and fishbone diagrams to uncover systemic issues, not just symptoms. Action item tracking and verification.</a:t>
            </a:r>
          </a:p>
          <a:p>
            <a:pPr>
              <a:lnSpc>
                <a:spcPct val="115000"/>
              </a:lnSpc>
              <a:spcAft>
                <a:spcPts val="800"/>
              </a:spcAft>
              <a:defRPr sz="1300">
                <a:solidFill>
                  <a:srgbClr val="1E293B"/>
                </a:solidFill>
                <a:latin typeface="Arial"/>
              </a:defRPr>
            </a:pPr>
            <a:r>
              <a:t>•   Proactive Resilience Building: Introduction to Chaos Engineering principles and practice on AWS (e.g., using AWS Fault Injection Simulator) to identify weaknesses before they become incidents.</a:t>
            </a:r>
          </a:p>
          <a:p>
            <a:pPr>
              <a:spcBef>
                <a:spcPts val="1400"/>
              </a:spcBef>
              <a:defRPr sz="1050" b="1">
                <a:solidFill>
                  <a:srgbClr val="4F46E5"/>
                </a:solidFill>
                <a:latin typeface="Arial"/>
              </a:defRPr>
            </a:pPr>
            <a:r>
              <a:t>Key Takeaway: Mastering incident management transforms reactive firefighting into proactive engineering. Structured diagnostics, intelligent alerting, and a commitment to learning are paramount for achieving high availability.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6-Month Roadmap to Advanced AWS SRE Mastery</a:t>
            </a:r>
          </a:p>
          <a:p>
            <a:pPr>
              <a:spcBef>
                <a:spcPts val="400"/>
              </a:spcBef>
              <a:defRPr sz="1300" b="1">
                <a:solidFill>
                  <a:srgbClr val="14B8A6"/>
                </a:solidFill>
                <a:latin typeface="Arial"/>
              </a:defRPr>
            </a:pPr>
            <a:r>
              <a:t>Phased Implementation for Operational Excellence &amp; Resilience at Scale</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Establish Foundational Observability. Centralize logging with OpenSearch, deploy Prometheus/Grafana for key services, define initial SLIs/SLOs for critical applications, and implement basic CloudWatch alarms.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Enhance Proactive Monitoring &amp; Response. Develop advanced Prometheus alerting rules (saturation, anomaly), integrate automated remediation via Lambda/EventBridge, draft and test critical incident runbooks, and conduct table-top incident simulations.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Drive Operational Maturity &amp; Resilience. Implement blameless RCA process, establish a post-mortem review cadence, introduce chaos engineering experiments (e.g., FIS for non-prod), and cross-train SRE and development teams on new tooling and processes.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Achieving SRE mastery is an iterative journey. A structured, phased roadmap ensures continuous improvement, turning operational challenges into opportunities for strategic growth and enhanced system resilience.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