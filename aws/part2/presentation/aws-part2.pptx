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2 of our AWS Mastery series. Today, we're shifting our focus from foundational concepts to advanced application. We'll explore how to move beyond basic configurations, diving deep into strategies that ensure your AWS deployments are not just functional, but truly enterprise-grade. This involves understanding the nuances of large-scale architecture, embedding security at every layer, and building systems that are inherently observable and resilient. We'll also touch upon mechanisms for safe experimentation and development through sandboxing, critical for innovation in secure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section, we'll dissect the architectural building blocks for truly scalable and resilient AWS environments. We'll move beyond simple VPCs to interconnected networks using Transit Gateway, crucial for large organizations. Understanding when and how to deploy services like PrivateLink and VPC Endpoints is key for secure communication. For microservices, we'll look at advanced patterns beyond basic deployments, focusing on efficient resource utilization and observability in EKS/ECS. Serverless computing will be explored through the lens of complex workflow orchestration and global distribution. Data strategies will cover not just storage, but how to process and analyze data at petabyte scale, with considerations for real-time analytics. Finally, we'll emphasize the importance of sandboxing—not just for development, but as a critical security and governance pattern using AWS Organizations and SCPs to control what can and cannot happen across your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and on AWS, it's a continuously evolving discipline. We'll discuss how to establish a proactive security posture, moving beyond reactive scanning to predictive threat intelligence with services like GuardDuty. IAM will be explored in depth, focusing on advanced concepts like ABAC for scalable permission management and effective federation. Data protection goes beyond basic encryption; we'll examine KMS custom key policies and strategies for immutable data storage. Network and application security will cover advanced WAF rulesets and the strategic deployment of AWS Network Firewall. Crucially, we'll dive into DevSecOps, demonstrating how to embed security checks directly into your CI/CD pipelines. This ensures that security isn't an afterthought but an integral part of your development and deployment lifecycle, automating compliance and reducing human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excellence is the cornerstone of SRE, and on AWS, this means mastering performance, observability, and incident management. We'll explore practical strategies for fine-tuning various AWS services, from Lambda to databases, ensuring your applications run optimally and cost-effectively. Observability goes beyond basic metrics; we'll look at integrated logging, tracing, and custom metrics that provide deep insights into system behavior. A critical aspect is resilience, and we'll delve into Chaos Engineering using AWS FIS to proactively test system weaknesses. Incident management isn't just about reacting; it's about automating responses with Systems Manager and EventBridge, allowing for rapid recovery and minimizing downtime. Finally, we'll touch on cost optimization as an ongoing SRE responsibility, ensuring resources are utilized efficiently and expenditures are governed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structured approach for your journey towards advanced AWS mastery over the next six months. It’s not just about learning; it’s about practical application and leadership. Start by picking one or two areas from today’s session to deep dive into, reinforcing your knowledge with specialty certifications. Then, put that knowledge into practice by leading initiatives focused on security hardening and DevSecOps integration. In the later months, you'll shift towards improving operational resilience and performance, including experimenting with Chaos Engineering in a safe environment. Throughout this period, continuous learning and contributing back to your team and the wider community are vital. The ultimate goal is to move beyond being a consumer of AWS services to becoming a strategic architect and an operational leader, driving tangible improvements across your organization's cloud footprint.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Mastering AWS: Advanced Strategies &amp; Deep Dive</a:t>
            </a:r>
          </a:p>
          <a:p>
            <a:pPr>
              <a:spcBef>
                <a:spcPts val="1000"/>
              </a:spcBef>
              <a:defRPr sz="1600">
                <a:solidFill>
                  <a:srgbClr val="94A3B8"/>
                </a:solidFill>
                <a:latin typeface="Arial"/>
              </a:defRPr>
            </a:pPr>
            <a:r>
              <a:t>Part 2/3: Architecting for Scale, Security, and Operational Excellence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Core Concepts: Advanced Architecture &amp; Scale Boundaries</a:t>
            </a:r>
          </a:p>
          <a:p>
            <a:pPr>
              <a:spcBef>
                <a:spcPts val="400"/>
              </a:spcBef>
              <a:defRPr sz="1300" b="1">
                <a:solidFill>
                  <a:srgbClr val="4F46E5"/>
                </a:solidFill>
                <a:latin typeface="Arial"/>
              </a:defRPr>
            </a:pPr>
            <a:r>
              <a:t>Designing for High Throughput, Elasticity, and Isolation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**Advanced Networking:** VPC Transit Gateway for hub-and-spoke, PrivateLink for secure service consumption, VPC Endpoints for private AWS service access.</a:t>
            </a:r>
          </a:p>
          <a:p>
            <a:pPr>
              <a:lnSpc>
                <a:spcPct val="115000"/>
              </a:lnSpc>
              <a:spcAft>
                <a:spcPts val="800"/>
              </a:spcAft>
              <a:defRPr sz="1300">
                <a:solidFill>
                  <a:srgbClr val="1E293B"/>
                </a:solidFill>
                <a:latin typeface="Arial"/>
              </a:defRPr>
            </a:pPr>
            <a:r>
              <a:t>•   **Microservices Orchestration:** Deep dive into EKS/ECS advanced scheduling, Fargate considerations for serverless containers, service mesh patterns with App Mesh.</a:t>
            </a:r>
          </a:p>
          <a:p>
            <a:pPr>
              <a:lnSpc>
                <a:spcPct val="115000"/>
              </a:lnSpc>
              <a:spcAft>
                <a:spcPts val="800"/>
              </a:spcAft>
              <a:defRPr sz="1300">
                <a:solidFill>
                  <a:srgbClr val="1E293B"/>
                </a:solidFill>
                <a:latin typeface="Arial"/>
              </a:defRPr>
            </a:pPr>
            <a:r>
              <a:t>•   **Event-Driven &amp; Serverless Patterns:** Orchestrating complex workflows with AWS Step Functions, leveraging Lambda@Edge for global low-latency processing, advanced API Gateway integrations.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**Data Architecture at Scale:** Implementing Data Lake patterns with Lake Formation, real-time streaming with Kinesis/MSK, optimizing DynamoDB for massive scale and low latency.</a:t>
            </a:r>
          </a:p>
          <a:p>
            <a:pPr>
              <a:lnSpc>
                <a:spcPct val="115000"/>
              </a:lnSpc>
              <a:spcAft>
                <a:spcPts val="800"/>
              </a:spcAft>
              <a:defRPr sz="1300">
                <a:solidFill>
                  <a:srgbClr val="1E293B"/>
                </a:solidFill>
                <a:latin typeface="Arial"/>
              </a:defRPr>
            </a:pPr>
            <a:r>
              <a:t>•   **Sandboxing &amp; Multi-Account Strategy:** Designing account vending machines, enforcing guardrails with Service Control Policies (SCPs), secure cross-account access patterns.</a:t>
            </a:r>
          </a:p>
          <a:p>
            <a:pPr>
              <a:spcBef>
                <a:spcPts val="1400"/>
              </a:spcBef>
              <a:defRPr sz="1050" b="1">
                <a:solidFill>
                  <a:srgbClr val="4F46E5"/>
                </a:solidFill>
                <a:latin typeface="Arial"/>
              </a:defRPr>
            </a:pPr>
            <a:r>
              <a:t>Key Takeaway: Effective large-scale AWS architecture hinges on strategic networking, robust orchestration, advanced data patterns, and disciplined account segmentation.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Security &amp; DevSecOps Integration</a:t>
            </a:r>
          </a:p>
          <a:p>
            <a:pPr>
              <a:spcBef>
                <a:spcPts val="400"/>
              </a:spcBef>
              <a:defRPr sz="1300" b="1">
                <a:solidFill>
                  <a:srgbClr val="4F46E5"/>
                </a:solidFill>
                <a:latin typeface="Arial"/>
              </a:defRPr>
            </a:pPr>
            <a:r>
              <a:t>Building Secure-by-Design and Compliant Cloud Environments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**Proactive Security Posture:** Leveraging GuardDuty for threat detection, Security Hub for aggregated findings, and AWS Config for continuous compliance monitoring.</a:t>
            </a:r>
          </a:p>
          <a:p>
            <a:pPr>
              <a:lnSpc>
                <a:spcPct val="115000"/>
              </a:lnSpc>
              <a:spcAft>
                <a:spcPts val="800"/>
              </a:spcAft>
              <a:defRPr sz="1300">
                <a:solidFill>
                  <a:srgbClr val="1E293B"/>
                </a:solidFill>
                <a:latin typeface="Arial"/>
              </a:defRPr>
            </a:pPr>
            <a:r>
              <a:t>•   **Advanced Identity &amp; Access Management (IAM):** Implementing Attribute-Based Access Control (ABAC), fine-grained permissions with IAM Condition Keys, identity federation strategies.</a:t>
            </a:r>
          </a:p>
          <a:p>
            <a:pPr>
              <a:lnSpc>
                <a:spcPct val="115000"/>
              </a:lnSpc>
              <a:spcAft>
                <a:spcPts val="800"/>
              </a:spcAft>
              <a:defRPr sz="1300">
                <a:solidFill>
                  <a:srgbClr val="1E293B"/>
                </a:solidFill>
                <a:latin typeface="Arial"/>
              </a:defRPr>
            </a:pPr>
            <a:r>
              <a:t>•   **Data Protection &amp; Encryption:** KMS custom key policies, S3 Object Lock for immutability, database encryption best practices (RDS, DynamoDB, Redshift).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**Network &amp; Application Security:** Deploying AWS WAF for application-layer protection, AWS Network Firewall for centralized traffic inspection, secure subnet segmentation.</a:t>
            </a:r>
          </a:p>
          <a:p>
            <a:pPr>
              <a:lnSpc>
                <a:spcPct val="115000"/>
              </a:lnSpc>
              <a:spcAft>
                <a:spcPts val="800"/>
              </a:spcAft>
              <a:defRPr sz="1300">
                <a:solidFill>
                  <a:srgbClr val="1E293B"/>
                </a:solidFill>
                <a:latin typeface="Arial"/>
              </a:defRPr>
            </a:pPr>
            <a:r>
              <a:t>•   **DevSecOps Automation:** Integrating security scanning (SAST/DAST) into CI/CD pipelines, Infrastructure as Code (IaC) security linting, automated remediation using Lambda and Security Hub actions.</a:t>
            </a:r>
          </a:p>
          <a:p>
            <a:pPr>
              <a:spcBef>
                <a:spcPts val="1400"/>
              </a:spcBef>
              <a:defRPr sz="1050" b="1">
                <a:solidFill>
                  <a:srgbClr val="4F46E5"/>
                </a:solidFill>
                <a:latin typeface="Arial"/>
              </a:defRPr>
            </a:pPr>
            <a:r>
              <a:t>Key Takeaway: Security on AWS is a shared responsibility, best achieved through automation, layered defenses, and a shift-left DevSecOps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Incident Management &amp; Troubleshooting</a:t>
            </a:r>
          </a:p>
          <a:p>
            <a:pPr>
              <a:spcBef>
                <a:spcPts val="400"/>
              </a:spcBef>
              <a:defRPr sz="1300" b="1">
                <a:solidFill>
                  <a:srgbClr val="4F46E5"/>
                </a:solidFill>
                <a:latin typeface="Arial"/>
              </a:defRPr>
            </a:pPr>
            <a:r>
              <a:t>Achieving Operational Excellence and High System Resilience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**Performance Tuning Strategies:** Optimizing Lambda concurrency and provisioned concurrency, RDS query performance tuning, EC2 instance family selection for specific workloads, EFS throughput modes.</a:t>
            </a:r>
          </a:p>
          <a:p>
            <a:pPr>
              <a:lnSpc>
                <a:spcPct val="115000"/>
              </a:lnSpc>
              <a:spcAft>
                <a:spcPts val="800"/>
              </a:spcAft>
              <a:defRPr sz="1300">
                <a:solidFill>
                  <a:srgbClr val="1E293B"/>
                </a:solidFill>
                <a:latin typeface="Arial"/>
              </a:defRPr>
            </a:pPr>
            <a:r>
              <a:t>•   **Advanced Monitoring &amp; Observability:** Custom CloudWatch metrics and dashboards, integrated logging with CloudWatch Logs/Kinesis Firehose, distributed tracing with AWS X-Ray, external tool integration (Prometheus, Grafana).</a:t>
            </a:r>
          </a:p>
          <a:p>
            <a:pPr>
              <a:lnSpc>
                <a:spcPct val="115000"/>
              </a:lnSpc>
              <a:spcAft>
                <a:spcPts val="800"/>
              </a:spcAft>
              <a:defRPr sz="1300">
                <a:solidFill>
                  <a:srgbClr val="1E293B"/>
                </a:solidFill>
                <a:latin typeface="Arial"/>
              </a:defRPr>
            </a:pPr>
            <a:r>
              <a:t>•   **Chaos Engineering &amp; Resilience:** Implementing AWS Fault Injection Simulator (FIS) for proactive resilience testing, designing multi-AZ/multi-Region architectures, auto-healing and self-recovery patterns.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**Automated Incident Response:** Developing runbooks with AWS Systems Manager Automation, event-driven remediation via CloudWatch Events/EventBridge and Lambda, post-incident analysis methodologies.</a:t>
            </a:r>
          </a:p>
          <a:p>
            <a:pPr>
              <a:lnSpc>
                <a:spcPct val="115000"/>
              </a:lnSpc>
              <a:spcAft>
                <a:spcPts val="800"/>
              </a:spcAft>
              <a:defRPr sz="1300">
                <a:solidFill>
                  <a:srgbClr val="1E293B"/>
                </a:solidFill>
                <a:latin typeface="Arial"/>
              </a:defRPr>
            </a:pPr>
            <a:r>
              <a:t>•   **Cost Optimization &amp; Governance:** Identifying and mitigating cost inefficiencies, reserved instance/savings plan strategies, Tagging enforcement for cost allocation and resource management.</a:t>
            </a:r>
          </a:p>
          <a:p>
            <a:pPr>
              <a:spcBef>
                <a:spcPts val="1400"/>
              </a:spcBef>
              <a:defRPr sz="1050" b="1">
                <a:solidFill>
                  <a:srgbClr val="4F46E5"/>
                </a:solidFill>
                <a:latin typeface="Arial"/>
              </a:defRPr>
            </a:pPr>
            <a:r>
              <a:t>Key Takeaway: Robust AWS operations are built on continuous performance optimization, comprehensive observability, and automated, resilient incident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Mastery Roadmap</a:t>
            </a:r>
          </a:p>
          <a:p>
            <a:pPr>
              <a:spcBef>
                <a:spcPts val="400"/>
              </a:spcBef>
              <a:defRPr sz="1300" b="1">
                <a:solidFill>
                  <a:srgbClr val="14B8A6"/>
                </a:solidFill>
                <a:latin typeface="Arial"/>
              </a:defRPr>
            </a:pPr>
            <a:r>
              <a:t>Your Path to Advanced AWS Expertise and Leadership</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Foundational Deep Dives &amp; Hands-On:** Select 1-2 advanced domains (e.g., EKS/Serverless Orchestration or Data Lakehouse patterns). Complete associated AWS specialty certifications (e.g., Advanced Networking, Database, Security).</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Security &amp; DevSecOps Implementation:** Lead a project to integrate security scanning into a core CI/CD pipeline. Implement ABAC for a new application. Develop custom SCPs for organizational units.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Performance &amp; Resilience Leadership:** Design and execute a performance tuning initiative for a critical workload. Introduce AWS FIS for controlled chaos testing in a non-production environment. Develop an automated incident response runbook for a common failure scenario.</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AWS mastery requires deliberate focus, continuous practical application, and a commitment to driving architectural and operational excellence.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