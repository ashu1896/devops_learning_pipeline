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the first part of our Kubernetes workshop series. Today, we're diving deep into the absolute essentials – think of this as building a strong mental model for how Kubernetes operates at its core. Our goal is to equip you with the foundational knowledge needed to confidently discuss, design, and interact with a basic Kubernetes cluster. We'll cover architecture, key components, and the initial steps to get a cluster running and managed, setting the stage for more advanced topics in subsequent parts.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heart of our foundational understanding. We'll dissect the Kubernetes architecture into its two primary components: the Control Plane and the Worker Nodes. We'll examine each critical process within them, understanding their individual roles and how they collaboratively manage the cluster's desired state. Then, we'll introduce the most common Kubernetes resources you'll interact with daily – Pods, Deployments, Services – explaining their purpose and relationship. Finally, we'll briefly touch upon different cluster topologies, from simple single-node setups for development to highly available multi-node configurations for production, including the convenience of managed services.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not an afterthought; it's a foundational pillar. Even in Part 1, we must address initial hardening strategies. We'll discuss how to secure access to the Kubernetes API server using RBAC, which is fundamental for controlling who can do what within your cluster. We'll emphasize secure container image practices – a critical first line of defense. Understanding namespaces for logical isolation is key, and we'll touch upon basic secrets management and the utility of network policies for segmenting internal traffic. The goal here is to instill a security-first mindset from the very beginning of your Kubernetes journey.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SRE mindset, anticipating and quickly resolving issues is paramount. For Part 1, we'll focus on the indispensable `kubectl` commands that every operator needs in their toolkit for initial diagnostics. We'll walk through common scenarios like why a Pod might not be scheduling or keeps restarting, and how to use `kubectl describe` and `kubectl logs` to pinpoint the root cause. While we won't dive into advanced monitoring, we'll touch upon basic resource visibility using `kubectl top` and the underlying `metrics-server`. The aim is to build muscle memory for these commands and foster a methodical approach to incident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provides a structured path for you to consolidate and expand on the foundational knowledge gained today. The first two months focus heavily on hands-on deployment and resource management using `kubectl`. We then move into critical areas of networking and initial security hardening, which are essential for any production-bound application. The final phase emphasizes observability and practical troubleshooting, ensuring you can diagnose and resolve common issues. Remember, Kubernetes mastery comes from continuous practice and applying these concepts in real-world scenarios. This roadmap is designed to guide your self-study and practical application over the next six months.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Kubernetes Demystified: Part 1/3</a:t>
            </a:r>
          </a:p>
          <a:p>
            <a:pPr>
              <a:spcBef>
                <a:spcPts val="1000"/>
              </a:spcBef>
              <a:defRPr sz="1600">
                <a:solidFill>
                  <a:srgbClr val="94A3B8"/>
                </a:solidFill>
                <a:latin typeface="Arial"/>
              </a:defRPr>
            </a:pPr>
            <a:r>
              <a:t>Laying the Enterprise Foundation: Core Concepts, Architecture &amp; Initial Deployment Strategies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Kubernetes Core: Architecture &amp; Foundational Constructs</a:t>
            </a:r>
          </a:p>
          <a:p>
            <a:pPr>
              <a:spcBef>
                <a:spcPts val="400"/>
              </a:spcBef>
              <a:defRPr sz="1300" b="1">
                <a:solidFill>
                  <a:srgbClr val="4F46E5"/>
                </a:solidFill>
                <a:latin typeface="Arial"/>
              </a:defRPr>
            </a:pPr>
            <a:r>
              <a:t>Understanding the Control Plane, Worker Nodes, and Key Resources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**Control Plane Components:** etcd (distributed key-value store), kube-apiserver (API gateway), kube-scheduler (resource allocation), kube-controller-manager (state reconciliation), cloud-controller-manager (cloud provider integration).</a:t>
            </a:r>
          </a:p>
          <a:p>
            <a:pPr>
              <a:lnSpc>
                <a:spcPct val="115000"/>
              </a:lnSpc>
              <a:spcAft>
                <a:spcPts val="800"/>
              </a:spcAft>
              <a:defRPr sz="1300">
                <a:solidFill>
                  <a:srgbClr val="1E293B"/>
                </a:solidFill>
                <a:latin typeface="Arial"/>
              </a:defRPr>
            </a:pPr>
            <a:r>
              <a:t>•   **Worker Node Components:** kubelet (node agent), kube-proxy (network proxy), Container Runtime (e.g., containerd, CRI-O).</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**Fundamental Resources:** Pods (smallest deployable unit), Deployments (declarative updates), Services (network abstraction), Namespaces (resource isolation), ConfigMaps/Secrets (configuration management).</a:t>
            </a:r>
          </a:p>
          <a:p>
            <a:pPr>
              <a:lnSpc>
                <a:spcPct val="115000"/>
              </a:lnSpc>
              <a:spcAft>
                <a:spcPts val="800"/>
              </a:spcAft>
              <a:defRPr sz="1300">
                <a:solidFill>
                  <a:srgbClr val="1E293B"/>
                </a:solidFill>
                <a:latin typeface="Arial"/>
              </a:defRPr>
            </a:pPr>
            <a:r>
              <a:t>•   **Basic Topologies:** Single-node (dev/test), Multi-node (HA, production-ready), Managed Kubernetes Services (EKS, AKS, GKE).</a:t>
            </a:r>
          </a:p>
          <a:p>
            <a:pPr>
              <a:spcBef>
                <a:spcPts val="1400"/>
              </a:spcBef>
              <a:defRPr sz="1050" b="1">
                <a:solidFill>
                  <a:srgbClr val="4F46E5"/>
                </a:solidFill>
                <a:latin typeface="Arial"/>
              </a:defRPr>
            </a:pPr>
            <a:r>
              <a:t>Key Takeaway: A deep grasp of the Control Plane's orchestration capabilities and how Worker Nodes execute workloads is paramount for effective cluster management and troubleshooting.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Initial Security Posture: Hardening Basic Deployments</a:t>
            </a:r>
          </a:p>
          <a:p>
            <a:pPr>
              <a:spcBef>
                <a:spcPts val="400"/>
              </a:spcBef>
              <a:defRPr sz="1300" b="1">
                <a:solidFill>
                  <a:srgbClr val="4F46E5"/>
                </a:solidFill>
                <a:latin typeface="Arial"/>
              </a:defRPr>
            </a:pPr>
            <a:r>
              <a:t>Fundamental Safeguards for Cluster and Workload Integrity</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**API Server Security:** Restricting anonymous access, using RBAC (Role-Based Access Control) for granular permissions, network policies for control plane isolation.</a:t>
            </a:r>
          </a:p>
          <a:p>
            <a:pPr>
              <a:lnSpc>
                <a:spcPct val="115000"/>
              </a:lnSpc>
              <a:spcAft>
                <a:spcPts val="800"/>
              </a:spcAft>
              <a:defRPr sz="1300">
                <a:solidFill>
                  <a:srgbClr val="1E293B"/>
                </a:solidFill>
                <a:latin typeface="Arial"/>
              </a:defRPr>
            </a:pPr>
            <a:r>
              <a:t>•   **Container Image Best Practices:** Utilizing minimal base images (e.g., Alpine), scanning images for vulnerabilities pre-deployment, avoiding root user within containers.</a:t>
            </a:r>
          </a:p>
          <a:p>
            <a:pPr>
              <a:lnSpc>
                <a:spcPct val="115000"/>
              </a:lnSpc>
              <a:spcAft>
                <a:spcPts val="800"/>
              </a:spcAft>
              <a:defRPr sz="1300">
                <a:solidFill>
                  <a:srgbClr val="1E293B"/>
                </a:solidFill>
                <a:latin typeface="Arial"/>
              </a:defRPr>
            </a:pPr>
            <a:r>
              <a:t>•   **Resource Isolation with Namespaces:** Logical segmentation of environments and teams, preventing resource collisions and unauthorized access.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**Secrets Management (Basic):** Utilizing Kubernetes Secrets (and understanding their limitations), introducing external secret stores for production (conceptual for Part 1).</a:t>
            </a:r>
          </a:p>
          <a:p>
            <a:pPr>
              <a:lnSpc>
                <a:spcPct val="115000"/>
              </a:lnSpc>
              <a:spcAft>
                <a:spcPts val="800"/>
              </a:spcAft>
              <a:defRPr sz="1300">
                <a:solidFill>
                  <a:srgbClr val="1E293B"/>
                </a:solidFill>
                <a:latin typeface="Arial"/>
              </a:defRPr>
            </a:pPr>
            <a:r>
              <a:t>•   **Network Policies (Intro):** Segmenting pod-to-pod communication within the cluster, limiting ingress/egress to only necessary endpoints (basic implementation).</a:t>
            </a:r>
          </a:p>
          <a:p>
            <a:pPr>
              <a:spcBef>
                <a:spcPts val="1400"/>
              </a:spcBef>
              <a:defRPr sz="1050" b="1">
                <a:solidFill>
                  <a:srgbClr val="4F46E5"/>
                </a:solidFill>
                <a:latin typeface="Arial"/>
              </a:defRPr>
            </a:pPr>
            <a:r>
              <a:t>Key Takeaway: Proactive security measures from the initial setup phase, including strong RBAC and secure image practices, are non-negotiable for enterprise-grade deployments.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Operational Excellence: SRE Principles &amp; Initial Troubleshooting</a:t>
            </a:r>
          </a:p>
          <a:p>
            <a:pPr>
              <a:spcBef>
                <a:spcPts val="400"/>
              </a:spcBef>
              <a:defRPr sz="1300" b="1">
                <a:solidFill>
                  <a:srgbClr val="4F46E5"/>
                </a:solidFill>
                <a:latin typeface="Arial"/>
              </a:defRPr>
            </a:pPr>
            <a:r>
              <a:t>Essential Commands and Methodologies for Cluster Health and Issue Resolution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**SRE Core Principles (Context for Part 1):** Focus on reliability, efficiency, and automated operations from day one. Measuring basic SLIs/SLOs for critical services (e.g., API server availability).</a:t>
            </a:r>
          </a:p>
          <a:p>
            <a:pPr>
              <a:lnSpc>
                <a:spcPct val="115000"/>
              </a:lnSpc>
              <a:spcAft>
                <a:spcPts val="800"/>
              </a:spcAft>
              <a:defRPr sz="1300">
                <a:solidFill>
                  <a:srgbClr val="1E293B"/>
                </a:solidFill>
                <a:latin typeface="Arial"/>
              </a:defRPr>
            </a:pPr>
            <a:r>
              <a:t>•   **Essential `kubectl` Commands for Diagnostics:**</a:t>
            </a:r>
            <a:br/>
            <a:r>
              <a:t>  - `kubectl get &lt;resource&gt;`: Checking resource status (Pods, Deployments, Services).</a:t>
            </a:r>
            <a:br/>
            <a:r>
              <a:t>  - `kubectl describe &lt;resource&gt; &lt;name&gt;`: Detailed events and configurations.</a:t>
            </a:r>
            <a:br/>
            <a:r>
              <a:t>  - `kubectl logs &lt;pod-name&gt; -c &lt;container-name&gt;`: Accessing container logs.</a:t>
            </a:r>
            <a:br/>
            <a:r>
              <a:t>  - `kubectl exec -it &lt;pod-name&gt; -- bash`: Interactive shell into a running container.</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**Common Initial Troubleshooting Scenarios:** Pods stuck in `Pending` (resource issues), `CrashLoopBackOff` (application errors), `ImagePullBackOff` (image registry issues), Service not reachable (selector/port mismatch).</a:t>
            </a:r>
          </a:p>
          <a:p>
            <a:pPr>
              <a:lnSpc>
                <a:spcPct val="115000"/>
              </a:lnSpc>
              <a:spcAft>
                <a:spcPts val="800"/>
              </a:spcAft>
              <a:defRPr sz="1300">
                <a:solidFill>
                  <a:srgbClr val="1E293B"/>
                </a:solidFill>
                <a:latin typeface="Arial"/>
              </a:defRPr>
            </a:pPr>
            <a:r>
              <a:t>•   **Monitoring Fundamentals:** Basic `kubectl top` for resource usage, understanding `metrics-server` role.</a:t>
            </a:r>
          </a:p>
          <a:p>
            <a:pPr>
              <a:spcBef>
                <a:spcPts val="1400"/>
              </a:spcBef>
              <a:defRPr sz="1050" b="1">
                <a:solidFill>
                  <a:srgbClr val="4F46E5"/>
                </a:solidFill>
                <a:latin typeface="Arial"/>
              </a:defRPr>
            </a:pPr>
            <a:r>
              <a:t>Key Takeaway: Effective troubleshooting in Kubernetes relies on a systematic approach using core `kubectl` commands and an understanding of common failure patterns.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Roadmap: 6-Month Mastery Plan (Part 1 Foundations)</a:t>
            </a:r>
          </a:p>
          <a:p>
            <a:pPr>
              <a:spcBef>
                <a:spcPts val="400"/>
              </a:spcBef>
              <a:defRPr sz="1300" b="1">
                <a:solidFill>
                  <a:srgbClr val="14B8A6"/>
                </a:solidFill>
                <a:latin typeface="Arial"/>
              </a:defRPr>
            </a:pPr>
            <a:r>
              <a:t>Phased Approach to Solidifying Core Kubernetes Competencies</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 1-2: Core Concepts &amp; Hands-on Deployment:**</a:t>
            </a:r>
            <a:br/>
            <a:r>
              <a:t>  - Deep dive into `kubectl` for resource management (Pods, Deployments, Services, ConfigMaps).</a:t>
            </a:r>
            <a:br/>
            <a:r>
              <a:t>  - Deploying a basic multi-tier application (e.g., Nginx + database) on a local cluster (Minikube/Kind).</a:t>
            </a:r>
            <a:br/>
            <a:r>
              <a:t>  - Experimenting with different Service types (ClusterIP, NodePort, LoadBalancer).</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 3-4: Networking &amp; Initial Security:**</a:t>
            </a:r>
            <a:br/>
            <a:r>
              <a:t>  - Understanding Kubernetes networking model (CNI concepts, Service discovery).</a:t>
            </a:r>
            <a:br/>
            <a:r>
              <a:t>  - Implementing basic Network Policies for application segmentation.</a:t>
            </a:r>
            <a:br/>
            <a:r>
              <a:t>  - Practicing RBAC for user and service account permissions.</a:t>
            </a:r>
            <a:br/>
            <a:r>
              <a:t>  - Introduction to image scanning tools and secure Dockerfile practices.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 5-6: Observability &amp; Troubleshooting Fundamentals:**</a:t>
            </a:r>
            <a:br/>
            <a:r>
              <a:t>  - Setting up basic logging (e.g., sidecar containers for log collection).</a:t>
            </a:r>
            <a:br/>
            <a:r>
              <a:t>  - Utilizing `kubectl` describe/logs/events for root cause analysis.</a:t>
            </a:r>
            <a:br/>
            <a:r>
              <a:t>  - Simulating common failure scenarios and practicing incident response (e.g., Pod crashes, network issues).</a:t>
            </a:r>
            <a:br/>
            <a:r>
              <a:t>  - Exploring `metrics-server` and basic resource monitoring.</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Consistent hands-on practice, focused experimentation, and a structured learning path are key to internalizing Kubernetes core principles and operational best practices.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