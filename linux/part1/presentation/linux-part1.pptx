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to Part 1 of our Linux Systems Engineering Workshop series. Today we lay the ground floor. For platform architects and senior SREs, treating the OS as a black box is a recipe for catastrophic production failures. We will examine the exact interface where your application code meets raw kernel scheduling, paving the way for predictable deployments.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Let's zoom into the Virtual File System. When troubleshooting performance bottlenecks, understanding that open files, network sockets, and pipes share the same file descriptor pool is critical. Notice how the FHS enforces clean separations: configuration is always static and host-specific under /etc, while state data under /var must be managed with distinct backup and persistence policies.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When hardening systems for DevSecOps pipelines, SUID/SGID binaries are high-priority vectors for privilege escalation. We must audit these regularly. On top of that, mastering PAM configuration allows us to implement multi-factor authentication and strict rate-limiting at the console layer before a user even spawns a shell process.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 SREs, when an application fails to start or behaves erratically, we don't guess. We inspect systemd unit logs with journalctl, trace system calls using strace to identify permission blocks, and leverage lsof to ensure sockets are not orphaned. This methodical isolation of failure domains reduces Mean Time to Resolution (MTTR) dramatically.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roadmap is designed to move your engineering team from basic operations to advanced platform design. Focus the first two months on pure CLI automation. Once scripting is second nature, shift target metrics to hardening and unit file engineering. By month six, your engineers will possess the mental muscle memory required to debug high-throughput distributed systems under intense production pressure.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2011680"/>
            <a:ext cx="91440" cy="2926080"/>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2011680"/>
            <a:ext cx="9601200" cy="2926080"/>
          </a:xfrm>
          <a:prstGeom prst="rect">
            <a:avLst/>
          </a:prstGeom>
          <a:noFill/>
        </p:spPr>
        <p:txBody>
          <a:bodyPr wrap="square" lIns="0" tIns="0" bIns="0" rIns="0">
            <a:spAutoFit/>
          </a:bodyPr>
          <a:lstStyle/>
          <a:p>
            <a:pPr>
              <a:spcAft>
                <a:spcPts val="1000"/>
              </a:spcAft>
              <a:defRPr sz="1300" b="1">
                <a:solidFill>
                  <a:srgbClr val="14B8A6"/>
                </a:solidFill>
                <a:latin typeface="Arial"/>
              </a:defRPr>
            </a:pPr>
            <a:r>
              <a:t>6-MONTH DEVops MASTERCLASS</a:t>
            </a:r>
          </a:p>
          <a:p>
            <a:pPr>
              <a:defRPr sz="4400" b="1">
                <a:solidFill>
                  <a:srgbClr val="F1F5F9"/>
                </a:solidFill>
                <a:latin typeface="Arial"/>
              </a:defRPr>
            </a:pPr>
            <a:r>
              <a:t>Enterprise Linux Foundations &amp; Architecture</a:t>
            </a:r>
          </a:p>
          <a:p>
            <a:pPr>
              <a:spcBef>
                <a:spcPts val="1000"/>
              </a:spcBef>
              <a:defRPr sz="1600">
                <a:solidFill>
                  <a:srgbClr val="94A3B8"/>
                </a:solidFill>
                <a:latin typeface="Arial"/>
              </a:defRPr>
            </a:pPr>
            <a:r>
              <a:t>Part 1: Core Systems, Shell Internals, and Kernel-to-Userland Topologies</a:t>
            </a:r>
          </a:p>
        </p:txBody>
      </p:sp>
      <p:sp>
        <p:nvSpPr>
          <p:cNvPr id="5" name="TextBox 4"/>
          <p:cNvSpPr txBox="1"/>
          <p:nvPr/>
        </p:nvSpPr>
        <p:spPr>
          <a:xfrm>
            <a:off x="1097280" y="5669280"/>
            <a:ext cx="9601200" cy="548640"/>
          </a:xfrm>
          <a:prstGeom prst="rect">
            <a:avLst/>
          </a:prstGeom>
          <a:noFill/>
        </p:spPr>
        <p:txBody>
          <a:bodyPr wrap="none">
            <a:spAutoFit/>
          </a:bodyPr>
          <a:lstStyle/>
          <a:p>
            <a:pPr>
              <a:defRPr sz="950" b="1">
                <a:solidFill>
                  <a:srgbClr val="64748B"/>
                </a:solidFill>
                <a:latin typeface="Arial"/>
              </a:defRPr>
            </a:pPr>
            <a:r>
              <a:t>SRE &amp; PLATFORM ENGINEERING GROUP  •  AUTOMATED PIPELINE GENERATION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457200"/>
            <a:ext cx="10698480" cy="1097280"/>
          </a:xfrm>
          <a:prstGeom prst="rect">
            <a:avLst/>
          </a:prstGeom>
          <a:noFill/>
        </p:spPr>
        <p:txBody>
          <a:bodyPr wrap="square" lIns="0" tIns="0" bIns="0" rIns="0">
            <a:spAutoFit/>
          </a:bodyPr>
          <a:lstStyle/>
          <a:p>
            <a:pPr>
              <a:defRPr sz="2800" b="1">
                <a:solidFill>
                  <a:srgbClr val="1E293B"/>
                </a:solidFill>
                <a:latin typeface="Arial"/>
              </a:defRPr>
            </a:pPr>
            <a:r>
              <a:t>Linux System Architecture &amp; Storage Topologies</a:t>
            </a:r>
          </a:p>
          <a:p>
            <a:pPr>
              <a:spcBef>
                <a:spcPts val="400"/>
              </a:spcBef>
              <a:defRPr sz="1300" b="1">
                <a:solidFill>
                  <a:srgbClr val="4F46E5"/>
                </a:solidFill>
                <a:latin typeface="Arial"/>
              </a:defRPr>
            </a:pPr>
            <a:r>
              <a:t>Virtual File System (VFS), Inodes, Process Spaces, and the Filesystem Hierarchy Standard (FHS)</a:t>
            </a:r>
          </a:p>
        </p:txBody>
      </p:sp>
      <p:sp>
        <p:nvSpPr>
          <p:cNvPr id="4" name="TextBox 3"/>
          <p:cNvSpPr txBox="1"/>
          <p:nvPr/>
        </p:nvSpPr>
        <p:spPr>
          <a:xfrm>
            <a:off x="731520" y="1828800"/>
            <a:ext cx="5120640" cy="3840480"/>
          </a:xfrm>
          <a:prstGeom prst="rect">
            <a:avLst/>
          </a:prstGeom>
          <a:noFill/>
        </p:spPr>
        <p:txBody>
          <a:bodyPr wrap="square">
            <a:spAutoFit/>
          </a:bodyPr>
          <a:lstStyle/>
          <a:p>
            <a:pPr>
              <a:spcAft>
                <a:spcPts val="1000"/>
              </a:spcAft>
              <a:defRPr sz="1100" b="1">
                <a:solidFill>
                  <a:srgbClr val="4F46E5"/>
                </a:solidFill>
                <a:latin typeface="Arial"/>
              </a:defRPr>
            </a:pPr>
            <a:r>
              <a:t>ARCHITECTURAL BLUEPRINT &amp; BLUEPRINTS</a:t>
            </a:r>
          </a:p>
          <a:p>
            <a:pPr>
              <a:lnSpc>
                <a:spcPct val="115000"/>
              </a:lnSpc>
              <a:spcAft>
                <a:spcPts val="800"/>
              </a:spcAft>
              <a:defRPr sz="1300">
                <a:solidFill>
                  <a:srgbClr val="1E293B"/>
                </a:solidFill>
                <a:latin typeface="Arial"/>
              </a:defRPr>
            </a:pPr>
            <a:r>
              <a:t>•   The VFS abstraction layer translates systemic hardware interfaces into standardized, virtualized file descriptors, enforcing the 'everything is a file' paradigm.</a:t>
            </a:r>
          </a:p>
          <a:p>
            <a:pPr>
              <a:lnSpc>
                <a:spcPct val="115000"/>
              </a:lnSpc>
              <a:spcAft>
                <a:spcPts val="800"/>
              </a:spcAft>
              <a:defRPr sz="1300">
                <a:solidFill>
                  <a:srgbClr val="1E293B"/>
                </a:solidFill>
                <a:latin typeface="Arial"/>
              </a:defRPr>
            </a:pPr>
            <a:r>
              <a:t>•   Inodes decouple data representation from logical namespaces, managing low-level block allocation, file metadata, and hard link topologies.</a:t>
            </a:r>
          </a:p>
        </p:txBody>
      </p:sp>
      <p:sp>
        <p:nvSpPr>
          <p:cNvPr id="5" name="Rectangle 4"/>
          <p:cNvSpPr/>
          <p:nvPr/>
        </p:nvSpPr>
        <p:spPr>
          <a:xfrm>
            <a:off x="6217920" y="1828800"/>
            <a:ext cx="5212080" cy="384048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217920" y="1828800"/>
            <a:ext cx="5212080" cy="109728"/>
          </a:xfrm>
          <a:prstGeom prst="rect">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92240" y="2103120"/>
            <a:ext cx="4663440" cy="3291840"/>
          </a:xfrm>
          <a:prstGeom prst="rect">
            <a:avLst/>
          </a:prstGeom>
          <a:noFill/>
        </p:spPr>
        <p:txBody>
          <a:bodyPr wrap="square">
            <a:spAutoFit/>
          </a:bodyPr>
          <a:lstStyle/>
          <a:p>
            <a:pPr>
              <a:spcAft>
                <a:spcPts val="1000"/>
              </a:spcAft>
              <a:defRPr sz="1100" b="1">
                <a:solidFill>
                  <a:srgbClr val="14B8A6"/>
                </a:solidFill>
                <a:latin typeface="Arial"/>
              </a:defRPr>
            </a:pPr>
            <a:r>
              <a:t>ENTERPRISE PRO-TIPS &amp; STRATEGIES</a:t>
            </a:r>
          </a:p>
          <a:p>
            <a:pPr>
              <a:lnSpc>
                <a:spcPct val="115000"/>
              </a:lnSpc>
              <a:spcAft>
                <a:spcPts val="800"/>
              </a:spcAft>
              <a:defRPr sz="1300">
                <a:solidFill>
                  <a:srgbClr val="1E293B"/>
                </a:solidFill>
                <a:latin typeface="Arial"/>
              </a:defRPr>
            </a:pPr>
            <a:r>
              <a:t>•   The Filesystem Hierarchy Standard (FHS) provides predictable, standardized physical locations for configuration (/etc), state (/var), binaries (/usr), and runtime data (/run).</a:t>
            </a:r>
          </a:p>
          <a:p>
            <a:pPr>
              <a:lnSpc>
                <a:spcPct val="115000"/>
              </a:lnSpc>
              <a:spcAft>
                <a:spcPts val="800"/>
              </a:spcAft>
              <a:defRPr sz="1300">
                <a:solidFill>
                  <a:srgbClr val="1E293B"/>
                </a:solidFill>
                <a:latin typeface="Arial"/>
              </a:defRPr>
            </a:pPr>
            <a:r>
              <a:t>•   Process space segmentation divides execution memory into distinct text, data, BSS, heap, and stack regions, managed via the kernel's virtual memory subsystem.</a:t>
            </a:r>
          </a:p>
          <a:p>
            <a:pPr>
              <a:spcBef>
                <a:spcPts val="1400"/>
              </a:spcBef>
              <a:defRPr sz="1050" b="1">
                <a:solidFill>
                  <a:srgbClr val="4F46E5"/>
                </a:solidFill>
                <a:latin typeface="Arial"/>
              </a:defRPr>
            </a:pPr>
            <a:r>
              <a:t>Key Takeaway: Every runtime process, socket, and storage volume in Linux relies on the deterministic directory mappings of the FHS and file descriptors of the VFS.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457200"/>
            <a:ext cx="10698480" cy="1097280"/>
          </a:xfrm>
          <a:prstGeom prst="rect">
            <a:avLst/>
          </a:prstGeom>
          <a:noFill/>
        </p:spPr>
        <p:txBody>
          <a:bodyPr wrap="square" lIns="0" tIns="0" bIns="0" rIns="0">
            <a:spAutoFit/>
          </a:bodyPr>
          <a:lstStyle/>
          <a:p>
            <a:pPr>
              <a:defRPr sz="2800" b="1">
                <a:solidFill>
                  <a:srgbClr val="1E293B"/>
                </a:solidFill>
                <a:latin typeface="Arial"/>
              </a:defRPr>
            </a:pPr>
            <a:r>
              <a:t>Core System Hardening, Permissions &amp; Access Control</a:t>
            </a:r>
          </a:p>
          <a:p>
            <a:pPr>
              <a:spcBef>
                <a:spcPts val="400"/>
              </a:spcBef>
              <a:defRPr sz="1300" b="1">
                <a:solidFill>
                  <a:srgbClr val="4F46E5"/>
                </a:solidFill>
                <a:latin typeface="Arial"/>
              </a:defRPr>
            </a:pPr>
            <a:r>
              <a:t>Securing the User/Group/Other Paradigm, POSIX ACLs, and Pluggable Authentication Modules (PAM)</a:t>
            </a:r>
          </a:p>
        </p:txBody>
      </p:sp>
      <p:sp>
        <p:nvSpPr>
          <p:cNvPr id="4" name="TextBox 3"/>
          <p:cNvSpPr txBox="1"/>
          <p:nvPr/>
        </p:nvSpPr>
        <p:spPr>
          <a:xfrm>
            <a:off x="731520" y="1828800"/>
            <a:ext cx="5120640" cy="3840480"/>
          </a:xfrm>
          <a:prstGeom prst="rect">
            <a:avLst/>
          </a:prstGeom>
          <a:noFill/>
        </p:spPr>
        <p:txBody>
          <a:bodyPr wrap="square">
            <a:spAutoFit/>
          </a:bodyPr>
          <a:lstStyle/>
          <a:p>
            <a:pPr>
              <a:spcAft>
                <a:spcPts val="1000"/>
              </a:spcAft>
              <a:defRPr sz="1100" b="1">
                <a:solidFill>
                  <a:srgbClr val="4F46E5"/>
                </a:solidFill>
                <a:latin typeface="Arial"/>
              </a:defRPr>
            </a:pPr>
            <a:r>
              <a:t>ARCHITECTURAL BLUEPRINT &amp; BLUEPRINTS</a:t>
            </a:r>
          </a:p>
          <a:p>
            <a:pPr>
              <a:lnSpc>
                <a:spcPct val="115000"/>
              </a:lnSpc>
              <a:spcAft>
                <a:spcPts val="800"/>
              </a:spcAft>
              <a:defRPr sz="1300">
                <a:solidFill>
                  <a:srgbClr val="1E293B"/>
                </a:solidFill>
                <a:latin typeface="Arial"/>
              </a:defRPr>
            </a:pPr>
            <a:r>
              <a:t>•   Standard Permission Octals (UGO) define basic read, write, and execute bits, augmented by Special Bits (SUID, SGID, and the Sticky Bit) for elevated task execution.</a:t>
            </a:r>
          </a:p>
          <a:p>
            <a:pPr>
              <a:lnSpc>
                <a:spcPct val="115000"/>
              </a:lnSpc>
              <a:spcAft>
                <a:spcPts val="800"/>
              </a:spcAft>
              <a:defRPr sz="1300">
                <a:solidFill>
                  <a:srgbClr val="1E293B"/>
                </a:solidFill>
                <a:latin typeface="Arial"/>
              </a:defRPr>
            </a:pPr>
            <a:r>
              <a:t>•   POSIX Access Control Lists (ACLs) extend standard discretionary permissions to support arbitrary fine-grained, multi-user, and multi-group access policies.</a:t>
            </a:r>
          </a:p>
        </p:txBody>
      </p:sp>
      <p:sp>
        <p:nvSpPr>
          <p:cNvPr id="5" name="Rectangle 4"/>
          <p:cNvSpPr/>
          <p:nvPr/>
        </p:nvSpPr>
        <p:spPr>
          <a:xfrm>
            <a:off x="6217920" y="1828800"/>
            <a:ext cx="5212080" cy="384048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217920" y="1828800"/>
            <a:ext cx="5212080" cy="109728"/>
          </a:xfrm>
          <a:prstGeom prst="rect">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92240" y="2103120"/>
            <a:ext cx="4663440" cy="3291840"/>
          </a:xfrm>
          <a:prstGeom prst="rect">
            <a:avLst/>
          </a:prstGeom>
          <a:noFill/>
        </p:spPr>
        <p:txBody>
          <a:bodyPr wrap="square">
            <a:spAutoFit/>
          </a:bodyPr>
          <a:lstStyle/>
          <a:p>
            <a:pPr>
              <a:spcAft>
                <a:spcPts val="1000"/>
              </a:spcAft>
              <a:defRPr sz="1100" b="1">
                <a:solidFill>
                  <a:srgbClr val="14B8A6"/>
                </a:solidFill>
                <a:latin typeface="Arial"/>
              </a:defRPr>
            </a:pPr>
            <a:r>
              <a:t>ENTERPRISE PRO-TIPS &amp; STRATEGIES</a:t>
            </a:r>
          </a:p>
          <a:p>
            <a:pPr>
              <a:lnSpc>
                <a:spcPct val="115000"/>
              </a:lnSpc>
              <a:spcAft>
                <a:spcPts val="800"/>
              </a:spcAft>
              <a:defRPr sz="1300">
                <a:solidFill>
                  <a:srgbClr val="1E293B"/>
                </a:solidFill>
                <a:latin typeface="Arial"/>
              </a:defRPr>
            </a:pPr>
            <a:r>
              <a:t>•   Pluggable Authentication Modules (PAM) structure authentication linearly via stacked modules (Auth, Account, Password, Session) using deterministic control flags.</a:t>
            </a:r>
          </a:p>
          <a:p>
            <a:pPr>
              <a:lnSpc>
                <a:spcPct val="115000"/>
              </a:lnSpc>
              <a:spcAft>
                <a:spcPts val="800"/>
              </a:spcAft>
              <a:defRPr sz="1300">
                <a:solidFill>
                  <a:srgbClr val="1E293B"/>
                </a:solidFill>
                <a:latin typeface="Arial"/>
              </a:defRPr>
            </a:pPr>
            <a:r>
              <a:t>•   The Principle of Least Privilege is realized by minimizing SUID binaries and enforcing strict execution boundaries through standard shell restrictions.</a:t>
            </a:r>
          </a:p>
          <a:p>
            <a:pPr>
              <a:spcBef>
                <a:spcPts val="1400"/>
              </a:spcBef>
              <a:defRPr sz="1050" b="1">
                <a:solidFill>
                  <a:srgbClr val="4F46E5"/>
                </a:solidFill>
                <a:latin typeface="Arial"/>
              </a:defRPr>
            </a:pPr>
            <a:r>
              <a:t>Key Takeaway: System-level security is only as strong as its weakest permission delegation; custom PAM stacks and strict ACLs provide the blueprint for system hardening.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457200"/>
            <a:ext cx="10698480" cy="1097280"/>
          </a:xfrm>
          <a:prstGeom prst="rect">
            <a:avLst/>
          </a:prstGeom>
          <a:noFill/>
        </p:spPr>
        <p:txBody>
          <a:bodyPr wrap="square" lIns="0" tIns="0" bIns="0" rIns="0">
            <a:spAutoFit/>
          </a:bodyPr>
          <a:lstStyle/>
          <a:p>
            <a:pPr>
              <a:defRPr sz="2800" b="1">
                <a:solidFill>
                  <a:srgbClr val="1E293B"/>
                </a:solidFill>
                <a:latin typeface="Arial"/>
              </a:defRPr>
            </a:pPr>
            <a:r>
              <a:t>SRE Diagnostics, Observability &amp; Core Troubleshooting</a:t>
            </a:r>
          </a:p>
          <a:p>
            <a:pPr>
              <a:spcBef>
                <a:spcPts val="400"/>
              </a:spcBef>
              <a:defRPr sz="1300" b="1">
                <a:solidFill>
                  <a:srgbClr val="4F46E5"/>
                </a:solidFill>
                <a:latin typeface="Arial"/>
              </a:defRPr>
            </a:pPr>
            <a:r>
              <a:t>Demystifying Systemd Unit Management, Journald, and Core System Diagnostics</a:t>
            </a:r>
          </a:p>
        </p:txBody>
      </p:sp>
      <p:sp>
        <p:nvSpPr>
          <p:cNvPr id="4" name="TextBox 3"/>
          <p:cNvSpPr txBox="1"/>
          <p:nvPr/>
        </p:nvSpPr>
        <p:spPr>
          <a:xfrm>
            <a:off x="731520" y="1828800"/>
            <a:ext cx="5120640" cy="3840480"/>
          </a:xfrm>
          <a:prstGeom prst="rect">
            <a:avLst/>
          </a:prstGeom>
          <a:noFill/>
        </p:spPr>
        <p:txBody>
          <a:bodyPr wrap="square">
            <a:spAutoFit/>
          </a:bodyPr>
          <a:lstStyle/>
          <a:p>
            <a:pPr>
              <a:spcAft>
                <a:spcPts val="1000"/>
              </a:spcAft>
              <a:defRPr sz="1100" b="1">
                <a:solidFill>
                  <a:srgbClr val="4F46E5"/>
                </a:solidFill>
                <a:latin typeface="Arial"/>
              </a:defRPr>
            </a:pPr>
            <a:r>
              <a:t>ARCHITECTURAL BLUEPRINT &amp; BLUEPRINTS</a:t>
            </a:r>
          </a:p>
          <a:p>
            <a:pPr>
              <a:lnSpc>
                <a:spcPct val="115000"/>
              </a:lnSpc>
              <a:spcAft>
                <a:spcPts val="800"/>
              </a:spcAft>
              <a:defRPr sz="1300">
                <a:solidFill>
                  <a:srgbClr val="1E293B"/>
                </a:solidFill>
                <a:latin typeface="Arial"/>
              </a:defRPr>
            </a:pPr>
            <a:r>
              <a:t>•   Systemd manages the user-space bootstrap sequence, driving service dependency resolution, parallel execution, and lifecycle management via declarative Unit files.</a:t>
            </a:r>
          </a:p>
          <a:p>
            <a:pPr>
              <a:lnSpc>
                <a:spcPct val="115000"/>
              </a:lnSpc>
              <a:spcAft>
                <a:spcPts val="800"/>
              </a:spcAft>
              <a:defRPr sz="1300">
                <a:solidFill>
                  <a:srgbClr val="1E293B"/>
                </a:solidFill>
                <a:latin typeface="Arial"/>
              </a:defRPr>
            </a:pPr>
            <a:r>
              <a:t>•   Low-level diagnostic utilities (strace, lsof, tcpdump) intercept and expose kernel-space events, active file-descriptor handles, and network packet ingress/egress.</a:t>
            </a:r>
          </a:p>
        </p:txBody>
      </p:sp>
      <p:sp>
        <p:nvSpPr>
          <p:cNvPr id="5" name="Rectangle 4"/>
          <p:cNvSpPr/>
          <p:nvPr/>
        </p:nvSpPr>
        <p:spPr>
          <a:xfrm>
            <a:off x="6217920" y="1828800"/>
            <a:ext cx="5212080" cy="384048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217920" y="1828800"/>
            <a:ext cx="5212080" cy="109728"/>
          </a:xfrm>
          <a:prstGeom prst="rect">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92240" y="2103120"/>
            <a:ext cx="4663440" cy="3291840"/>
          </a:xfrm>
          <a:prstGeom prst="rect">
            <a:avLst/>
          </a:prstGeom>
          <a:noFill/>
        </p:spPr>
        <p:txBody>
          <a:bodyPr wrap="square">
            <a:spAutoFit/>
          </a:bodyPr>
          <a:lstStyle/>
          <a:p>
            <a:pPr>
              <a:spcAft>
                <a:spcPts val="1000"/>
              </a:spcAft>
              <a:defRPr sz="1100" b="1">
                <a:solidFill>
                  <a:srgbClr val="14B8A6"/>
                </a:solidFill>
                <a:latin typeface="Arial"/>
              </a:defRPr>
            </a:pPr>
            <a:r>
              <a:t>ENTERPRISE PRO-TIPS &amp; STRATEGIES</a:t>
            </a:r>
          </a:p>
          <a:p>
            <a:pPr>
              <a:lnSpc>
                <a:spcPct val="115000"/>
              </a:lnSpc>
              <a:spcAft>
                <a:spcPts val="800"/>
              </a:spcAft>
              <a:defRPr sz="1300">
                <a:solidFill>
                  <a:srgbClr val="1E293B"/>
                </a:solidFill>
                <a:latin typeface="Arial"/>
              </a:defRPr>
            </a:pPr>
            <a:r>
              <a:t>•   Resource state observation tools (vmstat, iostat, top) translate kernel metrics into actionable CPU, virtual memory, and block I/O performance queues.</a:t>
            </a:r>
          </a:p>
          <a:p>
            <a:pPr>
              <a:lnSpc>
                <a:spcPct val="115000"/>
              </a:lnSpc>
              <a:spcAft>
                <a:spcPts val="800"/>
              </a:spcAft>
              <a:defRPr sz="1300">
                <a:solidFill>
                  <a:srgbClr val="1E293B"/>
                </a:solidFill>
                <a:latin typeface="Arial"/>
              </a:defRPr>
            </a:pPr>
            <a:r>
              <a:t>•   Log aggregation starts at journald and syslog, tracking unit startup failures, segmentation faults, and out-of-memory (OOM) killer terminations.</a:t>
            </a:r>
          </a:p>
          <a:p>
            <a:pPr>
              <a:spcBef>
                <a:spcPts val="1400"/>
              </a:spcBef>
              <a:defRPr sz="1050" b="1">
                <a:solidFill>
                  <a:srgbClr val="4F46E5"/>
                </a:solidFill>
                <a:latin typeface="Arial"/>
              </a:defRPr>
            </a:pPr>
            <a:r>
              <a:t>Key Takeaway: Structured diagnostics require mapping high-level system anomalies directly to underlying syscall trends and process transitions.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457200"/>
            <a:ext cx="10698480" cy="1097280"/>
          </a:xfrm>
          <a:prstGeom prst="rect">
            <a:avLst/>
          </a:prstGeom>
          <a:noFill/>
        </p:spPr>
        <p:txBody>
          <a:bodyPr wrap="square" lIns="0" tIns="0" bIns="0" rIns="0">
            <a:spAutoFit/>
          </a:bodyPr>
          <a:lstStyle/>
          <a:p>
            <a:pPr>
              <a:defRPr sz="2800" b="1">
                <a:solidFill>
                  <a:srgbClr val="F1F5F9"/>
                </a:solidFill>
                <a:latin typeface="Arial"/>
              </a:defRPr>
            </a:pPr>
            <a:r>
              <a:t>Strategic 6-Month Mastery Roadmap</a:t>
            </a:r>
          </a:p>
          <a:p>
            <a:pPr>
              <a:spcBef>
                <a:spcPts val="400"/>
              </a:spcBef>
              <a:defRPr sz="1300" b="1">
                <a:solidFill>
                  <a:srgbClr val="14B8A6"/>
                </a:solidFill>
                <a:latin typeface="Arial"/>
              </a:defRPr>
            </a:pPr>
            <a:r>
              <a:t>A Structured Milestones Framework for Progressive Linux Foundations Competency</a:t>
            </a:r>
          </a:p>
        </p:txBody>
      </p:sp>
      <p:sp>
        <p:nvSpPr>
          <p:cNvPr id="4" name="Rectangle 3"/>
          <p:cNvSpPr/>
          <p:nvPr/>
        </p:nvSpPr>
        <p:spPr>
          <a:xfrm>
            <a:off x="731520" y="3474720"/>
            <a:ext cx="10698480" cy="36576"/>
          </a:xfrm>
          <a:prstGeom prst="rect">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2103120" y="3364992"/>
            <a:ext cx="256032" cy="256032"/>
          </a:xfrm>
          <a:prstGeom prst="rect">
            <a:avLst/>
          </a:prstGeom>
          <a:solidFill>
            <a:srgbClr val="4F46E5"/>
          </a:solidFill>
          <a:ln w="2540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3840480"/>
            <a:ext cx="3200400" cy="2011680"/>
          </a:xfrm>
          <a:prstGeom prst="rect">
            <a:avLst/>
          </a:prstGeom>
          <a:noFill/>
        </p:spPr>
        <p:txBody>
          <a:bodyPr wrap="square">
            <a:spAutoFit/>
          </a:bodyPr>
          <a:lstStyle/>
          <a:p>
            <a:pPr algn="ctr">
              <a:spcAft>
                <a:spcPts val="600"/>
              </a:spcAft>
              <a:defRPr sz="1100" b="1">
                <a:solidFill>
                  <a:srgbClr val="14B8A6"/>
                </a:solidFill>
                <a:latin typeface="Arial"/>
              </a:defRPr>
            </a:pPr>
            <a:r>
              <a:t>MILESTONE 01</a:t>
            </a:r>
          </a:p>
          <a:p>
            <a:pPr algn="ctr">
              <a:defRPr sz="1200">
                <a:solidFill>
                  <a:srgbClr val="F1F5F9"/>
                </a:solidFill>
                <a:latin typeface="Arial"/>
              </a:defRPr>
            </a:pPr>
            <a:r>
              <a:t>Months 1-2: Core Command Line Fluency &amp; Automation - Master standard input/output redirection, pipelines, basic bash scripting, and navigation of the FHS.</a:t>
            </a:r>
          </a:p>
        </p:txBody>
      </p:sp>
      <p:sp>
        <p:nvSpPr>
          <p:cNvPr id="7" name="Rectangle 6"/>
          <p:cNvSpPr/>
          <p:nvPr/>
        </p:nvSpPr>
        <p:spPr>
          <a:xfrm>
            <a:off x="5852160" y="3364992"/>
            <a:ext cx="256032" cy="256032"/>
          </a:xfrm>
          <a:prstGeom prst="rect">
            <a:avLst/>
          </a:prstGeom>
          <a:solidFill>
            <a:srgbClr val="4F46E5"/>
          </a:solidFill>
          <a:ln w="2540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480560" y="3840480"/>
            <a:ext cx="3200400" cy="2011680"/>
          </a:xfrm>
          <a:prstGeom prst="rect">
            <a:avLst/>
          </a:prstGeom>
          <a:noFill/>
        </p:spPr>
        <p:txBody>
          <a:bodyPr wrap="square">
            <a:spAutoFit/>
          </a:bodyPr>
          <a:lstStyle/>
          <a:p>
            <a:pPr algn="ctr">
              <a:spcAft>
                <a:spcPts val="600"/>
              </a:spcAft>
              <a:defRPr sz="1100" b="1">
                <a:solidFill>
                  <a:srgbClr val="14B8A6"/>
                </a:solidFill>
                <a:latin typeface="Arial"/>
              </a:defRPr>
            </a:pPr>
            <a:r>
              <a:t>MILESTONE 02</a:t>
            </a:r>
          </a:p>
          <a:p>
            <a:pPr algn="ctr">
              <a:defRPr sz="1200">
                <a:solidFill>
                  <a:srgbClr val="F1F5F9"/>
                </a:solidFill>
                <a:latin typeface="Arial"/>
              </a:defRPr>
            </a:pPr>
            <a:r>
              <a:t>Months 3-4: Local System Administration &amp; Security - Implement advanced UGO/ACL permissions, configure custom PAM stacks, and manage declarative systemd units.</a:t>
            </a:r>
          </a:p>
        </p:txBody>
      </p:sp>
      <p:sp>
        <p:nvSpPr>
          <p:cNvPr id="9" name="Rectangle 8"/>
          <p:cNvSpPr/>
          <p:nvPr/>
        </p:nvSpPr>
        <p:spPr>
          <a:xfrm>
            <a:off x="9601200" y="3364992"/>
            <a:ext cx="256032" cy="256032"/>
          </a:xfrm>
          <a:prstGeom prst="rect">
            <a:avLst/>
          </a:prstGeom>
          <a:solidFill>
            <a:srgbClr val="4F46E5"/>
          </a:solidFill>
          <a:ln w="2540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0" y="3840480"/>
            <a:ext cx="3200400" cy="2011680"/>
          </a:xfrm>
          <a:prstGeom prst="rect">
            <a:avLst/>
          </a:prstGeom>
          <a:noFill/>
        </p:spPr>
        <p:txBody>
          <a:bodyPr wrap="square">
            <a:spAutoFit/>
          </a:bodyPr>
          <a:lstStyle/>
          <a:p>
            <a:pPr algn="ctr">
              <a:spcAft>
                <a:spcPts val="600"/>
              </a:spcAft>
              <a:defRPr sz="1100" b="1">
                <a:solidFill>
                  <a:srgbClr val="14B8A6"/>
                </a:solidFill>
                <a:latin typeface="Arial"/>
              </a:defRPr>
            </a:pPr>
            <a:r>
              <a:t>MILESTONE 03</a:t>
            </a:r>
          </a:p>
          <a:p>
            <a:pPr algn="ctr">
              <a:defRPr sz="1200">
                <a:solidFill>
                  <a:srgbClr val="F1F5F9"/>
                </a:solidFill>
                <a:latin typeface="Arial"/>
              </a:defRPr>
            </a:pPr>
            <a:r>
              <a:t>Months 5-6: Advanced Diagnostics &amp; Network Topology - Practice active runtime debugging using strace, manage local storage mappings (LVM), and profile CPU/Memory bottlenecks.</a:t>
            </a:r>
          </a:p>
        </p:txBody>
      </p:sp>
      <p:sp>
        <p:nvSpPr>
          <p:cNvPr id="11" name="TextBox 10"/>
          <p:cNvSpPr txBox="1"/>
          <p:nvPr/>
        </p:nvSpPr>
        <p:spPr>
          <a:xfrm>
            <a:off x="731520" y="5943600"/>
            <a:ext cx="10698480" cy="457200"/>
          </a:xfrm>
          <a:prstGeom prst="rect">
            <a:avLst/>
          </a:prstGeom>
          <a:noFill/>
        </p:spPr>
        <p:txBody>
          <a:bodyPr wrap="none">
            <a:spAutoFit/>
          </a:bodyPr>
          <a:lstStyle/>
          <a:p>
            <a:pPr algn="ctr">
              <a:defRPr sz="1100" b="1">
                <a:solidFill>
                  <a:srgbClr val="14B8A6"/>
                </a:solidFill>
                <a:latin typeface="Arial"/>
              </a:defRPr>
            </a:pPr>
            <a:r>
              <a:t>Goal: Achieving true expertise in Linux requires transitioning from reactive command execution to proactive, automated system state configuration.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