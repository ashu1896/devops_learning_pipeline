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Overview of tracing system behaviors, kernel locks, and alert configuration.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database write storms and how await metrics highlight device issues.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Discuss the terminal command loop to record perf scripts and create visual maps.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why drives fail to RO state and walk through the Prometheus rule format.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Conclude Linux mastery with observability and tracing milestones.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011680"/>
            <a:ext cx="91440" cy="29260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9601200" cy="29260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14B8A6"/>
                </a:solidFill>
                <a:latin typeface="Arial"/>
              </a:defRPr>
            </a:pPr>
            <a:r>
              <a:t>6-MONTH DEVops MASTERCLASS</a:t>
            </a:r>
          </a:p>
          <a:p>
            <a:pPr>
              <a:defRPr sz="4400" b="1">
                <a:solidFill>
                  <a:srgbClr val="F1F5F9"/>
                </a:solidFill>
                <a:latin typeface="Arial"/>
              </a:defRPr>
            </a:pPr>
            <a:r>
              <a:t>SRE Telemetry &amp; Diagnostics</a:t>
            </a:r>
          </a:p>
          <a:p>
            <a:pPr>
              <a:spcBef>
                <a:spcPts val="1000"/>
              </a:spcBef>
              <a:defRPr sz="1600">
                <a:solidFill>
                  <a:srgbClr val="94A3B8"/>
                </a:solidFill>
                <a:latin typeface="Arial"/>
              </a:defRPr>
            </a:pPr>
            <a:r>
              <a:t>incident Resolution, Flamegraphs, &amp; Alert Rules (Part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669280"/>
            <a:ext cx="9601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Arial"/>
              </a:defRPr>
            </a:pPr>
            <a:r>
              <a:t>SRE &amp; PLATFORM ENGINEERING GROUP  •  AUTOMATED PIPELINE GENERATION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Arial"/>
              </a:defRPr>
            </a:pPr>
            <a:r>
              <a:t>Troubleshooting high iowait</a:t>
            </a:r>
          </a:p>
          <a:p>
            <a:pPr>
              <a:spcBef>
                <a:spcPts val="400"/>
              </a:spcBef>
              <a:defRPr sz="1300" b="1">
                <a:solidFill>
                  <a:srgbClr val="4F46E5"/>
                </a:solidFill>
                <a:latin typeface="Arial"/>
              </a:defRPr>
            </a:pPr>
            <a:r>
              <a:t>Resolving Storage Bottlenecks under heavy traffic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4F46E5"/>
                </a:solidFill>
                <a:latin typeface="Arial"/>
              </a:defRPr>
            </a:pPr>
            <a:r>
              <a:t>ARCHITECTURAL BLUEPRINT &amp; BLUEPRINTS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  Symptom: CPU sitting idle waiting for outstanding block requests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  Diagnostics: Run iostat -xz 1 to inspectAwait and %util metrics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828800"/>
            <a:ext cx="521208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0" y="1828800"/>
            <a:ext cx="5212080" cy="10972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10312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14B8A6"/>
                </a:solidFill>
                <a:latin typeface="Arial"/>
              </a:defRPr>
            </a:pPr>
            <a:r>
              <a:t>ENTERPRISE PRO-TIPS &amp; STRATEGIES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  Resolution: Identify hot processes using iotop and throttle them</a:t>
            </a:r>
          </a:p>
          <a:p>
            <a:pPr>
              <a:spcBef>
                <a:spcPts val="1400"/>
              </a:spcBef>
              <a:defRPr sz="1050" b="1">
                <a:solidFill>
                  <a:srgbClr val="4F46E5"/>
                </a:solidFill>
                <a:latin typeface="Arial"/>
              </a:defRPr>
            </a:pPr>
            <a:r>
              <a:t>Key Takeaway: I/O waits throttle execution speeds; prioritize SSD throughput.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Arial"/>
              </a:defRPr>
            </a:pPr>
            <a:r>
              <a:t>Call Tracing &amp; Flamegraphs</a:t>
            </a:r>
          </a:p>
          <a:p>
            <a:pPr>
              <a:spcBef>
                <a:spcPts val="400"/>
              </a:spcBef>
              <a:defRPr sz="1300" b="1">
                <a:solidFill>
                  <a:srgbClr val="4F46E5"/>
                </a:solidFill>
                <a:latin typeface="Arial"/>
              </a:defRPr>
            </a:pPr>
            <a:r>
              <a:t>mapping Kernel Hotspots to optimize latency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4F46E5"/>
                </a:solidFill>
                <a:latin typeface="Arial"/>
              </a:defRPr>
            </a:pPr>
            <a:r>
              <a:t>ARCHITECTURAL BLUEPRINT &amp; BLUEPRINTS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  perf record captures kernel stack traces at high frequencies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  Flamegraphs represent relative CPU time as horizontal widths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828800"/>
            <a:ext cx="521208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0" y="1828800"/>
            <a:ext cx="5212080" cy="10972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10312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14B8A6"/>
                </a:solidFill>
                <a:latin typeface="Arial"/>
              </a:defRPr>
            </a:pPr>
            <a:r>
              <a:t>ENTERPRISE PRO-TIPS &amp; STRATEGIES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  Quickly isolate netfilter bottlenecks or slow lock allocations</a:t>
            </a:r>
          </a:p>
          <a:p>
            <a:pPr>
              <a:spcBef>
                <a:spcPts val="1400"/>
              </a:spcBef>
              <a:defRPr sz="1050" b="1">
                <a:solidFill>
                  <a:srgbClr val="4F46E5"/>
                </a:solidFill>
                <a:latin typeface="Arial"/>
              </a:defRPr>
            </a:pPr>
            <a:r>
              <a:t>Key Takeaway: Flamegraphs convert raw call stacks into clear visual performance maps.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Arial"/>
              </a:defRPr>
            </a:pPr>
            <a:r>
              <a:t>Prometheus FileSystem Alerts</a:t>
            </a:r>
          </a:p>
          <a:p>
            <a:pPr>
              <a:spcBef>
                <a:spcPts val="400"/>
              </a:spcBef>
              <a:defRPr sz="1300" b="1">
                <a:solidFill>
                  <a:srgbClr val="4F46E5"/>
                </a:solidFill>
                <a:latin typeface="Arial"/>
              </a:defRPr>
            </a:pPr>
            <a:r>
              <a:t>Monitoring Kernel mounts for Read-Only failures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4F46E5"/>
                </a:solidFill>
                <a:latin typeface="Arial"/>
              </a:defRPr>
            </a:pPr>
            <a:r>
              <a:t>ARCHITECTURAL BLUEPRINT &amp; BLUEPRINTS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  Disk errors mount drives as RO to safeguard data integrity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  Metric: node_filesystem_readonly fires alert instantly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828800"/>
            <a:ext cx="521208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0" y="1828800"/>
            <a:ext cx="5212080" cy="10972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10312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14B8A6"/>
                </a:solidFill>
                <a:latin typeface="Arial"/>
              </a:defRPr>
            </a:pPr>
            <a:r>
              <a:t>ENTERPRISE PRO-TIPS &amp; STRATEGIES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  Enforces automatic PagerDuty alerts to avoid quiet failures</a:t>
            </a:r>
          </a:p>
          <a:p>
            <a:pPr>
              <a:spcBef>
                <a:spcPts val="1400"/>
              </a:spcBef>
              <a:defRPr sz="1050" b="1">
                <a:solidFill>
                  <a:srgbClr val="4F46E5"/>
                </a:solidFill>
                <a:latin typeface="Arial"/>
              </a:defRPr>
            </a:pPr>
            <a:r>
              <a:t>Key Takeaway: Always monitor RO disk events; silent disk failures stop all writes.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Arial"/>
              </a:defRPr>
            </a:pPr>
            <a:r>
              <a:t>6-Month Telemetry Path</a:t>
            </a:r>
          </a:p>
          <a:p>
            <a:pPr>
              <a:spcBef>
                <a:spcPts val="400"/>
              </a:spcBef>
              <a:defRPr sz="1300" b="1">
                <a:solidFill>
                  <a:srgbClr val="14B8A6"/>
                </a:solidFill>
                <a:latin typeface="Arial"/>
              </a:defRPr>
            </a:pPr>
            <a:r>
              <a:t>SRE Mastery Milestones for Cloud Architects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474720"/>
            <a:ext cx="10698480" cy="36576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03120" y="3364992"/>
            <a:ext cx="256032" cy="256032"/>
          </a:xfrm>
          <a:prstGeom prst="rect">
            <a:avLst/>
          </a:prstGeom>
          <a:solidFill>
            <a:srgbClr val="4F46E5"/>
          </a:solidFill>
          <a:ln w="254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100" b="1">
                <a:solidFill>
                  <a:srgbClr val="14B8A6"/>
                </a:solidFill>
                <a:latin typeface="Arial"/>
              </a:defRPr>
            </a:pPr>
            <a:r>
              <a:t>MILESTONE 01</a:t>
            </a:r>
          </a:p>
          <a:p>
            <a:pPr algn="ctr">
              <a:defRPr sz="1200">
                <a:solidFill>
                  <a:srgbClr val="F1F5F9"/>
                </a:solidFill>
                <a:latin typeface="Arial"/>
              </a:defRPr>
            </a:pPr>
            <a:r>
              <a:t>Weeks 1-2: Setup detailed perf traces and trace calls locally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3364992"/>
            <a:ext cx="256032" cy="256032"/>
          </a:xfrm>
          <a:prstGeom prst="rect">
            <a:avLst/>
          </a:prstGeom>
          <a:solidFill>
            <a:srgbClr val="4F46E5"/>
          </a:solidFill>
          <a:ln w="254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3840480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100" b="1">
                <a:solidFill>
                  <a:srgbClr val="14B8A6"/>
                </a:solidFill>
                <a:latin typeface="Arial"/>
              </a:defRPr>
            </a:pPr>
            <a:r>
              <a:t>MILESTONE 02</a:t>
            </a:r>
          </a:p>
          <a:p>
            <a:pPr algn="ctr">
              <a:defRPr sz="1200">
                <a:solidFill>
                  <a:srgbClr val="F1F5F9"/>
                </a:solidFill>
                <a:latin typeface="Arial"/>
              </a:defRPr>
            </a:pPr>
            <a:r>
              <a:t>Weeks 3-4: Build dashboard systems and filesystem alert rules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0" y="3364992"/>
            <a:ext cx="256032" cy="256032"/>
          </a:xfrm>
          <a:prstGeom prst="rect">
            <a:avLst/>
          </a:prstGeom>
          <a:solidFill>
            <a:srgbClr val="4F46E5"/>
          </a:solidFill>
          <a:ln w="254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3840480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100" b="1">
                <a:solidFill>
                  <a:srgbClr val="14B8A6"/>
                </a:solidFill>
                <a:latin typeface="Arial"/>
              </a:defRPr>
            </a:pPr>
            <a:r>
              <a:t>MILESTONE 03</a:t>
            </a:r>
          </a:p>
          <a:p>
            <a:pPr algn="ctr">
              <a:defRPr sz="1200">
                <a:solidFill>
                  <a:srgbClr val="F1F5F9"/>
                </a:solidFill>
                <a:latin typeface="Arial"/>
              </a:defRPr>
            </a:pPr>
            <a:r>
              <a:t>Weeks 5-6: Conduct chaos storage drills and lock analysis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4B8A6"/>
                </a:solidFill>
                <a:latin typeface="Arial"/>
              </a:defRPr>
            </a:pPr>
            <a:r>
              <a:t>Goal: Achieve absolute, real-time observability of the system stacks.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