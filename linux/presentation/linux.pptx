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the candidate and outline the primary objectives for this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data path and recovery mechanism during failover events.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key IAM principles and how telemetry shapes modern incident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a hypothetical network outage scenario and recovery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Encourage the candidate to focus on practical hands-on labs and mini-projects.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91440" cy="2926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9601200" cy="2926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4B8A6"/>
                </a:solidFill>
                <a:latin typeface="Arial"/>
              </a:defRPr>
            </a:pPr>
            <a:r>
              <a:t>6-MONTH DEVops MASTERCLASS</a:t>
            </a:r>
          </a:p>
          <a:p>
            <a:pPr>
              <a:defRPr sz="4400" b="1">
                <a:solidFill>
                  <a:srgbClr val="F1F5F9"/>
                </a:solidFill>
                <a:latin typeface="Arial"/>
              </a:defRPr>
            </a:pPr>
            <a:r>
              <a:t>Mastering Linux</a:t>
            </a:r>
          </a:p>
          <a:p>
            <a:pPr>
              <a:spcBef>
                <a:spcPts val="1000"/>
              </a:spcBef>
              <a:defRPr sz="1600">
                <a:solidFill>
                  <a:srgbClr val="94A3B8"/>
                </a:solidFill>
                <a:latin typeface="Arial"/>
              </a:defRPr>
            </a:pPr>
            <a:r>
              <a:t>Enterprise Architecture &amp; SRE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66928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4748B"/>
                </a:solidFill>
                <a:latin typeface="Arial"/>
              </a:defRPr>
            </a:pPr>
            <a:r>
              <a:t>SRE &amp; PLATFORM ENGINEERING GROUP  •  AUTOMATED PIPELINE GENERATION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Enterprise System Architecture</a:t>
            </a:r>
          </a:p>
          <a:p>
            <a:pPr>
              <a:spcBef>
                <a:spcPts val="400"/>
              </a:spcBef>
              <a:defRPr sz="1300" b="1">
                <a:solidFill>
                  <a:srgbClr val="4F46E5"/>
                </a:solidFill>
                <a:latin typeface="Arial"/>
              </a:defRPr>
            </a:pPr>
            <a:r>
              <a:t>Production Topology &amp; Data Flow in Linux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4F46E5"/>
                </a:solidFill>
                <a:latin typeface="Arial"/>
              </a:defRPr>
            </a:pPr>
            <a:r>
              <a:t>ARCHITECTURAL BLUEPRINT &amp; BLUEPRINTS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Redundant multi-AZ node configuration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Zero-downtime rolling update mechanics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828800"/>
            <a:ext cx="52120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5212080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10312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B8A6"/>
                </a:solidFill>
                <a:latin typeface="Arial"/>
              </a:defRPr>
            </a:pPr>
            <a:r>
              <a:t>ENTERPRISE PRO-TIPS &amp; STRATEGIES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Strict private subnet security groups isolation</a:t>
            </a:r>
          </a:p>
          <a:p>
            <a:pPr>
              <a:spcBef>
                <a:spcPts val="1400"/>
              </a:spcBef>
              <a:defRPr sz="1050" b="1">
                <a:solidFill>
                  <a:srgbClr val="4F46E5"/>
                </a:solidFill>
                <a:latin typeface="Arial"/>
              </a:defRPr>
            </a:pPr>
            <a:r>
              <a:t>Key Takeaway: Ensure zero single point of failure at every level.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Production Hardening &amp; DevSecOps</a:t>
            </a:r>
          </a:p>
          <a:p>
            <a:pPr>
              <a:spcBef>
                <a:spcPts val="400"/>
              </a:spcBef>
              <a:defRPr sz="1300" b="1">
                <a:solidFill>
                  <a:srgbClr val="4F46E5"/>
                </a:solidFill>
                <a:latin typeface="Arial"/>
              </a:defRPr>
            </a:pPr>
            <a:r>
              <a:t>Security Best Practices &amp; Monitoring for Linux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4F46E5"/>
                </a:solidFill>
                <a:latin typeface="Arial"/>
              </a:defRPr>
            </a:pPr>
            <a:r>
              <a:t>ARCHITECTURAL BLUEPRINT &amp; BLUEPRINTS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Enforced SSL/TLS mutual authentication (mTLS)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Real-time resource exhaustion alerts (Prometheus)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828800"/>
            <a:ext cx="52120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5212080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10312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B8A6"/>
                </a:solidFill>
                <a:latin typeface="Arial"/>
              </a:defRPr>
            </a:pPr>
            <a:r>
              <a:t>ENTERPRISE PRO-TIPS &amp; STRATEGIES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Role-Based Access Control (RBAC) principle of least privilege</a:t>
            </a:r>
          </a:p>
          <a:p>
            <a:pPr>
              <a:spcBef>
                <a:spcPts val="1400"/>
              </a:spcBef>
              <a:defRPr sz="1050" b="1">
                <a:solidFill>
                  <a:srgbClr val="4F46E5"/>
                </a:solidFill>
                <a:latin typeface="Arial"/>
              </a:defRPr>
            </a:pPr>
            <a:r>
              <a:t>Key Takeaway: Security is not an afterthought; it must be baked into code.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SRE &amp; Production Troubleshooting</a:t>
            </a:r>
          </a:p>
          <a:p>
            <a:pPr>
              <a:spcBef>
                <a:spcPts val="400"/>
              </a:spcBef>
              <a:defRPr sz="1300" b="1">
                <a:solidFill>
                  <a:srgbClr val="4F46E5"/>
                </a:solidFill>
                <a:latin typeface="Arial"/>
              </a:defRPr>
            </a:pPr>
            <a:r>
              <a:t>Incident Scenarios &amp; Root Cause Analysis (RCA)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4F46E5"/>
                </a:solidFill>
                <a:latin typeface="Arial"/>
              </a:defRPr>
            </a:pPr>
            <a:r>
              <a:t>ARCHITECTURAL BLUEPRINT &amp; BLUEPRINTS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Solving network splits &amp; split-brain scenarios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Handling cascading resource starvation failures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828800"/>
            <a:ext cx="52120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5212080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10312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B8A6"/>
                </a:solidFill>
                <a:latin typeface="Arial"/>
              </a:defRPr>
            </a:pPr>
            <a:r>
              <a:t>ENTERPRISE PRO-TIPS &amp; STRATEGIES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Rolling back corrupted configurations with GitOps</a:t>
            </a:r>
          </a:p>
          <a:p>
            <a:pPr>
              <a:spcBef>
                <a:spcPts val="1400"/>
              </a:spcBef>
              <a:defRPr sz="1050" b="1">
                <a:solidFill>
                  <a:srgbClr val="4F46E5"/>
                </a:solidFill>
                <a:latin typeface="Arial"/>
              </a:defRPr>
            </a:pPr>
            <a:r>
              <a:t>Key Takeaway: Automate recovery; human steps should only confirm success.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rial"/>
              </a:defRPr>
            </a:pPr>
            <a:r>
              <a:t>6-Month Expert Learning Roadmap</a:t>
            </a:r>
          </a:p>
          <a:p>
            <a:pPr>
              <a:spcBef>
                <a:spcPts val="400"/>
              </a:spcBef>
              <a:defRPr sz="1300" b="1">
                <a:solidFill>
                  <a:srgbClr val="14B8A6"/>
                </a:solidFill>
                <a:latin typeface="Arial"/>
              </a:defRPr>
            </a:pPr>
            <a:r>
              <a:t>Strategic Path to Linux Mastery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474720"/>
            <a:ext cx="1069848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0" y="3364992"/>
            <a:ext cx="256032" cy="256032"/>
          </a:xfrm>
          <a:prstGeom prst="rect">
            <a:avLst/>
          </a:prstGeom>
          <a:solidFill>
            <a:srgbClr val="4F46E5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14B8A6"/>
                </a:solidFill>
                <a:latin typeface="Arial"/>
              </a:defRPr>
            </a:pPr>
            <a:r>
              <a:t>MILESTONE 01</a:t>
            </a:r>
          </a:p>
          <a:p>
            <a:pPr algn="ctr">
              <a:defRPr sz="1200">
                <a:solidFill>
                  <a:srgbClr val="F1F5F9"/>
                </a:solidFill>
                <a:latin typeface="Arial"/>
              </a:defRPr>
            </a:pPr>
            <a:r>
              <a:t>Weeks 1-2: Advanced Core Internals &amp; Local Mocking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0" y="3364992"/>
            <a:ext cx="256032" cy="256032"/>
          </a:xfrm>
          <a:prstGeom prst="rect">
            <a:avLst/>
          </a:prstGeom>
          <a:solidFill>
            <a:srgbClr val="4F46E5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384048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14B8A6"/>
                </a:solidFill>
                <a:latin typeface="Arial"/>
              </a:defRPr>
            </a:pPr>
            <a:r>
              <a:t>MILESTONE 02</a:t>
            </a:r>
          </a:p>
          <a:p>
            <a:pPr algn="ctr">
              <a:defRPr sz="1200">
                <a:solidFill>
                  <a:srgbClr val="F1F5F9"/>
                </a:solidFill>
                <a:latin typeface="Arial"/>
              </a:defRPr>
            </a:pPr>
            <a:r>
              <a:t>Weeks 3-4: Multi-cloud Deployment &amp; Terraform Automation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0" y="3364992"/>
            <a:ext cx="256032" cy="256032"/>
          </a:xfrm>
          <a:prstGeom prst="rect">
            <a:avLst/>
          </a:prstGeom>
          <a:solidFill>
            <a:srgbClr val="4F46E5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384048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14B8A6"/>
                </a:solidFill>
                <a:latin typeface="Arial"/>
              </a:defRPr>
            </a:pPr>
            <a:r>
              <a:t>MILESTONE 03</a:t>
            </a:r>
          </a:p>
          <a:p>
            <a:pPr algn="ctr">
              <a:defRPr sz="1200">
                <a:solidFill>
                  <a:srgbClr val="F1F5F9"/>
                </a:solidFill>
                <a:latin typeface="Arial"/>
              </a:defRPr>
            </a:pPr>
            <a:r>
              <a:t>Weeks 5-6: Chaos Engineering &amp; Live-Traffic Drills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4B8A6"/>
                </a:solidFill>
                <a:latin typeface="Arial"/>
              </a:defRPr>
            </a:pPr>
            <a:r>
              <a:t>Goal: Transition from conceptual understanding to live production ownership.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