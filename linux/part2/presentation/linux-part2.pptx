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 to capabilities, cgroups v2 unified hierarchies, and system call interceptions.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Demonstrate the command workflow to assign CAP_NET_BIND_SERVICE to the API binary.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Discuss why cgroups v2 is mandatory for modern container runtimes like containerd.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seccomp profiles and how Docker/Kubernetes load them during container initialization.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Discuss chaos engineering security tests and capability reviews.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2011680"/>
            <a:ext cx="91440" cy="29260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011680"/>
            <a:ext cx="9601200" cy="292608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14B8A6"/>
                </a:solidFill>
                <a:latin typeface="Arial"/>
              </a:defRPr>
            </a:pPr>
            <a:r>
              <a:t>6-MONTH DEVops MASTERCLASS</a:t>
            </a:r>
          </a:p>
          <a:p>
            <a:pPr>
              <a:defRPr sz="4400" b="1">
                <a:solidFill>
                  <a:srgbClr val="F1F5F9"/>
                </a:solidFill>
                <a:latin typeface="Arial"/>
              </a:defRPr>
            </a:pPr>
            <a:r>
              <a:t>Advanced Linux Hardening</a:t>
            </a:r>
          </a:p>
          <a:p>
            <a:pPr>
              <a:spcBef>
                <a:spcPts val="1000"/>
              </a:spcBef>
              <a:defRPr sz="1600">
                <a:solidFill>
                  <a:srgbClr val="94A3B8"/>
                </a:solidFill>
                <a:latin typeface="Arial"/>
              </a:defRPr>
            </a:pPr>
            <a:r>
              <a:t>POSIX Capabilities, seccomp, &amp; cgroups v2 (Part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669280"/>
            <a:ext cx="9601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64748B"/>
                </a:solidFill>
                <a:latin typeface="Arial"/>
              </a:defRPr>
            </a:pPr>
            <a:r>
              <a:t>SRE &amp; PLATFORM ENGINEERING GROUP  •  AUTOMATED PIPELINE GENERATION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Arial"/>
              </a:defRPr>
            </a:pPr>
            <a:r>
              <a:t>Enforcing System Capabilities</a:t>
            </a:r>
          </a:p>
          <a:p>
            <a:pPr>
              <a:spcBef>
                <a:spcPts val="400"/>
              </a:spcBef>
              <a:defRPr sz="1300" b="1">
                <a:solidFill>
                  <a:srgbClr val="4F46E5"/>
                </a:solidFill>
                <a:latin typeface="Arial"/>
              </a:defRPr>
            </a:pPr>
            <a:r>
              <a:t>Replacing Root Access with Fine-Grained Permissions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120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4F46E5"/>
                </a:solidFill>
                <a:latin typeface="Arial"/>
              </a:defRPr>
            </a:pPr>
            <a:r>
              <a:t>ARCHITECTURAL BLUEPRINT &amp; BLUEPRINTS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300">
                <a:solidFill>
                  <a:srgbClr val="1E293B"/>
                </a:solidFill>
                <a:latin typeface="Arial"/>
              </a:defRPr>
            </a:pPr>
            <a:r>
              <a:t>•   CAP_NET_BIND_SERVICE allows binding port 80 as non-root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300">
                <a:solidFill>
                  <a:srgbClr val="1E293B"/>
                </a:solidFill>
                <a:latin typeface="Arial"/>
              </a:defRPr>
            </a:pPr>
            <a:r>
              <a:t>•   CAP_NET_ADMIN governs network configs and routing tables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828800"/>
            <a:ext cx="521208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17920" y="1828800"/>
            <a:ext cx="5212080" cy="10972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2103120"/>
            <a:ext cx="4663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14B8A6"/>
                </a:solidFill>
                <a:latin typeface="Arial"/>
              </a:defRPr>
            </a:pPr>
            <a:r>
              <a:t>ENTERPRISE PRO-TIPS &amp; STRATEGIES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300">
                <a:solidFill>
                  <a:srgbClr val="1E293B"/>
                </a:solidFill>
                <a:latin typeface="Arial"/>
              </a:defRPr>
            </a:pPr>
            <a:r>
              <a:t>•   Use setcap and getcap to manage permissions programmatically</a:t>
            </a:r>
          </a:p>
          <a:p>
            <a:pPr>
              <a:spcBef>
                <a:spcPts val="1400"/>
              </a:spcBef>
              <a:defRPr sz="1050" b="1">
                <a:solidFill>
                  <a:srgbClr val="4F46E5"/>
                </a:solidFill>
                <a:latin typeface="Arial"/>
              </a:defRPr>
            </a:pPr>
            <a:r>
              <a:t>Key Takeaway: Adhere strictly to the SRE principle of least privilege.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Arial"/>
              </a:defRPr>
            </a:pPr>
            <a:r>
              <a:t>cgroups v2 &amp; Resource Control</a:t>
            </a:r>
          </a:p>
          <a:p>
            <a:pPr>
              <a:spcBef>
                <a:spcPts val="400"/>
              </a:spcBef>
              <a:defRPr sz="1300" b="1">
                <a:solidFill>
                  <a:srgbClr val="4F46E5"/>
                </a:solidFill>
                <a:latin typeface="Arial"/>
              </a:defRPr>
            </a:pPr>
            <a:r>
              <a:t>unified Hierarchies for Stable Multi-Tenant Hosts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120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4F46E5"/>
                </a:solidFill>
                <a:latin typeface="Arial"/>
              </a:defRPr>
            </a:pPr>
            <a:r>
              <a:t>ARCHITECTURAL BLUEPRINT &amp; BLUEPRINTS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300">
                <a:solidFill>
                  <a:srgbClr val="1E293B"/>
                </a:solidFill>
                <a:latin typeface="Arial"/>
              </a:defRPr>
            </a:pPr>
            <a:r>
              <a:t>•   Single-tree architecture resolves v1 resource mismatch bugs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300">
                <a:solidFill>
                  <a:srgbClr val="1E293B"/>
                </a:solidFill>
                <a:latin typeface="Arial"/>
              </a:defRPr>
            </a:pPr>
            <a:r>
              <a:t>•   Enforces strict CPU, memory limits, and blkio writeback syncs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828800"/>
            <a:ext cx="521208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17920" y="1828800"/>
            <a:ext cx="5212080" cy="10972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2103120"/>
            <a:ext cx="4663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14B8A6"/>
                </a:solidFill>
                <a:latin typeface="Arial"/>
              </a:defRPr>
            </a:pPr>
            <a:r>
              <a:t>ENTERPRISE PRO-TIPS &amp; STRATEGIES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300">
                <a:solidFill>
                  <a:srgbClr val="1E293B"/>
                </a:solidFill>
                <a:latin typeface="Arial"/>
              </a:defRPr>
            </a:pPr>
            <a:r>
              <a:t>•   Ensures high-load containers never trigger cascading host OOMs</a:t>
            </a:r>
          </a:p>
          <a:p>
            <a:pPr>
              <a:spcBef>
                <a:spcPts val="1400"/>
              </a:spcBef>
              <a:defRPr sz="1050" b="1">
                <a:solidFill>
                  <a:srgbClr val="4F46E5"/>
                </a:solidFill>
                <a:latin typeface="Arial"/>
              </a:defRPr>
            </a:pPr>
            <a:r>
              <a:t>Key Takeaway: Accurate resource metering prevents host kernel starvation.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Arial"/>
              </a:defRPr>
            </a:pPr>
            <a:r>
              <a:t>Syscall Sandboxing with seccomp</a:t>
            </a:r>
          </a:p>
          <a:p>
            <a:pPr>
              <a:spcBef>
                <a:spcPts val="400"/>
              </a:spcBef>
              <a:defRPr sz="1300" b="1">
                <a:solidFill>
                  <a:srgbClr val="4F46E5"/>
                </a:solidFill>
                <a:latin typeface="Arial"/>
              </a:defRPr>
            </a:pPr>
            <a:r>
              <a:t>Blocking RCE Exploits at the System Call Boundary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120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4F46E5"/>
                </a:solidFill>
                <a:latin typeface="Arial"/>
              </a:defRPr>
            </a:pPr>
            <a:r>
              <a:t>ARCHITECTURAL BLUEPRINT &amp; BLUEPRINTS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300">
                <a:solidFill>
                  <a:srgbClr val="1E293B"/>
                </a:solidFill>
                <a:latin typeface="Arial"/>
              </a:defRPr>
            </a:pPr>
            <a:r>
              <a:t>•   Intercepts calls at the system call interface (SCI)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300">
                <a:solidFill>
                  <a:srgbClr val="1E293B"/>
                </a:solidFill>
                <a:latin typeface="Arial"/>
              </a:defRPr>
            </a:pPr>
            <a:r>
              <a:t>•   Blacklist execve, fork, and ptrace to freeze exploit scripts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828800"/>
            <a:ext cx="521208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17920" y="1828800"/>
            <a:ext cx="5212080" cy="10972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2103120"/>
            <a:ext cx="4663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14B8A6"/>
                </a:solidFill>
                <a:latin typeface="Arial"/>
              </a:defRPr>
            </a:pPr>
            <a:r>
              <a:t>ENTERPRISE PRO-TIPS &amp; STRATEGIES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300">
                <a:solidFill>
                  <a:srgbClr val="1E293B"/>
                </a:solidFill>
                <a:latin typeface="Arial"/>
              </a:defRPr>
            </a:pPr>
            <a:r>
              <a:t>•   Forces compromised containers to error out instantly</a:t>
            </a:r>
          </a:p>
          <a:p>
            <a:pPr>
              <a:spcBef>
                <a:spcPts val="1400"/>
              </a:spcBef>
              <a:defRPr sz="1050" b="1">
                <a:solidFill>
                  <a:srgbClr val="4F46E5"/>
                </a:solidFill>
                <a:latin typeface="Arial"/>
              </a:defRPr>
            </a:pPr>
            <a:r>
              <a:t>Key Takeaway: Sandboxed processes cannot launch secondary binaries.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>
              <a:defRPr sz="2800" b="1">
                <a:solidFill>
                  <a:srgbClr val="F1F5F9"/>
                </a:solidFill>
                <a:latin typeface="Arial"/>
              </a:defRPr>
            </a:pPr>
            <a:r>
              <a:t>6-Month Advanced Hardening path</a:t>
            </a:r>
          </a:p>
          <a:p>
            <a:pPr>
              <a:spcBef>
                <a:spcPts val="400"/>
              </a:spcBef>
              <a:defRPr sz="1300" b="1">
                <a:solidFill>
                  <a:srgbClr val="14B8A6"/>
                </a:solidFill>
                <a:latin typeface="Arial"/>
              </a:defRPr>
            </a:pPr>
            <a:r>
              <a:t>Mastery Milestones for SRE Architects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474720"/>
            <a:ext cx="10698480" cy="36576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103120" y="3364992"/>
            <a:ext cx="256032" cy="256032"/>
          </a:xfrm>
          <a:prstGeom prst="rect">
            <a:avLst/>
          </a:prstGeom>
          <a:solidFill>
            <a:srgbClr val="4F46E5"/>
          </a:solidFill>
          <a:ln w="254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3200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100" b="1">
                <a:solidFill>
                  <a:srgbClr val="14B8A6"/>
                </a:solidFill>
                <a:latin typeface="Arial"/>
              </a:defRPr>
            </a:pPr>
            <a:r>
              <a:t>MILESTONE 01</a:t>
            </a:r>
          </a:p>
          <a:p>
            <a:pPr algn="ctr">
              <a:defRPr sz="1200">
                <a:solidFill>
                  <a:srgbClr val="F1F5F9"/>
                </a:solidFill>
                <a:latin typeface="Arial"/>
              </a:defRPr>
            </a:pPr>
            <a:r>
              <a:t>Weeks 1-2: Audit system capabilities and seccomp filters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3364992"/>
            <a:ext cx="256032" cy="256032"/>
          </a:xfrm>
          <a:prstGeom prst="rect">
            <a:avLst/>
          </a:prstGeom>
          <a:solidFill>
            <a:srgbClr val="4F46E5"/>
          </a:solidFill>
          <a:ln w="254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3840480"/>
            <a:ext cx="3200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100" b="1">
                <a:solidFill>
                  <a:srgbClr val="14B8A6"/>
                </a:solidFill>
                <a:latin typeface="Arial"/>
              </a:defRPr>
            </a:pPr>
            <a:r>
              <a:t>MILESTONE 02</a:t>
            </a:r>
          </a:p>
          <a:p>
            <a:pPr algn="ctr">
              <a:defRPr sz="1200">
                <a:solidFill>
                  <a:srgbClr val="F1F5F9"/>
                </a:solidFill>
                <a:latin typeface="Arial"/>
              </a:defRPr>
            </a:pPr>
            <a:r>
              <a:t>Weeks 3-4: Build sandboxed systemd containers and profiles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200" y="3364992"/>
            <a:ext cx="256032" cy="256032"/>
          </a:xfrm>
          <a:prstGeom prst="rect">
            <a:avLst/>
          </a:prstGeom>
          <a:solidFill>
            <a:srgbClr val="4F46E5"/>
          </a:solidFill>
          <a:ln w="254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3840480"/>
            <a:ext cx="3200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100" b="1">
                <a:solidFill>
                  <a:srgbClr val="14B8A6"/>
                </a:solidFill>
                <a:latin typeface="Arial"/>
              </a:defRPr>
            </a:pPr>
            <a:r>
              <a:t>MILESTONE 03</a:t>
            </a:r>
          </a:p>
          <a:p>
            <a:pPr algn="ctr">
              <a:defRPr sz="1200">
                <a:solidFill>
                  <a:srgbClr val="F1F5F9"/>
                </a:solidFill>
                <a:latin typeface="Arial"/>
              </a:defRPr>
            </a:pPr>
            <a:r>
              <a:t>Weeks 5-6: Conduct penetration load testing on kernel nodes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4B8A6"/>
                </a:solidFill>
                <a:latin typeface="Arial"/>
              </a:defRPr>
            </a:pPr>
            <a:r>
              <a:t>Goal: Build impenetrable, metered runtime execution spaces.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