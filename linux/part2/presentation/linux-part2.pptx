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Part 2 of our Linux Mastery Series. Today, we transition from foundational commands to advanced system engineering. We will analyze how to tune the Linux kernel under massive concurrent loads, implement zero-trust isolation boundaries, and instrument production systems with eBPF. This session is designed for senior engineers looking to master the infrastructure underpinnings of modern cloud platforms.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dive into the kernel's resource allocation subsystems. Notice how cgroups v2 solves the multi-hierarchy mess of v1, allowing unified control over CPU, memory, and I/O. When tuning virtual memory, beware of setting swappiness to absolute zero on modern kernels—instead, focus on dirty ratio configurations to prevent heavy I/O blocking. For high-concurrency network servers, raw socket tuning via sysctl is your first line of defense against dropped SYN packets.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must be implemented at the kernel layer, not just the application layer. By combining namespaces with seccomp and dropping unnecessary Linux capabilities, we radically reduce the blast radius of any potential remote code execution. Remember, even root inside a container cannot harm the host if we restrict CAP_SYS_ADMIN and apply a strict AppArmor profile that enforces read-only mounts on critical system directories.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production node degrades, generic tools like 'top' are insufficient. We must rely on tracing tools that run safely in kernel space. eBPF has changed the game here: tools like biolatency and execsnoop let us observe real-world block I/O and process execution with near-zero overhead. When diagnosing CPU saturation, generate a flame graph. It immediately reveals whether CPU cycles are spent on user-space logic or trapped in kernel-space lock contention.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execute this successfully, do not try to implement all changes at once. Start by standardizing your sysctl and cgroup baselines. Once your systems are predictably tuned, introduce runtime security layers in dry-run mode to prevent application disruption. By month 6, your SRE team should be equipped with eBPF tracing tools, making performance diagnostics a highly deterministic science rather than guesswork.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91440" cy="29260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11680"/>
            <a:ext cx="9601200" cy="2926080"/>
          </a:xfrm>
          <a:prstGeom prst="rect">
            <a:avLst/>
          </a:prstGeom>
          <a:noFill/>
        </p:spPr>
        <p:txBody>
          <a:bodyPr wrap="square" lIns="0" tIns="0" bIns="0" rIns="0">
            <a:spAutoFit/>
          </a:bodyPr>
          <a:lstStyle/>
          <a:p>
            <a:pPr>
              <a:spcAft>
                <a:spcPts val="1000"/>
              </a:spcAft>
              <a:defRPr sz="1300" b="1">
                <a:solidFill>
                  <a:srgbClr val="14B8A6"/>
                </a:solidFill>
                <a:latin typeface="Arial"/>
              </a:defRPr>
            </a:pPr>
            <a:r>
              <a:t>6-MONTH DEVops MASTERCLASS</a:t>
            </a:r>
          </a:p>
          <a:p>
            <a:pPr>
              <a:defRPr sz="4400" b="1">
                <a:solidFill>
                  <a:srgbClr val="F1F5F9"/>
                </a:solidFill>
                <a:latin typeface="Arial"/>
              </a:defRPr>
            </a:pPr>
            <a:r>
              <a:t>Linux Systems Engineering at Scale: Advanced Architecture, Security &amp; Performance (Part 2/3)</a:t>
            </a:r>
          </a:p>
          <a:p>
            <a:pPr>
              <a:spcBef>
                <a:spcPts val="1000"/>
              </a:spcBef>
              <a:defRPr sz="1600">
                <a:solidFill>
                  <a:srgbClr val="94A3B8"/>
                </a:solidFill>
                <a:latin typeface="Arial"/>
              </a:defRPr>
            </a:pPr>
            <a:r>
              <a:t>Operationalizing Enterprise-Grade Linux Platforms for High-Throughput, Low-Latency Production Environments</a:t>
            </a:r>
          </a:p>
        </p:txBody>
      </p:sp>
      <p:sp>
        <p:nvSpPr>
          <p:cNvPr id="5" name="TextBox 4"/>
          <p:cNvSpPr txBox="1"/>
          <p:nvPr/>
        </p:nvSpPr>
        <p:spPr>
          <a:xfrm>
            <a:off x="1097280" y="5669280"/>
            <a:ext cx="9601200" cy="548640"/>
          </a:xfrm>
          <a:prstGeom prst="rect">
            <a:avLst/>
          </a:prstGeom>
          <a:noFill/>
        </p:spPr>
        <p:txBody>
          <a:bodyPr wrap="none">
            <a:spAutoFit/>
          </a:bodyPr>
          <a:lstStyle/>
          <a:p>
            <a:pPr>
              <a:defRPr sz="950" b="1">
                <a:solidFill>
                  <a:srgbClr val="64748B"/>
                </a:solidFill>
                <a:latin typeface="Arial"/>
              </a:defRPr>
            </a:pPr>
            <a:r>
              <a:t>SRE &amp; PLATFORM ENGINEERING GROUP  •  AUTOMATED PIPELINE GENERATION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1E293B"/>
                </a:solidFill>
                <a:latin typeface="Arial"/>
              </a:defRPr>
            </a:pPr>
            <a:r>
              <a:t>Kernel Tuning, Resource Isolation &amp; Scale Boundaries</a:t>
            </a:r>
          </a:p>
          <a:p>
            <a:pPr>
              <a:spcBef>
                <a:spcPts val="400"/>
              </a:spcBef>
              <a:defRPr sz="1300" b="1">
                <a:solidFill>
                  <a:srgbClr val="4F46E5"/>
                </a:solidFill>
                <a:latin typeface="Arial"/>
              </a:defRPr>
            </a:pPr>
            <a:r>
              <a:t>Optimizing System Performance through cgroups v2 and Kernel Subsystem Tuning</a:t>
            </a:r>
          </a:p>
        </p:txBody>
      </p:sp>
      <p:sp>
        <p:nvSpPr>
          <p:cNvPr id="4" name="TextBox 3"/>
          <p:cNvSpPr txBox="1"/>
          <p:nvPr/>
        </p:nvSpPr>
        <p:spPr>
          <a:xfrm>
            <a:off x="731520" y="1828800"/>
            <a:ext cx="5120640" cy="3840480"/>
          </a:xfrm>
          <a:prstGeom prst="rect">
            <a:avLst/>
          </a:prstGeom>
          <a:noFill/>
        </p:spPr>
        <p:txBody>
          <a:bodyPr wrap="square">
            <a:spAutoFit/>
          </a:bodyPr>
          <a:lstStyle/>
          <a:p>
            <a:pPr>
              <a:spcAft>
                <a:spcPts val="1000"/>
              </a:spcAft>
              <a:defRPr sz="1100" b="1">
                <a:solidFill>
                  <a:srgbClr val="4F46E5"/>
                </a:solidFill>
                <a:latin typeface="Arial"/>
              </a:defRPr>
            </a:pPr>
            <a:r>
              <a:t>ARCHITECTURAL BLUEPRINT &amp; BLUEPRINTS</a:t>
            </a:r>
          </a:p>
          <a:p>
            <a:pPr>
              <a:lnSpc>
                <a:spcPct val="115000"/>
              </a:lnSpc>
              <a:spcAft>
                <a:spcPts val="800"/>
              </a:spcAft>
              <a:defRPr sz="1300">
                <a:solidFill>
                  <a:srgbClr val="1E293B"/>
                </a:solidFill>
                <a:latin typeface="Arial"/>
              </a:defRPr>
            </a:pPr>
            <a:r>
              <a:t>•   Unified Resource Management: Transitioning to cgroups v2 for single-hierarchy resource distribution, preventing OOM cascading, and enforcing strict CFS bandwidth limits.</a:t>
            </a:r>
          </a:p>
          <a:p>
            <a:pPr>
              <a:lnSpc>
                <a:spcPct val="115000"/>
              </a:lnSpc>
              <a:spcAft>
                <a:spcPts val="800"/>
              </a:spcAft>
              <a:defRPr sz="1300">
                <a:solidFill>
                  <a:srgbClr val="1E293B"/>
                </a:solidFill>
                <a:latin typeface="Arial"/>
              </a:defRPr>
            </a:pPr>
            <a:r>
              <a:t>•   Virtual Memory (VM) Subsystem Tuning: Tweaking vm.dirty_ratio, vm.dirty_background_ratio, and vm.swappiness to optimize disk I/O serialization and page cache reclamation.</a:t>
            </a:r>
          </a:p>
        </p:txBody>
      </p:sp>
      <p:sp>
        <p:nvSpPr>
          <p:cNvPr id="5" name="Rectangle 4"/>
          <p:cNvSpPr/>
          <p:nvPr/>
        </p:nvSpPr>
        <p:spPr>
          <a:xfrm>
            <a:off x="6217920" y="1828800"/>
            <a:ext cx="5212080" cy="3840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828800"/>
            <a:ext cx="5212080" cy="10972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103120"/>
            <a:ext cx="4663440" cy="3291840"/>
          </a:xfrm>
          <a:prstGeom prst="rect">
            <a:avLst/>
          </a:prstGeom>
          <a:noFill/>
        </p:spPr>
        <p:txBody>
          <a:bodyPr wrap="square">
            <a:spAutoFit/>
          </a:bodyPr>
          <a:lstStyle/>
          <a:p>
            <a:pPr>
              <a:spcAft>
                <a:spcPts val="1000"/>
              </a:spcAft>
              <a:defRPr sz="1100" b="1">
                <a:solidFill>
                  <a:srgbClr val="14B8A6"/>
                </a:solidFill>
                <a:latin typeface="Arial"/>
              </a:defRPr>
            </a:pPr>
            <a:r>
              <a:t>ENTERPRISE PRO-TIPS &amp; STRATEGIES</a:t>
            </a:r>
          </a:p>
          <a:p>
            <a:pPr>
              <a:lnSpc>
                <a:spcPct val="115000"/>
              </a:lnSpc>
              <a:spcAft>
                <a:spcPts val="800"/>
              </a:spcAft>
              <a:defRPr sz="1300">
                <a:solidFill>
                  <a:srgbClr val="1E293B"/>
                </a:solidFill>
                <a:latin typeface="Arial"/>
              </a:defRPr>
            </a:pPr>
            <a:r>
              <a:t>•   Network Stack Optimization: Escalating throughput by adjusting net.core.somaxconn, enlarging TCP receive/transmit buffers, and tuning epoll behavior for high-concurrency event loops.</a:t>
            </a:r>
          </a:p>
          <a:p>
            <a:pPr>
              <a:lnSpc>
                <a:spcPct val="115000"/>
              </a:lnSpc>
              <a:spcAft>
                <a:spcPts val="800"/>
              </a:spcAft>
              <a:defRPr sz="1300">
                <a:solidFill>
                  <a:srgbClr val="1E293B"/>
                </a:solidFill>
                <a:latin typeface="Arial"/>
              </a:defRPr>
            </a:pPr>
            <a:r>
              <a:t>•   CPU Scheduler Interventions: Analyzing CFS (Completely Fair Scheduler) latency policies, tuning sched_latency_ns and sched_min_granularity_ns for real-time and batch processing balance.</a:t>
            </a:r>
          </a:p>
          <a:p>
            <a:pPr>
              <a:spcBef>
                <a:spcPts val="1400"/>
              </a:spcBef>
              <a:defRPr sz="1050" b="1">
                <a:solidFill>
                  <a:srgbClr val="4F46E5"/>
                </a:solidFill>
                <a:latin typeface="Arial"/>
              </a:defRPr>
            </a:pPr>
            <a:r>
              <a:t>Key Takeaway: Optimizing scale boundaries requires a holistic tuning of CPU scheduling, memory writebacks, and network socket buffers to match workload I/O characteristics.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1E293B"/>
                </a:solidFill>
                <a:latin typeface="Arial"/>
              </a:defRPr>
            </a:pPr>
            <a:r>
              <a:t>Container Sandboxing &amp; Zero-Trust Host Hardening</a:t>
            </a:r>
          </a:p>
          <a:p>
            <a:pPr>
              <a:spcBef>
                <a:spcPts val="400"/>
              </a:spcBef>
              <a:defRPr sz="1300" b="1">
                <a:solidFill>
                  <a:srgbClr val="4F46E5"/>
                </a:solidFill>
                <a:latin typeface="Arial"/>
              </a:defRPr>
            </a:pPr>
            <a:r>
              <a:t>Deep Dive into Namespaces, Linux Capabilities, seccomp, and LSM Policies</a:t>
            </a:r>
          </a:p>
        </p:txBody>
      </p:sp>
      <p:sp>
        <p:nvSpPr>
          <p:cNvPr id="4" name="TextBox 3"/>
          <p:cNvSpPr txBox="1"/>
          <p:nvPr/>
        </p:nvSpPr>
        <p:spPr>
          <a:xfrm>
            <a:off x="731520" y="1828800"/>
            <a:ext cx="5120640" cy="3840480"/>
          </a:xfrm>
          <a:prstGeom prst="rect">
            <a:avLst/>
          </a:prstGeom>
          <a:noFill/>
        </p:spPr>
        <p:txBody>
          <a:bodyPr wrap="square">
            <a:spAutoFit/>
          </a:bodyPr>
          <a:lstStyle/>
          <a:p>
            <a:pPr>
              <a:spcAft>
                <a:spcPts val="1000"/>
              </a:spcAft>
              <a:defRPr sz="1100" b="1">
                <a:solidFill>
                  <a:srgbClr val="4F46E5"/>
                </a:solidFill>
                <a:latin typeface="Arial"/>
              </a:defRPr>
            </a:pPr>
            <a:r>
              <a:t>ARCHITECTURAL BLUEPRINT &amp; BLUEPRINTS</a:t>
            </a:r>
          </a:p>
          <a:p>
            <a:pPr>
              <a:lnSpc>
                <a:spcPct val="115000"/>
              </a:lnSpc>
              <a:spcAft>
                <a:spcPts val="800"/>
              </a:spcAft>
              <a:defRPr sz="1300">
                <a:solidFill>
                  <a:srgbClr val="1E293B"/>
                </a:solidFill>
                <a:latin typeface="Arial"/>
              </a:defRPr>
            </a:pPr>
            <a:r>
              <a:t>•   Multi-Dimensional Isolation: Leveraging Linux Namespaces (User, PID, Net, Mount, IPC, UTS, cgroup) to establish strict execution boundaries for containerized runtimes.</a:t>
            </a:r>
          </a:p>
          <a:p>
            <a:pPr>
              <a:lnSpc>
                <a:spcPct val="115000"/>
              </a:lnSpc>
              <a:spcAft>
                <a:spcPts val="800"/>
              </a:spcAft>
              <a:defRPr sz="1300">
                <a:solidFill>
                  <a:srgbClr val="1E293B"/>
                </a:solidFill>
                <a:latin typeface="Arial"/>
              </a:defRPr>
            </a:pPr>
            <a:r>
              <a:t>•   Privilege Minimization: Stripping ambient and effective Linux Capabilities (e.g., CAP_SYS_ADMIN, CAP_NET_ADMIN) to enforce the principle of least privilege at the process level.</a:t>
            </a:r>
          </a:p>
        </p:txBody>
      </p:sp>
      <p:sp>
        <p:nvSpPr>
          <p:cNvPr id="5" name="Rectangle 4"/>
          <p:cNvSpPr/>
          <p:nvPr/>
        </p:nvSpPr>
        <p:spPr>
          <a:xfrm>
            <a:off x="6217920" y="1828800"/>
            <a:ext cx="5212080" cy="3840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828800"/>
            <a:ext cx="5212080" cy="10972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103120"/>
            <a:ext cx="4663440" cy="3291840"/>
          </a:xfrm>
          <a:prstGeom prst="rect">
            <a:avLst/>
          </a:prstGeom>
          <a:noFill/>
        </p:spPr>
        <p:txBody>
          <a:bodyPr wrap="square">
            <a:spAutoFit/>
          </a:bodyPr>
          <a:lstStyle/>
          <a:p>
            <a:pPr>
              <a:spcAft>
                <a:spcPts val="1000"/>
              </a:spcAft>
              <a:defRPr sz="1100" b="1">
                <a:solidFill>
                  <a:srgbClr val="14B8A6"/>
                </a:solidFill>
                <a:latin typeface="Arial"/>
              </a:defRPr>
            </a:pPr>
            <a:r>
              <a:t>ENTERPRISE PRO-TIPS &amp; STRATEGIES</a:t>
            </a:r>
          </a:p>
          <a:p>
            <a:pPr>
              <a:lnSpc>
                <a:spcPct val="115000"/>
              </a:lnSpc>
              <a:spcAft>
                <a:spcPts val="800"/>
              </a:spcAft>
              <a:defRPr sz="1300">
                <a:solidFill>
                  <a:srgbClr val="1E293B"/>
                </a:solidFill>
                <a:latin typeface="Arial"/>
              </a:defRPr>
            </a:pPr>
            <a:r>
              <a:t>•   System Call Filtering: Architecting custom seccomp (Secure Computing Mode) profiles to block unauthorized syscalls (e.g., ptrace, sys_chroot), shrinking the kernel attack surface.</a:t>
            </a:r>
          </a:p>
          <a:p>
            <a:pPr>
              <a:lnSpc>
                <a:spcPct val="115000"/>
              </a:lnSpc>
              <a:spcAft>
                <a:spcPts val="800"/>
              </a:spcAft>
              <a:defRPr sz="1300">
                <a:solidFill>
                  <a:srgbClr val="1E293B"/>
                </a:solidFill>
                <a:latin typeface="Arial"/>
              </a:defRPr>
            </a:pPr>
            <a:r>
              <a:t>•   Linux Security Modules (LSM): Designing and enforcing AppArmor profiles or SELinux policies to provide mandatory access control (MAC) on sensitive host paths and sockets.</a:t>
            </a:r>
          </a:p>
          <a:p>
            <a:pPr>
              <a:spcBef>
                <a:spcPts val="1400"/>
              </a:spcBef>
              <a:defRPr sz="1050" b="1">
                <a:solidFill>
                  <a:srgbClr val="4F46E5"/>
                </a:solidFill>
                <a:latin typeface="Arial"/>
              </a:defRPr>
            </a:pPr>
            <a:r>
              <a:t>Key Takeaway: True host security is achieved by layering namespaces with fine-grained capabilities and strict system call filtering to render runtime escapes structurally impossible.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1E293B"/>
                </a:solidFill>
                <a:latin typeface="Arial"/>
              </a:defRPr>
            </a:pPr>
            <a:r>
              <a:t>High-Load Diagnostics &amp; Kernel Observability</a:t>
            </a:r>
          </a:p>
          <a:p>
            <a:pPr>
              <a:spcBef>
                <a:spcPts val="400"/>
              </a:spcBef>
              <a:defRPr sz="1300" b="1">
                <a:solidFill>
                  <a:srgbClr val="4F46E5"/>
                </a:solidFill>
                <a:latin typeface="Arial"/>
              </a:defRPr>
            </a:pPr>
            <a:r>
              <a:t>Troubleshooting Complex Performance Degradation with eBPF, perf, and ftrace</a:t>
            </a:r>
          </a:p>
        </p:txBody>
      </p:sp>
      <p:sp>
        <p:nvSpPr>
          <p:cNvPr id="4" name="TextBox 3"/>
          <p:cNvSpPr txBox="1"/>
          <p:nvPr/>
        </p:nvSpPr>
        <p:spPr>
          <a:xfrm>
            <a:off x="731520" y="1828800"/>
            <a:ext cx="5120640" cy="3840480"/>
          </a:xfrm>
          <a:prstGeom prst="rect">
            <a:avLst/>
          </a:prstGeom>
          <a:noFill/>
        </p:spPr>
        <p:txBody>
          <a:bodyPr wrap="square">
            <a:spAutoFit/>
          </a:bodyPr>
          <a:lstStyle/>
          <a:p>
            <a:pPr>
              <a:spcAft>
                <a:spcPts val="1000"/>
              </a:spcAft>
              <a:defRPr sz="1100" b="1">
                <a:solidFill>
                  <a:srgbClr val="4F46E5"/>
                </a:solidFill>
                <a:latin typeface="Arial"/>
              </a:defRPr>
            </a:pPr>
            <a:r>
              <a:t>ARCHITECTURAL BLUEPRINT &amp; BLUEPRINTS</a:t>
            </a:r>
          </a:p>
          <a:p>
            <a:pPr>
              <a:lnSpc>
                <a:spcPct val="115000"/>
              </a:lnSpc>
              <a:spcAft>
                <a:spcPts val="800"/>
              </a:spcAft>
              <a:defRPr sz="1300">
                <a:solidFill>
                  <a:srgbClr val="1E293B"/>
                </a:solidFill>
                <a:latin typeface="Arial"/>
              </a:defRPr>
            </a:pPr>
            <a:r>
              <a:t>•   Revolutionizing Observability with eBPF: Executing safe, production-grade kernel instrumentation using bpftrace and BCC tools to trace latency distributions without performance overhead.</a:t>
            </a:r>
          </a:p>
          <a:p>
            <a:pPr>
              <a:lnSpc>
                <a:spcPct val="115000"/>
              </a:lnSpc>
              <a:spcAft>
                <a:spcPts val="800"/>
              </a:spcAft>
              <a:defRPr sz="1300">
                <a:solidFill>
                  <a:srgbClr val="1E293B"/>
                </a:solidFill>
                <a:latin typeface="Arial"/>
              </a:defRPr>
            </a:pPr>
            <a:r>
              <a:t>•   Advanced CPU Profiling: Utilizing 'perf record' and generating FlameGraphs to visually pinpoint CPU hotspots, spinlocks, and context-switching overhead in application runtimes.</a:t>
            </a:r>
          </a:p>
        </p:txBody>
      </p:sp>
      <p:sp>
        <p:nvSpPr>
          <p:cNvPr id="5" name="Rectangle 4"/>
          <p:cNvSpPr/>
          <p:nvPr/>
        </p:nvSpPr>
        <p:spPr>
          <a:xfrm>
            <a:off x="6217920" y="1828800"/>
            <a:ext cx="5212080" cy="3840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828800"/>
            <a:ext cx="5212080" cy="10972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103120"/>
            <a:ext cx="4663440" cy="3291840"/>
          </a:xfrm>
          <a:prstGeom prst="rect">
            <a:avLst/>
          </a:prstGeom>
          <a:noFill/>
        </p:spPr>
        <p:txBody>
          <a:bodyPr wrap="square">
            <a:spAutoFit/>
          </a:bodyPr>
          <a:lstStyle/>
          <a:p>
            <a:pPr>
              <a:spcAft>
                <a:spcPts val="1000"/>
              </a:spcAft>
              <a:defRPr sz="1100" b="1">
                <a:solidFill>
                  <a:srgbClr val="14B8A6"/>
                </a:solidFill>
                <a:latin typeface="Arial"/>
              </a:defRPr>
            </a:pPr>
            <a:r>
              <a:t>ENTERPRISE PRO-TIPS &amp; STRATEGIES</a:t>
            </a:r>
          </a:p>
          <a:p>
            <a:pPr>
              <a:lnSpc>
                <a:spcPct val="115000"/>
              </a:lnSpc>
              <a:spcAft>
                <a:spcPts val="800"/>
              </a:spcAft>
              <a:defRPr sz="1300">
                <a:solidFill>
                  <a:srgbClr val="1E293B"/>
                </a:solidFill>
                <a:latin typeface="Arial"/>
              </a:defRPr>
            </a:pPr>
            <a:r>
              <a:t>•   I/O Bottleneck Isolation: Correlating iostat, biolatency (eBPF), and blktrace to distinguish between physical disk saturation, file-system block allocation delays, and lock contention.</a:t>
            </a:r>
          </a:p>
          <a:p>
            <a:pPr>
              <a:lnSpc>
                <a:spcPct val="115000"/>
              </a:lnSpc>
              <a:spcAft>
                <a:spcPts val="800"/>
              </a:spcAft>
              <a:defRPr sz="1300">
                <a:solidFill>
                  <a:srgbClr val="1E293B"/>
                </a:solidFill>
                <a:latin typeface="Arial"/>
              </a:defRPr>
            </a:pPr>
            <a:r>
              <a:t>•   Memory Leak and OOM Analysis: Decoding dmesg kernel ring buffer outputs, analyzing slabtop allocations, and tracking down anonymous memory growths before the kernel OOM-killer triggers.</a:t>
            </a:r>
          </a:p>
          <a:p>
            <a:pPr>
              <a:spcBef>
                <a:spcPts val="1400"/>
              </a:spcBef>
              <a:defRPr sz="1050" b="1">
                <a:solidFill>
                  <a:srgbClr val="4F46E5"/>
                </a:solidFill>
                <a:latin typeface="Arial"/>
              </a:defRPr>
            </a:pPr>
            <a:r>
              <a:t>Key Takeaway: Legacy polling metrics (CPU/RAM %) fail during transient spikes; modern SRE requires event-driven kernel tracing (eBPF) to capture microsecond-level latency anomalies.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F1F5F9"/>
                </a:solidFill>
                <a:latin typeface="Arial"/>
              </a:defRPr>
            </a:pPr>
            <a:r>
              <a:t>Linux Systems Mastery &amp; Operationalization Roadmap</a:t>
            </a:r>
          </a:p>
          <a:p>
            <a:pPr>
              <a:spcBef>
                <a:spcPts val="400"/>
              </a:spcBef>
              <a:defRPr sz="1300" b="1">
                <a:solidFill>
                  <a:srgbClr val="14B8A6"/>
                </a:solidFill>
                <a:latin typeface="Arial"/>
              </a:defRPr>
            </a:pPr>
            <a:r>
              <a:t>A Structured Engineering Path to Implementing Advanced Linux Architecture and Hardening</a:t>
            </a:r>
          </a:p>
        </p:txBody>
      </p:sp>
      <p:sp>
        <p:nvSpPr>
          <p:cNvPr id="4" name="Rectangle 3"/>
          <p:cNvSpPr/>
          <p:nvPr/>
        </p:nvSpPr>
        <p:spPr>
          <a:xfrm>
            <a:off x="731520" y="3474720"/>
            <a:ext cx="106984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03120" y="3364992"/>
            <a:ext cx="256032" cy="256032"/>
          </a:xfrm>
          <a:prstGeom prst="rect">
            <a:avLst/>
          </a:prstGeom>
          <a:solidFill>
            <a:srgbClr val="4F46E5"/>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840480"/>
            <a:ext cx="3200400" cy="2011680"/>
          </a:xfrm>
          <a:prstGeom prst="rect">
            <a:avLst/>
          </a:prstGeom>
          <a:noFill/>
        </p:spPr>
        <p:txBody>
          <a:bodyPr wrap="square">
            <a:spAutoFit/>
          </a:bodyPr>
          <a:lstStyle/>
          <a:p>
            <a:pPr algn="ctr">
              <a:spcAft>
                <a:spcPts val="600"/>
              </a:spcAft>
              <a:defRPr sz="1100" b="1">
                <a:solidFill>
                  <a:srgbClr val="14B8A6"/>
                </a:solidFill>
                <a:latin typeface="Arial"/>
              </a:defRPr>
            </a:pPr>
            <a:r>
              <a:t>MILESTONE 01</a:t>
            </a:r>
          </a:p>
          <a:p>
            <a:pPr algn="ctr">
              <a:defRPr sz="1200">
                <a:solidFill>
                  <a:srgbClr val="F1F5F9"/>
                </a:solidFill>
                <a:latin typeface="Arial"/>
              </a:defRPr>
            </a:pPr>
            <a:r>
              <a:t>Months 1-2 (Foundation &amp; Tuning): Standardize cgroups v2 across all clusters; implement centralized sysctl baseline tuning profiles optimized for high-throughput container networking.</a:t>
            </a:r>
          </a:p>
        </p:txBody>
      </p:sp>
      <p:sp>
        <p:nvSpPr>
          <p:cNvPr id="7" name="Rectangle 6"/>
          <p:cNvSpPr/>
          <p:nvPr/>
        </p:nvSpPr>
        <p:spPr>
          <a:xfrm>
            <a:off x="5852160" y="3364992"/>
            <a:ext cx="256032" cy="256032"/>
          </a:xfrm>
          <a:prstGeom prst="rect">
            <a:avLst/>
          </a:prstGeom>
          <a:solidFill>
            <a:srgbClr val="4F46E5"/>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3840480"/>
            <a:ext cx="3200400" cy="2011680"/>
          </a:xfrm>
          <a:prstGeom prst="rect">
            <a:avLst/>
          </a:prstGeom>
          <a:noFill/>
        </p:spPr>
        <p:txBody>
          <a:bodyPr wrap="square">
            <a:spAutoFit/>
          </a:bodyPr>
          <a:lstStyle/>
          <a:p>
            <a:pPr algn="ctr">
              <a:spcAft>
                <a:spcPts val="600"/>
              </a:spcAft>
              <a:defRPr sz="1100" b="1">
                <a:solidFill>
                  <a:srgbClr val="14B8A6"/>
                </a:solidFill>
                <a:latin typeface="Arial"/>
              </a:defRPr>
            </a:pPr>
            <a:r>
              <a:t>MILESTONE 02</a:t>
            </a:r>
          </a:p>
          <a:p>
            <a:pPr algn="ctr">
              <a:defRPr sz="1200">
                <a:solidFill>
                  <a:srgbClr val="F1F5F9"/>
                </a:solidFill>
                <a:latin typeface="Arial"/>
              </a:defRPr>
            </a:pPr>
            <a:r>
              <a:t>Months 3-4 (Advanced Security Hardening): Integrate automated seccomp and AppArmor profile generation into CI/CD pipelines; audit and strip non-essential Linux capabilities from all runtimes.</a:t>
            </a:r>
          </a:p>
        </p:txBody>
      </p:sp>
      <p:sp>
        <p:nvSpPr>
          <p:cNvPr id="9" name="Rectangle 8"/>
          <p:cNvSpPr/>
          <p:nvPr/>
        </p:nvSpPr>
        <p:spPr>
          <a:xfrm>
            <a:off x="9601200" y="3364992"/>
            <a:ext cx="256032" cy="256032"/>
          </a:xfrm>
          <a:prstGeom prst="rect">
            <a:avLst/>
          </a:prstGeom>
          <a:solidFill>
            <a:srgbClr val="4F46E5"/>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840480"/>
            <a:ext cx="3200400" cy="2011680"/>
          </a:xfrm>
          <a:prstGeom prst="rect">
            <a:avLst/>
          </a:prstGeom>
          <a:noFill/>
        </p:spPr>
        <p:txBody>
          <a:bodyPr wrap="square">
            <a:spAutoFit/>
          </a:bodyPr>
          <a:lstStyle/>
          <a:p>
            <a:pPr algn="ctr">
              <a:spcAft>
                <a:spcPts val="600"/>
              </a:spcAft>
              <a:defRPr sz="1100" b="1">
                <a:solidFill>
                  <a:srgbClr val="14B8A6"/>
                </a:solidFill>
                <a:latin typeface="Arial"/>
              </a:defRPr>
            </a:pPr>
            <a:r>
              <a:t>MILESTONE 03</a:t>
            </a:r>
          </a:p>
          <a:p>
            <a:pPr algn="ctr">
              <a:defRPr sz="1200">
                <a:solidFill>
                  <a:srgbClr val="F1F5F9"/>
                </a:solidFill>
                <a:latin typeface="Arial"/>
              </a:defRPr>
            </a:pPr>
            <a:r>
              <a:t>Months 5-6 (Kernel Tracing &amp; Observability): Deploy eBPF-based host monitoring agents (e.g., Cilium Tetragon, Pixie); establish a training program for SREs on bpftrace and CPU flamegraph generation.</a:t>
            </a:r>
          </a:p>
        </p:txBody>
      </p:sp>
      <p:sp>
        <p:nvSpPr>
          <p:cNvPr id="11" name="TextBox 10"/>
          <p:cNvSpPr txBox="1"/>
          <p:nvPr/>
        </p:nvSpPr>
        <p:spPr>
          <a:xfrm>
            <a:off x="731520" y="5943600"/>
            <a:ext cx="10698480" cy="457200"/>
          </a:xfrm>
          <a:prstGeom prst="rect">
            <a:avLst/>
          </a:prstGeom>
          <a:noFill/>
        </p:spPr>
        <p:txBody>
          <a:bodyPr wrap="none">
            <a:spAutoFit/>
          </a:bodyPr>
          <a:lstStyle/>
          <a:p>
            <a:pPr algn="ctr">
              <a:defRPr sz="1100" b="1">
                <a:solidFill>
                  <a:srgbClr val="14B8A6"/>
                </a:solidFill>
                <a:latin typeface="Arial"/>
              </a:defRPr>
            </a:pPr>
            <a:r>
              <a:t>Goal: Transforming organizational infrastructure requires a phased transition from reactive administration to proactive, automated kernel-level performance tuning and security instrumentation.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