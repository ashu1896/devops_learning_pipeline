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1 of our Ansible Enterprise series. Today we are laying down the foundational bedrock. We will discuss why Ansible's agentless model is a game-changer for scale, how to structure your control nodes, and how to establish a robust configuration baseline that prevents configuration drift across thousands of nodes.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designing your topology, avoid static inventories in production. Use dynamic inventory plugins that pull directly from your cloud providers or CMDB. Pay special attention to 'ansible.cfg' tuning—enabling SSH pipelining and configuring ControlPersist can reduce playbook execution times by up to 50% across large fleets.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commit plaintext secrets to git. Use Ansible Vault for local development, but transition to HashiCorp Vault or AWS Secrets Manager lookup plugins for production CI/CD. Ensure your managed nodes have highly restricted sudo rules—Ansible should only execute what is absolutely necessary under elevated privileges.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SREs, safety is paramount. Always run your playbooks with '--check --diff' in your staging pipelines. If a failure occurs, use structured block-rescue blocks to trigger rollbacks or alert incident response channels automatically. Remember to configure fact caching to prevent DDOSing your own infrastructure during large-scale runs.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roadmap is designed to take your organization from manual, ad-hoc execution to a mature, self-healing GitOps model. Focus heavily on testing with Molecule in months 3 and 4; reliable code is tested code. By month 6, your team will treat infrastructure strictly as software.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Ansible Foundations: Architecture &amp; Core Topology</a:t>
            </a:r>
          </a:p>
          <a:p>
            <a:pPr>
              <a:spcBef>
                <a:spcPts val="1000"/>
              </a:spcBef>
              <a:defRPr sz="1600">
                <a:solidFill>
                  <a:srgbClr val="94A3B8"/>
                </a:solidFill>
                <a:latin typeface="Arial"/>
              </a:defRPr>
            </a:pPr>
            <a:r>
              <a:t>Part 1: Establishing Immutable Configuration Control &amp; Agentless Orchestration at Scale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Control Planes, Inventories, and Execution Mechanics</a:t>
            </a:r>
          </a:p>
          <a:p>
            <a:pPr>
              <a:spcBef>
                <a:spcPts val="400"/>
              </a:spcBef>
              <a:defRPr sz="1300" b="1">
                <a:solidFill>
                  <a:srgbClr val="4F46E5"/>
                </a:solidFill>
                <a:latin typeface="Arial"/>
              </a:defRPr>
            </a:pPr>
            <a:r>
              <a:t>Architecting the Foundational Topology for Predictable Automation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Control Node vs. Managed Nodes: Isolating execution environments using Ansible Execution Environments (EE) and containerized runners to prevent dependency drift.</a:t>
            </a:r>
          </a:p>
          <a:p>
            <a:pPr>
              <a:lnSpc>
                <a:spcPct val="115000"/>
              </a:lnSpc>
              <a:spcAft>
                <a:spcPts val="800"/>
              </a:spcAft>
              <a:defRPr sz="1300">
                <a:solidFill>
                  <a:srgbClr val="1E293B"/>
                </a:solidFill>
                <a:latin typeface="Arial"/>
              </a:defRPr>
            </a:pPr>
            <a:r>
              <a:t>•   Dynamic Inventories &amp; Grouping: Structuring multi-cloud and on-prem assets using dynamic inventory plugins, group_vars, and host_vars inheritance hierarchies.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Ad-Hoc Commands vs. Playbooks: Utilizing ad-hoc modules (ping, shell, setup) for real-time state inspection, transitioning to idempotent playbooks for policy enforcement.</a:t>
            </a:r>
          </a:p>
          <a:p>
            <a:pPr>
              <a:lnSpc>
                <a:spcPct val="115000"/>
              </a:lnSpc>
              <a:spcAft>
                <a:spcPts val="800"/>
              </a:spcAft>
              <a:defRPr sz="1300">
                <a:solidFill>
                  <a:srgbClr val="1E293B"/>
                </a:solidFill>
                <a:latin typeface="Arial"/>
              </a:defRPr>
            </a:pPr>
            <a:r>
              <a:t>•   The Ansible Configuration Engine: Tuning ansible.cfg parameters including pipelining, fork limits (serial execution), and SSH multiplexing (ControlPersist) for high performance.</a:t>
            </a:r>
          </a:p>
          <a:p>
            <a:pPr>
              <a:spcBef>
                <a:spcPts val="1400"/>
              </a:spcBef>
              <a:defRPr sz="1050" b="1">
                <a:solidFill>
                  <a:srgbClr val="4F46E5"/>
                </a:solidFill>
                <a:latin typeface="Arial"/>
              </a:defRPr>
            </a:pPr>
            <a:r>
              <a:t>Key Takeaway: A well-architected inventory structure and optimized execution engine form the structural backbone of high-performance, predictable automation.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the Control Loop: Hardening and Vault Integration</a:t>
            </a:r>
          </a:p>
          <a:p>
            <a:pPr>
              <a:spcBef>
                <a:spcPts val="400"/>
              </a:spcBef>
              <a:defRPr sz="1300" b="1">
                <a:solidFill>
                  <a:srgbClr val="4F46E5"/>
                </a:solidFill>
                <a:latin typeface="Arial"/>
              </a:defRPr>
            </a:pPr>
            <a:r>
              <a:t>Mitigating Privilege Escalation and Securing Secrets in Part 1 Topologies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Ansible Vault &amp; Secret Management: Encrypting sensitive variables and files at rest, integrating with external KMS and HashiCorp Vault via lookup plugins.</a:t>
            </a:r>
          </a:p>
          <a:p>
            <a:pPr>
              <a:lnSpc>
                <a:spcPct val="115000"/>
              </a:lnSpc>
              <a:spcAft>
                <a:spcPts val="800"/>
              </a:spcAft>
              <a:defRPr sz="1300">
                <a:solidFill>
                  <a:srgbClr val="1E293B"/>
                </a:solidFill>
                <a:latin typeface="Arial"/>
              </a:defRPr>
            </a:pPr>
            <a:r>
              <a:t>•   Least-Privilege Privilege Escalation: Configuring secure 'become_method' (sudo/doas) with highly restricted, audited passwordless sudo rules on managed nodes.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Secure SSH Key Management &amp; Transport: Implementing SSH agent forwarding, strict host-key checking, and rotating SSH keys via automation.</a:t>
            </a:r>
          </a:p>
          <a:p>
            <a:pPr>
              <a:lnSpc>
                <a:spcPct val="115000"/>
              </a:lnSpc>
              <a:spcAft>
                <a:spcPts val="800"/>
              </a:spcAft>
              <a:defRPr sz="1300">
                <a:solidFill>
                  <a:srgbClr val="1E293B"/>
                </a:solidFill>
                <a:latin typeface="Arial"/>
              </a:defRPr>
            </a:pPr>
            <a:r>
              <a:t>•   Linting and Static Analysis: Integrating ansible-lint and yamllint into pre-commit hooks to enforce syntax standards and security best practices before execution.</a:t>
            </a:r>
          </a:p>
          <a:p>
            <a:pPr>
              <a:spcBef>
                <a:spcPts val="1400"/>
              </a:spcBef>
              <a:defRPr sz="1050" b="1">
                <a:solidFill>
                  <a:srgbClr val="4F46E5"/>
                </a:solidFill>
                <a:latin typeface="Arial"/>
              </a:defRPr>
            </a:pPr>
            <a:r>
              <a:t>Key Takeaway: Security is not an afterthought; securing the control node, managing secrets via Vault, and enforcing strict linting are mandatory prerequisites for production deployment.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Execution Safety: Troubleshooting, Drift Detection, and Dry-Runs</a:t>
            </a:r>
          </a:p>
          <a:p>
            <a:pPr>
              <a:spcBef>
                <a:spcPts val="400"/>
              </a:spcBef>
              <a:defRPr sz="1300" b="1">
                <a:solidFill>
                  <a:srgbClr val="4F46E5"/>
                </a:solidFill>
                <a:latin typeface="Arial"/>
              </a:defRPr>
            </a:pPr>
            <a:r>
              <a:t>Maintaining Operational Reliability and Diagnosing Execution Failures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Idempotency &amp; Dry-Runs: Using '--check' (dry-run) and '--diff' modes to safely preview state changes and detect configuration drift without altering live systems.</a:t>
            </a:r>
          </a:p>
          <a:p>
            <a:pPr>
              <a:lnSpc>
                <a:spcPct val="115000"/>
              </a:lnSpc>
              <a:spcAft>
                <a:spcPts val="800"/>
              </a:spcAft>
              <a:defRPr sz="1300">
                <a:solidFill>
                  <a:srgbClr val="1E293B"/>
                </a:solidFill>
                <a:latin typeface="Arial"/>
              </a:defRPr>
            </a:pPr>
            <a:r>
              <a:t>•   Debugging &amp; Verbosity: Mastering execution diagnostics using '-vvvv' verbosity, the 'debug' module, and analyzing 'register' variable outputs.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Failure Handling &amp; Resilience: Implementing 'block-rescue-always' structures, 'ignore_errors', and 'failed_when' conditions to gracefully handle transient network or system faults.</a:t>
            </a:r>
          </a:p>
          <a:p>
            <a:pPr>
              <a:lnSpc>
                <a:spcPct val="115000"/>
              </a:lnSpc>
              <a:spcAft>
                <a:spcPts val="800"/>
              </a:spcAft>
              <a:defRPr sz="1300">
                <a:solidFill>
                  <a:srgbClr val="1E293B"/>
                </a:solidFill>
                <a:latin typeface="Arial"/>
              </a:defRPr>
            </a:pPr>
            <a:r>
              <a:t>•   State Fact Gathering: Leveraging the setup module to optimize execution speed by caching facts (Redis/Jsonfile) and disabling gathering when unnecessary.</a:t>
            </a:r>
          </a:p>
          <a:p>
            <a:pPr>
              <a:spcBef>
                <a:spcPts val="1400"/>
              </a:spcBef>
              <a:defRPr sz="1050" b="1">
                <a:solidFill>
                  <a:srgbClr val="4F46E5"/>
                </a:solidFill>
                <a:latin typeface="Arial"/>
              </a:defRPr>
            </a:pPr>
            <a:r>
              <a:t>Key Takeaway: Resilient automation requires proactive drift detection, structured error-handling patterns, and deep visibility into system state transitions.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Roadmap: Scaling from Foundations to Enterprise GitOps</a:t>
            </a:r>
          </a:p>
          <a:p>
            <a:pPr>
              <a:spcBef>
                <a:spcPts val="400"/>
              </a:spcBef>
              <a:defRPr sz="1300" b="1">
                <a:solidFill>
                  <a:srgbClr val="14B8A6"/>
                </a:solidFill>
                <a:latin typeface="Arial"/>
              </a:defRPr>
            </a:pPr>
            <a:r>
              <a:t>A 6-Month Phased Blueprint for Ansible Platform Maturity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Establish control node baselines, configure standard dynamic inventories, enforce ansible-lint in CI, and secure all secrets using Ansible Vault.</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Standardize reusable roles, implement Molecule for unit-testing playbooks in ephemeral containers, and optimize SSH transport performance.</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Transition to a GitOps model using AWX/Ansible Automation Controller, implement event-driven automation, and integrate with enterprise monitoring tools.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True Ansible mastery evolves from basic command execution to a fully automated, tested, and event-driven GitOps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