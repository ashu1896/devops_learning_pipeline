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final segment of our Jenkins mastery series! Today, we shift our focus from initial setup and pipeline development to the crucial aspects of running Jenkins reliably and securely in production. We'll dive deep into Site Reliability Engineering principles tailored for CI/CD, covering everything from architectural resilience to rapid incident response and continuous improvement through blameless post-mortems.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production architecture isn't just about making Jenkins 'work'; it's about making it resilient. We'll discuss how to avoid single points of failure with redundant controllers and scale agents dynamically. Crucially, a 'black box' Jenkins is a liability. We'll explore integrating industry-standard monitoring and logging solutions to gain deep insights into its health and performance, which is fundamental for SRE.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production context, security isn't an afterthought; it's interwoven into every layer. We'll discuss how to lock down access, manage sensitive credentials securely, and segment our network infrastructure. More importantly, we'll talk about integrating security tooling directly into our CI/CD pipelines, making security an inherent part of the development and deployment process, not just a final audit.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rubber meets the road. We'll dive into practical SRE techniques. I'll walk you through creating Prometheus alerts that actually matter, like detecting a growing build queue or high build failure rates. We'll cover how to perform deep diagnostics on a misbehaving Jenkins controller or agent, using tools like `jstack` or analyzing GC logs. Finally, we'll discuss the critical role of runbooks in standardizing incident response and how blameless RCAs drive long-term reliability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provides a structured approach to elevating your Jenkins operations. It's not about doing everything at once, but rather building capability incrementally. Start with robust observability, then mature your incident response, harden your security, and finally focus on advanced resilience and continuous learning. Remember, the goal is not just to keep Jenkins running, but to make it a highly reliable, secure, and performant cornerstone of your development lifecycle.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Mastering Jenkins: Production SRE &amp; Operational Excellence (Part 3/3)</a:t>
            </a:r>
          </a:p>
          <a:p>
            <a:pPr>
              <a:spcBef>
                <a:spcPts val="1000"/>
              </a:spcBef>
              <a:defRPr sz="1600">
                <a:solidFill>
                  <a:srgbClr val="94A3B8"/>
                </a:solidFill>
                <a:latin typeface="Arial"/>
              </a:defRPr>
            </a:pPr>
            <a:r>
              <a:t>Architecting for Resilience, Observability, and Rapid Incident Resolution</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Core Concepts: Production Architecture &amp; Observability</a:t>
            </a:r>
          </a:p>
          <a:p>
            <a:pPr>
              <a:spcBef>
                <a:spcPts val="400"/>
              </a:spcBef>
              <a:defRPr sz="1300" b="1">
                <a:solidFill>
                  <a:srgbClr val="4F46E5"/>
                </a:solidFill>
                <a:latin typeface="Arial"/>
              </a:defRPr>
            </a:pPr>
            <a:r>
              <a:t>Building a Foundation for Resilient and Monitored Jenkins Deployments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**High Availability Architecture:** Implementing redundant Jenkins controllers (e.g., Active/Passive, Kubernetes StatefulSets) and shared, resilient storage solutions (e.g., NFS, EFS, Persistent Volumes).</a:t>
            </a:r>
          </a:p>
          <a:p>
            <a:pPr>
              <a:lnSpc>
                <a:spcPct val="115000"/>
              </a:lnSpc>
              <a:spcAft>
                <a:spcPts val="800"/>
              </a:spcAft>
              <a:defRPr sz="1300">
                <a:solidFill>
                  <a:srgbClr val="1E293B"/>
                </a:solidFill>
                <a:latin typeface="Arial"/>
              </a:defRPr>
            </a:pPr>
            <a:r>
              <a:t>•   **Distributed Agent Infrastructure:** Designing dynamic agent provisioning (e.g., Kubernetes, EC2, Azure VM Scale Sets) for elasticity, isolation, and workload balancing.</a:t>
            </a:r>
          </a:p>
          <a:p>
            <a:pPr>
              <a:lnSpc>
                <a:spcPct val="115000"/>
              </a:lnSpc>
              <a:spcAft>
                <a:spcPts val="800"/>
              </a:spcAft>
              <a:defRPr sz="1300">
                <a:solidFill>
                  <a:srgbClr val="1E293B"/>
                </a:solidFill>
                <a:latin typeface="Arial"/>
              </a:defRPr>
            </a:pPr>
            <a:r>
              <a:t>•   **Comprehensive Monitoring Stack:** Integrating Prometheus for metric collection (Jenkins JMX Exporter, Node Exporter), Grafana for dashboards, and Alertmanager for notifications.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**Centralized Logging Strategy:** Aggregating Jenkins controller and agent logs into a unified platform (e.g., ELK Stack, Loki, Splunk) for efficient analysis and troubleshooting.</a:t>
            </a:r>
          </a:p>
          <a:p>
            <a:pPr>
              <a:lnSpc>
                <a:spcPct val="115000"/>
              </a:lnSpc>
              <a:spcAft>
                <a:spcPts val="800"/>
              </a:spcAft>
              <a:defRPr sz="1300">
                <a:solidFill>
                  <a:srgbClr val="1E293B"/>
                </a:solidFill>
                <a:latin typeface="Arial"/>
              </a:defRPr>
            </a:pPr>
            <a:r>
              <a:t>•   **Observability Principles for CI/CD:** Defining key SLIs/SLOs for build success rates, queue times, pipeline execution durations, and system uptime to drive operational health.</a:t>
            </a:r>
          </a:p>
          <a:p>
            <a:pPr>
              <a:spcBef>
                <a:spcPts val="1400"/>
              </a:spcBef>
              <a:defRPr sz="1050" b="1">
                <a:solidFill>
                  <a:srgbClr val="4F46E5"/>
                </a:solidFill>
                <a:latin typeface="Arial"/>
              </a:defRPr>
            </a:pPr>
            <a:r>
              <a:t>Key Takeaway: A robust production Jenkins environment relies on a highly available architecture coupled with a full-stack observability strategy encompassing metrics, logs, and traces.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Security &amp; DevSecOps for Production Jenkins</a:t>
            </a:r>
          </a:p>
          <a:p>
            <a:pPr>
              <a:spcBef>
                <a:spcPts val="400"/>
              </a:spcBef>
              <a:defRPr sz="1300" b="1">
                <a:solidFill>
                  <a:srgbClr val="4F46E5"/>
                </a:solidFill>
                <a:latin typeface="Arial"/>
              </a:defRPr>
            </a:pPr>
            <a:r>
              <a:t>Securing the CI/CD Pipeline and Data at Scale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**Least Privilege Access Control:** Implementing granular RBAC for Jenkins users, projects, and agents. Securing agent connectivity with SSH keys or mTLS.</a:t>
            </a:r>
          </a:p>
          <a:p>
            <a:pPr>
              <a:lnSpc>
                <a:spcPct val="115000"/>
              </a:lnSpc>
              <a:spcAft>
                <a:spcPts val="800"/>
              </a:spcAft>
              <a:defRPr sz="1300">
                <a:solidFill>
                  <a:srgbClr val="1E293B"/>
                </a:solidFill>
                <a:latin typeface="Arial"/>
              </a:defRPr>
            </a:pPr>
            <a:r>
              <a:t>•   **Advanced Secret Management:** Integrating with external secret stores (e.g., HashiCorp Vault, Kubernetes Secrets, AWS Secrets Manager) for dynamic, short-lived credentials for pipelines and agents.</a:t>
            </a:r>
          </a:p>
          <a:p>
            <a:pPr>
              <a:lnSpc>
                <a:spcPct val="115000"/>
              </a:lnSpc>
              <a:spcAft>
                <a:spcPts val="800"/>
              </a:spcAft>
              <a:defRPr sz="1300">
                <a:solidFill>
                  <a:srgbClr val="1E293B"/>
                </a:solidFill>
                <a:latin typeface="Arial"/>
              </a:defRPr>
            </a:pPr>
            <a:r>
              <a:t>•   **Network Segmentation &amp; Firewalling:** Isolating Jenkins controller and agent networks, restricting inbound/outbound traffic to only necessary ports and services.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**Secure Configuration Baselines:** Automating configuration management (e.g., JCasC) to enforce security best practices and prevent configuration drift.</a:t>
            </a:r>
          </a:p>
          <a:p>
            <a:pPr>
              <a:lnSpc>
                <a:spcPct val="115000"/>
              </a:lnSpc>
              <a:spcAft>
                <a:spcPts val="800"/>
              </a:spcAft>
              <a:defRPr sz="1300">
                <a:solidFill>
                  <a:srgbClr val="1E293B"/>
                </a:solidFill>
                <a:latin typeface="Arial"/>
              </a:defRPr>
            </a:pPr>
            <a:r>
              <a:t>•   **DevSecOps Integration:** Incorporating vulnerability scanning (SAST/DAST), dependency checking, and compliance gates directly within Jenkins pipelines to shift security left.</a:t>
            </a:r>
          </a:p>
          <a:p>
            <a:pPr>
              <a:spcBef>
                <a:spcPts val="1400"/>
              </a:spcBef>
              <a:defRPr sz="1050" b="1">
                <a:solidFill>
                  <a:srgbClr val="4F46E5"/>
                </a:solidFill>
                <a:latin typeface="Arial"/>
              </a:defRPr>
            </a:pPr>
            <a:r>
              <a:t>Key Takeaway: Security in a production Jenkins environment is a continuous process, demanding layered defenses from network isolation to automated secret management and integrated DevSecOps practices.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Incident Management &amp; Troubleshooting</a:t>
            </a:r>
          </a:p>
          <a:p>
            <a:pPr>
              <a:spcBef>
                <a:spcPts val="400"/>
              </a:spcBef>
              <a:defRPr sz="1300" b="1">
                <a:solidFill>
                  <a:srgbClr val="4F46E5"/>
                </a:solidFill>
                <a:latin typeface="Arial"/>
              </a:defRPr>
            </a:pPr>
            <a:r>
              <a:t>Proactive Monitoring, Alerting, and Rapid Resolution for Jenkins Operations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**Custom Prometheus Alerting Rules:** Developing specific rules for critical Jenkins metrics (e.g., `jenkins_queue_size &gt; 50`, `jenkins_executor_idle_percent &lt; 10`, `jenkins_build_failures_total_rate_5m &gt; 0.1`).</a:t>
            </a:r>
          </a:p>
          <a:p>
            <a:pPr>
              <a:lnSpc>
                <a:spcPct val="115000"/>
              </a:lnSpc>
              <a:spcAft>
                <a:spcPts val="800"/>
              </a:spcAft>
              <a:defRPr sz="1300">
                <a:solidFill>
                  <a:srgbClr val="1E293B"/>
                </a:solidFill>
                <a:latin typeface="Arial"/>
              </a:defRPr>
            </a:pPr>
            <a:r>
              <a:t>•   **Advanced Diagnostics for Controller:** Generating and analyzing thread dumps (e.g., `jstack`) for deadlocks/contention, heap dumps (e.g., `jmap`) for memory leaks, and GC logs for JVM tuning.</a:t>
            </a:r>
          </a:p>
          <a:p>
            <a:pPr>
              <a:lnSpc>
                <a:spcPct val="115000"/>
              </a:lnSpc>
              <a:spcAft>
                <a:spcPts val="800"/>
              </a:spcAft>
              <a:defRPr sz="1300">
                <a:solidFill>
                  <a:srgbClr val="1E293B"/>
                </a:solidFill>
                <a:latin typeface="Arial"/>
              </a:defRPr>
            </a:pPr>
            <a:r>
              <a:t>•   **Agent-Level Troubleshooting:** Diagnosing agent connectivity issues, resource exhaustion (CPU/memory), disk space, and networking problems using system tools and agent logs.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**Structured Incident Runbooks:** Creating clear, actionable, and version-controlled runbooks for common Jenkins incidents (e.g., controller unresponsiveness, agent offline, build storm, plugin failures).</a:t>
            </a:r>
          </a:p>
          <a:p>
            <a:pPr>
              <a:lnSpc>
                <a:spcPct val="115000"/>
              </a:lnSpc>
              <a:spcAft>
                <a:spcPts val="800"/>
              </a:spcAft>
              <a:defRPr sz="1300">
                <a:solidFill>
                  <a:srgbClr val="1E293B"/>
                </a:solidFill>
                <a:latin typeface="Arial"/>
              </a:defRPr>
            </a:pPr>
            <a:r>
              <a:t>•   **Root Cause Analysis (RCA) &amp; Post-Mortems:** Implementing a blameless post-mortem process to identify systemic issues, document lessons learned, and drive preventative actions and continuous improvement.</a:t>
            </a:r>
          </a:p>
          <a:p>
            <a:pPr>
              <a:spcBef>
                <a:spcPts val="1400"/>
              </a:spcBef>
              <a:defRPr sz="1050" b="1">
                <a:solidFill>
                  <a:srgbClr val="4F46E5"/>
                </a:solidFill>
                <a:latin typeface="Arial"/>
              </a:defRPr>
            </a:pPr>
            <a:r>
              <a:t>Key Takeaway: Effective SRE for Jenkins involves proactive monitoring with intelligent alerts, deep diagnostic capabilities, well-defined incident response procedures, and a robust RCA process.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Mastery Roadmap</a:t>
            </a:r>
          </a:p>
          <a:p>
            <a:pPr>
              <a:spcBef>
                <a:spcPts val="400"/>
              </a:spcBef>
              <a:defRPr sz="1300" b="1">
                <a:solidFill>
                  <a:srgbClr val="14B8A6"/>
                </a:solidFill>
                <a:latin typeface="Arial"/>
              </a:defRPr>
            </a:pPr>
            <a:r>
              <a:t>Your Path to Advanced Jenkins SRE and Operational Excellence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Establish Foundational Observability:** Implement comprehensive Prometheus/Grafana dashboards, integrate centralized logging, and define initial SLIs/SLOs for critical pipelines.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2-3: Develop &amp; Refine Incident Response:** Author detailed runbooks for top 5 common incidents, integrate Alertmanager with on-call rotation systems, and conduct tabletop incident exercises.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3-4: Enhance Security Posture:** Transition to external secret management, implement network segmentation for Jenkins, and automate security scanning within key pipelines.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Mastering Jenkins operations is a journey of continuous improvement, blending proactive architectural design with disciplined incident management and security best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