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Part 1 of our Jenkins Mastery Series. Today, we transition from legacy, snowflake Jenkins instances to modern, enterprise-grade, configuration-as-code architectures. We will dissect how to decouple the controller from execution planes, enforce declarative standards, and build a resilient foundation that SRE and DevOps teams can scale horizontally without administrative overhead.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architectural layout, we highlight the absolute isolation of the Controller. The Controller's sole responsibility is scheduling, orchestration, and UI/API presentation. Build workloads must run on isolated Agents. By leveraging Jenkins Configuration as Code (JCasC) alongside Declarative Pipelines, we eliminate the 'snowflake server' anti-pattern, allowing us to reconstruct our entire Jenkins environment from a git repository in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cannot be an afterthought in CI/CD. We must harden Jenkins immediately upon deployment. This means turning on Agent-to-Controller Access Control to ensure a compromised agent cannot read arbitrary files on the controller. We also replace local user databases with enterprise OIDC providers and strictly limit credential scopes using Jenkins Folders. This prevents credential leakage across different engineering teams.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SREs, our biggest pain points with Jenkins are JVM OutOfMemory errors and blocked threads. We must configure the G1 Garbage Collector and set explicit memory limits. If the UI hangs, we immediately generate a thread dump to see if a plugin is blocking the main execution thread. Additionally, we use Jenkins CLI scripts to automate safe restarts and run runtime Groovy diagnostics without taking the system offline.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roadmap outlines a structured path to modernize your CI/CD estate. We start by eliminating manual GUI configurations through JCasC and Declarative Pipelines. Next, we transition from static VMs to dynamic Kubernetes pods for our agent pool, driving down cloud costs and eliminating workspace contamination. Finally, we scale our operations through Shared Libraries and deep SRE observability, turning Jenkins into a highly reliable engine for enterprise continuous delivery.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Jenkins Foundations: Architecture, Scaling, and Core Topologies</a:t>
            </a:r>
          </a:p>
          <a:p>
            <a:pPr>
              <a:spcBef>
                <a:spcPts val="1000"/>
              </a:spcBef>
              <a:defRPr sz="1600">
                <a:solidFill>
                  <a:srgbClr val="94A3B8"/>
                </a:solidFill>
                <a:latin typeface="Arial"/>
              </a:defRPr>
            </a:pPr>
            <a:r>
              <a:t>Part 1: Mastering Controller-Agent Topologies, Declarative Pipelines, and Base Security</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Decoupled Jenkins Architecture &amp; Distributed Execution</a:t>
            </a:r>
          </a:p>
          <a:p>
            <a:pPr>
              <a:spcBef>
                <a:spcPts val="400"/>
              </a:spcBef>
              <a:defRPr sz="1300" b="1">
                <a:solidFill>
                  <a:srgbClr val="4F46E5"/>
                </a:solidFill>
                <a:latin typeface="Arial"/>
              </a:defRPr>
            </a:pPr>
            <a:r>
              <a:t>Transitioning from Monolithic Controllers to Dynamic Agent Pools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Controller-Agent Topology: Offload 100% of build execution from the controller to remote agents via SSH, inbound agents (JNLP), or dynamic Kubernetes pods.</a:t>
            </a:r>
          </a:p>
          <a:p>
            <a:pPr>
              <a:lnSpc>
                <a:spcPct val="115000"/>
              </a:lnSpc>
              <a:spcAft>
                <a:spcPts val="800"/>
              </a:spcAft>
              <a:defRPr sz="1300">
                <a:solidFill>
                  <a:srgbClr val="1E293B"/>
                </a:solidFill>
                <a:latin typeface="Arial"/>
              </a:defRPr>
            </a:pPr>
            <a:r>
              <a:t>•   Jenkins Configuration as Code (JCasC): Define the entire system configuration (credentials, plugins, views, security realms) in a single YAML file, treated as single source of truth.</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Declarative vs. Scripted Pipelines: Enforce Declarative pipelines (using Jenkinsfile) to guarantee structured execution, built-in post-actions, and strict syntax validation.</a:t>
            </a:r>
          </a:p>
          <a:p>
            <a:pPr>
              <a:lnSpc>
                <a:spcPct val="115000"/>
              </a:lnSpc>
              <a:spcAft>
                <a:spcPts val="800"/>
              </a:spcAft>
              <a:defRPr sz="1300">
                <a:solidFill>
                  <a:srgbClr val="1E293B"/>
                </a:solidFill>
                <a:latin typeface="Arial"/>
              </a:defRPr>
            </a:pPr>
            <a:r>
              <a:t>•   Workspace Isolation &amp; File Systems: Implement dedicated agent workspaces with robust cleaning policies using the 'wipeWorkspace' step or transient container filesystems.</a:t>
            </a:r>
          </a:p>
          <a:p>
            <a:pPr>
              <a:spcBef>
                <a:spcPts val="1400"/>
              </a:spcBef>
              <a:defRPr sz="1050" b="1">
                <a:solidFill>
                  <a:srgbClr val="4F46E5"/>
                </a:solidFill>
                <a:latin typeface="Arial"/>
              </a:defRPr>
            </a:pPr>
            <a:r>
              <a:t>Key Takeaway: Never run build workloads on the Jenkins Controller; isolate state on the controller and dynamically scale execution on ephemeral agents.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Zero-Trust Jenkins: Hardening &amp; Base Security Controls</a:t>
            </a:r>
          </a:p>
          <a:p>
            <a:pPr>
              <a:spcBef>
                <a:spcPts val="400"/>
              </a:spcBef>
              <a:defRPr sz="1300" b="1">
                <a:solidFill>
                  <a:srgbClr val="4F46E5"/>
                </a:solidFill>
                <a:latin typeface="Arial"/>
              </a:defRPr>
            </a:pPr>
            <a:r>
              <a:t>Securing the Controller, Enforcing RBAC, and Secret Management</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Role-Based Access Control (RBAC): Integrate with LDAP/Active Directory or OIDC (Okta/Keycloak) and enforce the Principle of Least Privilege via Matrix Authorization Strategy.</a:t>
            </a:r>
          </a:p>
          <a:p>
            <a:pPr>
              <a:lnSpc>
                <a:spcPct val="115000"/>
              </a:lnSpc>
              <a:spcAft>
                <a:spcPts val="800"/>
              </a:spcAft>
              <a:defRPr sz="1300">
                <a:solidFill>
                  <a:srgbClr val="1E293B"/>
                </a:solidFill>
                <a:latin typeface="Arial"/>
              </a:defRPr>
            </a:pPr>
            <a:r>
              <a:t>•   Secure Credentials Management: Eliminate hardcoded credentials; use Jenkins Credentials Provider bound strictly to specific folders, or inject secrets dynamically from HashiCorp Vault.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Agent Security &amp; Agent-to-Controller Access Control: Enable 'Agent-to-Controller Access Control' to prevent compromised agents from executing unauthorized commands on the controller file system.</a:t>
            </a:r>
          </a:p>
          <a:p>
            <a:pPr>
              <a:lnSpc>
                <a:spcPct val="115000"/>
              </a:lnSpc>
              <a:spcAft>
                <a:spcPts val="800"/>
              </a:spcAft>
              <a:defRPr sz="1300">
                <a:solidFill>
                  <a:srgbClr val="1E293B"/>
                </a:solidFill>
                <a:latin typeface="Arial"/>
              </a:defRPr>
            </a:pPr>
            <a:r>
              <a:t>•   Network &amp; Port Hardening: Disable legacy JNLP protocols (specifically JNLP 1-3), enforce TLS 1.3 for all traffic, and restrict SSH port access to trusted Bastion/VPN CIDR blocks.</a:t>
            </a:r>
          </a:p>
          <a:p>
            <a:pPr>
              <a:spcBef>
                <a:spcPts val="1400"/>
              </a:spcBef>
              <a:defRPr sz="1050" b="1">
                <a:solidFill>
                  <a:srgbClr val="4F46E5"/>
                </a:solidFill>
                <a:latin typeface="Arial"/>
              </a:defRPr>
            </a:pPr>
            <a:r>
              <a:t>Key Takeaway: A secure CI/CD engine is the first line of defense against supply chain attacks; secure access, encrypt state, and isolate build execution.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Runbooks: Troubleshooting Jenkins Performance &amp; Failures</a:t>
            </a:r>
          </a:p>
          <a:p>
            <a:pPr>
              <a:spcBef>
                <a:spcPts val="400"/>
              </a:spcBef>
              <a:defRPr sz="1300" b="1">
                <a:solidFill>
                  <a:srgbClr val="4F46E5"/>
                </a:solidFill>
                <a:latin typeface="Arial"/>
              </a:defRPr>
            </a:pPr>
            <a:r>
              <a:t>Mitigating Thread Locks, JVM OutOfMemoryErrors, and Queue Bottlenecks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JVM Garbage Collection &amp; Heap Optimization: Configure GC logging (-XX:+UseG1GC) and allocate appropriate Heap limits (Xms/Xmx) to prevent stop-the-world pauses and OOM errors.</a:t>
            </a:r>
          </a:p>
          <a:p>
            <a:pPr>
              <a:lnSpc>
                <a:spcPct val="115000"/>
              </a:lnSpc>
              <a:spcAft>
                <a:spcPts val="800"/>
              </a:spcAft>
              <a:defRPr sz="1300">
                <a:solidFill>
                  <a:srgbClr val="1E293B"/>
                </a:solidFill>
                <a:latin typeface="Arial"/>
              </a:defRPr>
            </a:pPr>
            <a:r>
              <a:t>•   Thread Dump Analysis: Diagnose unresponsive controllers by generating thread dumps (via jstack or Jenkins UI) to locate deadlocks or excessive blockings on the master thread.</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Handling Build Queue Congestion: Identify queue build-ups caused by agent starvation, heavy plugin overhead, or misconfigured executor slots; implement auto-scaling agent nodes.</a:t>
            </a:r>
          </a:p>
          <a:p>
            <a:pPr>
              <a:lnSpc>
                <a:spcPct val="115000"/>
              </a:lnSpc>
              <a:spcAft>
                <a:spcPts val="800"/>
              </a:spcAft>
              <a:defRPr sz="1300">
                <a:solidFill>
                  <a:srgbClr val="1E293B"/>
                </a:solidFill>
                <a:latin typeface="Arial"/>
              </a:defRPr>
            </a:pPr>
            <a:r>
              <a:t>•   Diagnostic Commands &amp; CLI: Master key diagnostic pipelines and Jenkins CLI commands ('jenkins-cli.jar safe-restart', 'groovysh' diagnostics) to query system health programmatically.</a:t>
            </a:r>
          </a:p>
          <a:p>
            <a:pPr>
              <a:spcBef>
                <a:spcPts val="1400"/>
              </a:spcBef>
              <a:defRPr sz="1050" b="1">
                <a:solidFill>
                  <a:srgbClr val="4F46E5"/>
                </a:solidFill>
                <a:latin typeface="Arial"/>
              </a:defRPr>
            </a:pPr>
            <a:r>
              <a:t>Key Takeaway: Proactive JVM tuning, real-time thread monitoring, and ephemeral agent scaling are the cornerstones of maintaining 99.9% Jenkins availability.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Roadmap: 6-Month Jenkins Mastery &amp; Modernization</a:t>
            </a:r>
          </a:p>
          <a:p>
            <a:pPr>
              <a:spcBef>
                <a:spcPts val="400"/>
              </a:spcBef>
              <a:defRPr sz="1300" b="1">
                <a:solidFill>
                  <a:srgbClr val="14B8A6"/>
                </a:solidFill>
                <a:latin typeface="Arial"/>
              </a:defRPr>
            </a:pPr>
            <a:r>
              <a:t>Transitioning from Legacy Monolith to Cloud-Native, Ephemeral CI/CD</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Standardize on JCasC, migrate all freestyle jobs to Declarative Pipelines, and enforce strict RBAC via enterprise identity providers.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Implement Ephemeral Kubernetes Agents using the Kubernetes Plugin, ensuring zero idle agent costs and absolute build-to-build isolation.</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Achieve Continuous Delivery maturity by integrating Shared Pipeline Libraries, automated canary deployments, and real-time Prometheus/Grafana monitoring.</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True Jenkins mastery evolves from manual configuration to an automated, self-healing, and highly observable cloud-native pipeline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