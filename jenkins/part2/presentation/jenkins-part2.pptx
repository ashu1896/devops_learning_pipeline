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2 of our Jenkins Enterprise Workshop. Today we are shifting focus from basic pipeline syntax to the hard operational realities of running Jenkins at scale. We will cover JVM optimization, strict security sandboxing, and SRE patterns to keep your CI/CD plane resilient and secure.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address the classic Jenkins failure modes: high CPU/memory utilization on the controller. Notice the emphasis on G1GC tuning. If your controller is running builds, you are doing it wrong. We must enforce a zero-executor policy on the controller and use dynamic Kubernetes pods for all workloads. Also, remember that Jenkins' flat-file database design makes disk I/O a major bottleneck; offloading artifacts is crucial.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often the weakest link in Jenkins. By default, Groovy pipelines have massive power. We must enforce the Groovy Sandbox and carefully vet any script approvals. Never store long-lived credentials directly in Jenkins; use short-lived tokens via OIDC and external vault integrations. Lastly, always enable Agent-to-Controller security to ensure a compromised build agent cannot read the entire controller file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Jenkins hangs, SREs must act fast. Do not just restart the service. Take a thread dump first to identify locked threads—often caused by bad plugins or unclosed network connections. Monitor your queue length and build times using Prometheus and Grafana. If you need high availability, understand the trade-offs: Jenkins is stateful, so active-passive with fast storage failover is usually the most stable enterprise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successfully execute this transformation, do not try to fix everything at once. Start with security in the first two months—this mitigates immediate business risk. Next, focus on stability and performance by migrating to dynamic Kubernetes agents. Finally, lock in your gains by managing your entire Jenkins configuration as code (JCasC), ensuring reproducibility and enabling true GitOps for your CI/CD infrastructure.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Jenkins at Scale: Performance, Hardening &amp; Architecture</a:t>
            </a:r>
          </a:p>
          <a:p>
            <a:pPr>
              <a:spcBef>
                <a:spcPts val="1000"/>
              </a:spcBef>
              <a:defRPr sz="1600">
                <a:solidFill>
                  <a:srgbClr val="94A3B8"/>
                </a:solidFill>
                <a:latin typeface="Arial"/>
              </a:defRPr>
            </a:pPr>
            <a:r>
              <a:t>Part 2/3: Deep Dive into Tuning, Security Sandboxing, and High-Throughput Pipelines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Architecting for Scale: JVM Tuning &amp; Ephemeral Agents</a:t>
            </a:r>
          </a:p>
          <a:p>
            <a:pPr>
              <a:spcBef>
                <a:spcPts val="400"/>
              </a:spcBef>
              <a:defRPr sz="1300" b="1">
                <a:solidFill>
                  <a:srgbClr val="4F46E5"/>
                </a:solidFill>
                <a:latin typeface="Arial"/>
              </a:defRPr>
            </a:pPr>
            <a:r>
              <a:t>Eliminating Controller Bottlenecks and Optimizing Resource Allocation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Garbage Collection Optimization: Migrating to G1GC with optimized parameters (-XX:G1ReservePercent=20, -XX:InitiatingHeapOccupancyPercent=45) to prevent stop-the-world pauses.</a:t>
            </a:r>
          </a:p>
          <a:p>
            <a:pPr>
              <a:lnSpc>
                <a:spcPct val="115000"/>
              </a:lnSpc>
              <a:spcAft>
                <a:spcPts val="800"/>
              </a:spcAft>
              <a:defRPr sz="1300">
                <a:solidFill>
                  <a:srgbClr val="1E293B"/>
                </a:solidFill>
                <a:latin typeface="Arial"/>
              </a:defRPr>
            </a:pPr>
            <a:r>
              <a:t>•   Decoupled Execution Model: Enforcing a strict zero-executor policy on the Jenkins Controller, offloading 100% of build workloads to dynamic agent pools.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Ephemeral Kubernetes Agents: Utilizing the Kubernetes plugin to launch single-use pod templates, ensuring clean workspaces and predictable resource isolation.</a:t>
            </a:r>
          </a:p>
          <a:p>
            <a:pPr>
              <a:lnSpc>
                <a:spcPct val="115000"/>
              </a:lnSpc>
              <a:spcAft>
                <a:spcPts val="800"/>
              </a:spcAft>
              <a:defRPr sz="1300">
                <a:solidFill>
                  <a:srgbClr val="1E293B"/>
                </a:solidFill>
                <a:latin typeface="Arial"/>
              </a:defRPr>
            </a:pPr>
            <a:r>
              <a:t>•   Storage &amp; I/O Optimization: Mounting $JENKINS_HOME on high-IOPS SSDs, offloading build artifacts to object storage (S3/GCS), and tuning build history discard policies.</a:t>
            </a:r>
          </a:p>
          <a:p>
            <a:pPr>
              <a:spcBef>
                <a:spcPts val="1400"/>
              </a:spcBef>
              <a:defRPr sz="1050" b="1">
                <a:solidFill>
                  <a:srgbClr val="4F46E5"/>
                </a:solidFill>
                <a:latin typeface="Arial"/>
              </a:defRPr>
            </a:pPr>
            <a:r>
              <a:t>Key Takeaway: Protect the Controller at all costs: treat it strictly as an orchestrator, offloading all execution, high-I/O workloads, and heavy processing to dynamic agents.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Hardening Jenkins: Sandboxing, Secrets, and Zero-Trust</a:t>
            </a:r>
          </a:p>
          <a:p>
            <a:pPr>
              <a:spcBef>
                <a:spcPts val="400"/>
              </a:spcBef>
              <a:defRPr sz="1300" b="1">
                <a:solidFill>
                  <a:srgbClr val="4F46E5"/>
                </a:solidFill>
                <a:latin typeface="Arial"/>
              </a:defRPr>
            </a:pPr>
            <a:r>
              <a:t>Securing the Control Plane Against Untrusted Code and Credential Leakage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Groovy Sandbox Containment: Restricting Pipeline Script Approval to prevent arbitrary code execution, enforcing strict signature verification for shared libraries.</a:t>
            </a:r>
          </a:p>
          <a:p>
            <a:pPr>
              <a:lnSpc>
                <a:spcPct val="115000"/>
              </a:lnSpc>
              <a:spcAft>
                <a:spcPts val="800"/>
              </a:spcAft>
              <a:defRPr sz="1300">
                <a:solidFill>
                  <a:srgbClr val="1E293B"/>
                </a:solidFill>
                <a:latin typeface="Arial"/>
              </a:defRPr>
            </a:pPr>
            <a:r>
              <a:t>•   Credential Management: Integrating external secret managers (HashiCorp Vault, AWS Secrets Manager) to eliminate plain-text credentials in Jenkins configuration files.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Agent-to-Controller Security: Enabling the 'Agent-to-Controller Access Control' subsystem to prevent compromised agents from accessing unauthorized directories on the controller.</a:t>
            </a:r>
          </a:p>
          <a:p>
            <a:pPr>
              <a:lnSpc>
                <a:spcPct val="115000"/>
              </a:lnSpc>
              <a:spcAft>
                <a:spcPts val="800"/>
              </a:spcAft>
              <a:defRPr sz="1300">
                <a:solidFill>
                  <a:srgbClr val="1E293B"/>
                </a:solidFill>
                <a:latin typeface="Arial"/>
              </a:defRPr>
            </a:pPr>
            <a:r>
              <a:t>•   Role-Based Access Control (RBAC): Implementing Matrix Authorization Strategy integrated with OIDC/Active Directory to enforce the principle of least privilege.</a:t>
            </a:r>
          </a:p>
          <a:p>
            <a:pPr>
              <a:spcBef>
                <a:spcPts val="1400"/>
              </a:spcBef>
              <a:defRPr sz="1050" b="1">
                <a:solidFill>
                  <a:srgbClr val="4F46E5"/>
                </a:solidFill>
                <a:latin typeface="Arial"/>
              </a:defRPr>
            </a:pPr>
            <a:r>
              <a:t>Key Takeaway: A secure Jenkins instance requires strict boundary isolation between pipeline code execution, secret stores, and controller administrative APIs.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Playbook: Troubleshooting &amp; High Availability Boundaries</a:t>
            </a:r>
          </a:p>
          <a:p>
            <a:pPr>
              <a:spcBef>
                <a:spcPts val="400"/>
              </a:spcBef>
              <a:defRPr sz="1300" b="1">
                <a:solidFill>
                  <a:srgbClr val="4F46E5"/>
                </a:solidFill>
                <a:latin typeface="Arial"/>
              </a:defRPr>
            </a:pPr>
            <a:r>
              <a:t>Proactive Monitoring, Thread Dump Analysis, and Disaster Recovery</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Thread Dump Analysis: Diagnosing locked threads and deadlocks using jstack or the /threadDump endpoint when the controller UI becomes unresponsive.</a:t>
            </a:r>
          </a:p>
          <a:p>
            <a:pPr>
              <a:lnSpc>
                <a:spcPct val="115000"/>
              </a:lnSpc>
              <a:spcAft>
                <a:spcPts val="800"/>
              </a:spcAft>
              <a:defRPr sz="1300">
                <a:solidFill>
                  <a:srgbClr val="1E293B"/>
                </a:solidFill>
                <a:latin typeface="Arial"/>
              </a:defRPr>
            </a:pPr>
            <a:r>
              <a:t>•   Proactive Prometheus Monitoring: Tracking critical metrics like JVM heap usage, queue length, executor utilization, and HTTP request latency via the Prometheus plugin.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High Availability (HA) Mitigation: Utilizing active-passive cold standby or active-active read-only replicas to minimize Mean Time to Recovery (MTTR) during controller failures.</a:t>
            </a:r>
          </a:p>
          <a:p>
            <a:pPr>
              <a:lnSpc>
                <a:spcPct val="115000"/>
              </a:lnSpc>
              <a:spcAft>
                <a:spcPts val="800"/>
              </a:spcAft>
              <a:defRPr sz="1300">
                <a:solidFill>
                  <a:srgbClr val="1E293B"/>
                </a:solidFill>
                <a:latin typeface="Arial"/>
              </a:defRPr>
            </a:pPr>
            <a:r>
              <a:t>•   Pipeline Durability Tuning: Adjusting durability settings to 'Performance-optimized' for non-critical pipelines to reduce disk writes and improve execution speed.</a:t>
            </a:r>
          </a:p>
          <a:p>
            <a:pPr>
              <a:spcBef>
                <a:spcPts val="1400"/>
              </a:spcBef>
              <a:defRPr sz="1050" b="1">
                <a:solidFill>
                  <a:srgbClr val="4F46E5"/>
                </a:solidFill>
                <a:latin typeface="Arial"/>
              </a:defRPr>
            </a:pPr>
            <a:r>
              <a:t>Key Takeaway: Resilient Jenkins operations rely on deep observability of JVM internals and structured incident playbooks for rapid thread and memory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Enterprise Jenkins Modernization: 6-Month Strategic Roadmap</a:t>
            </a:r>
          </a:p>
          <a:p>
            <a:pPr>
              <a:spcBef>
                <a:spcPts val="400"/>
              </a:spcBef>
              <a:defRPr sz="1300" b="1">
                <a:solidFill>
                  <a:srgbClr val="14B8A6"/>
                </a:solidFill>
                <a:latin typeface="Arial"/>
              </a:defRPr>
            </a:pPr>
            <a:r>
              <a:t>Transitioning from Legacy Monolith to a Cloud-Native, Secure CI/CD Platform</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Audit &amp; Hardening. Enable Groovy sandboxing, implement Vault integration, enforce OIDC, and migrate to Matrix Authorization.</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Platform Optimization. Implement zero-executor controller policies, migrate workloads to ephemeral Kubernetes agents, and tune JVM G1GC settings.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Observability &amp; GitOps. Standardize Configuration as Code (JCasC), deploy Prometheus monitoring, and establish automated disaster recovery dry-runs.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Transforming Jenkins from a liability to an asset requires a phased approach prioritizing security first, followed by scalability, and finally GitOps automation.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