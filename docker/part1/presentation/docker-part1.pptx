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Part 1 of our Docker mastery workshop. Today, we're not just covering commands; we're delving into the 'why' behind Docker, focusing on the strategic architectural decisions and operational rigor required for production environments. This foundational knowledge is paramount before we even think about orchestration or advanced deployments. We'll set the stage for how Docker integrates into a robust DevOps and SRE practice.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dissect the anatomy of Docker. It's crucial to grasp the 'engine' as the orchestrator, images as the static definitions, and containers as the dynamic runtime instances. We'll walk through how a Dockerfile translates into an efficient, layered image, and then how that image springs to life as an isolated container. Pay close attention to basic networking and volumes – these are often overlooked in initial setups but are critical for real-world applications needing persistence and communication.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not an afterthought; it's baked in from the start. For Part 1, we focus on foundational hardening. This means choosing the right base image, leveraging multi-stage builds to create lean and secure final images, and always adhering to the principle of least privilege. We'll discuss how simple Dockerfile practices and runtime flags can dramatically enhance the security posture of your containers, preventing common exploits and reducing your exposure.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SREs, our goal is to minimize Mean Time To Recovery (MTTR). This slide equips you with the essential toolkit for basic Docker troubleshooting. We'll explore how to effectively use commands like `docker logs` and `docker stats` to quickly identify and diagnose issues, from application crashes to resource contention. Understanding container exit codes is key to pinpointing root causes. This foundational troubleshooting skillset is crucial before we introduce more complex monitoring and logging solutions in later parts.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roadmap provides a tangible path forward for the next six months, building upon the foundations we've covered today. It's about progressively deepening your understanding and practical application. We start with advanced Dockerfile techniques, move into sophisticated networking and storage, and culminate with an introduction to Docker Compose for local multi-container development. This phased approach ensures you build a robust skillset, preparing you perfectly for the subsequent parts of this workshop series, where we'll delve into orchestration, CI/CD, and production deployments.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Mastering Docker: Core Foundations &amp; Operational Excellence</a:t>
            </a:r>
          </a:p>
          <a:p>
            <a:pPr>
              <a:spcBef>
                <a:spcPts val="1000"/>
              </a:spcBef>
              <a:defRPr sz="1600">
                <a:solidFill>
                  <a:srgbClr val="94A3B8"/>
                </a:solidFill>
                <a:latin typeface="Arial"/>
              </a:defRPr>
            </a:pPr>
            <a:r>
              <a:t>Part 1/3: Architecting Robust Containerization from the Ground Up</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Docker's Core Architecture: Components &amp; Workflow</a:t>
            </a:r>
          </a:p>
          <a:p>
            <a:pPr>
              <a:spcBef>
                <a:spcPts val="400"/>
              </a:spcBef>
              <a:defRPr sz="1300" b="1">
                <a:solidFill>
                  <a:srgbClr val="4F46E5"/>
                </a:solidFill>
                <a:latin typeface="Arial"/>
              </a:defRPr>
            </a:pPr>
            <a:r>
              <a:t>Deconstructing the Engine, Images, Containers, and Registries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**Docker Engine:** Daemon (dockerd), REST API, and CLI client – the operational heart.</a:t>
            </a:r>
          </a:p>
          <a:p>
            <a:pPr>
              <a:lnSpc>
                <a:spcPct val="115000"/>
              </a:lnSpc>
              <a:spcAft>
                <a:spcPts val="800"/>
              </a:spcAft>
              <a:defRPr sz="1300">
                <a:solidFill>
                  <a:srgbClr val="1E293B"/>
                </a:solidFill>
                <a:latin typeface="Arial"/>
              </a:defRPr>
            </a:pPr>
            <a:r>
              <a:t>•   **Docker Images:** Immutable blueprints, built from Dockerfiles, composed of layered filesystems for efficiency and versioning.</a:t>
            </a:r>
          </a:p>
          <a:p>
            <a:pPr>
              <a:lnSpc>
                <a:spcPct val="115000"/>
              </a:lnSpc>
              <a:spcAft>
                <a:spcPts val="800"/>
              </a:spcAft>
              <a:defRPr sz="1300">
                <a:solidFill>
                  <a:srgbClr val="1E293B"/>
                </a:solidFill>
                <a:latin typeface="Arial"/>
              </a:defRPr>
            </a:pPr>
            <a:r>
              <a:t>•   **Docker Containers:** Ephemeral, isolated runtime instances of images, encapsulating applications and their dependencies.</a:t>
            </a:r>
          </a:p>
          <a:p>
            <a:pPr>
              <a:lnSpc>
                <a:spcPct val="115000"/>
              </a:lnSpc>
              <a:spcAft>
                <a:spcPts val="800"/>
              </a:spcAft>
              <a:defRPr sz="1300">
                <a:solidFill>
                  <a:srgbClr val="1E293B"/>
                </a:solidFill>
                <a:latin typeface="Arial"/>
              </a:defRPr>
            </a:pPr>
            <a:r>
              <a:t>•   **Docker Registries:** Centralized repositories (e.g., Docker Hub, Artifactory) for storing and distributing images.</a:t>
            </a:r>
          </a:p>
          <a:p>
            <a:pPr>
              <a:lnSpc>
                <a:spcPct val="115000"/>
              </a:lnSpc>
              <a:spcAft>
                <a:spcPts val="800"/>
              </a:spcAft>
              <a:defRPr sz="1300">
                <a:solidFill>
                  <a:srgbClr val="1E293B"/>
                </a:solidFill>
                <a:latin typeface="Arial"/>
              </a:defRPr>
            </a:pPr>
            <a:r>
              <a:t>•   **Fundamental Commands &amp; Concepts:**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 `docker build`: Creating images from Dockerfiles and build contexts.</a:t>
            </a:r>
          </a:p>
          <a:p>
            <a:pPr>
              <a:lnSpc>
                <a:spcPct val="115000"/>
              </a:lnSpc>
              <a:spcAft>
                <a:spcPts val="800"/>
              </a:spcAft>
              <a:defRPr sz="1300">
                <a:solidFill>
                  <a:srgbClr val="1E293B"/>
                </a:solidFill>
                <a:latin typeface="Arial"/>
              </a:defRPr>
            </a:pPr>
            <a:r>
              <a:t>•     - `docker run`: Lifecycle management – starting, stopping, attaching to containers.</a:t>
            </a:r>
          </a:p>
          <a:p>
            <a:pPr>
              <a:lnSpc>
                <a:spcPct val="115000"/>
              </a:lnSpc>
              <a:spcAft>
                <a:spcPts val="800"/>
              </a:spcAft>
              <a:defRPr sz="1300">
                <a:solidFill>
                  <a:srgbClr val="1E293B"/>
                </a:solidFill>
                <a:latin typeface="Arial"/>
              </a:defRPr>
            </a:pPr>
            <a:r>
              <a:t>•     - `docker ps`, `docker images`: Inspection and inventory of running containers and local images.</a:t>
            </a:r>
          </a:p>
          <a:p>
            <a:pPr>
              <a:lnSpc>
                <a:spcPct val="115000"/>
              </a:lnSpc>
              <a:spcAft>
                <a:spcPts val="800"/>
              </a:spcAft>
              <a:defRPr sz="1300">
                <a:solidFill>
                  <a:srgbClr val="1E293B"/>
                </a:solidFill>
                <a:latin typeface="Arial"/>
              </a:defRPr>
            </a:pPr>
            <a:r>
              <a:t>•     - **Basic Networking:** Default bridge, host, and none network drivers for container communication.</a:t>
            </a:r>
          </a:p>
          <a:p>
            <a:pPr>
              <a:lnSpc>
                <a:spcPct val="115000"/>
              </a:lnSpc>
              <a:spcAft>
                <a:spcPts val="800"/>
              </a:spcAft>
              <a:defRPr sz="1300">
                <a:solidFill>
                  <a:srgbClr val="1E293B"/>
                </a:solidFill>
                <a:latin typeface="Arial"/>
              </a:defRPr>
            </a:pPr>
            <a:r>
              <a:t>•     - **Persistent Storage:** Volume types (bind mounts, named volumes) for data durability and sharing.</a:t>
            </a:r>
          </a:p>
          <a:p>
            <a:pPr>
              <a:spcBef>
                <a:spcPts val="1400"/>
              </a:spcBef>
              <a:defRPr sz="1050" b="1">
                <a:solidFill>
                  <a:srgbClr val="4F46E5"/>
                </a:solidFill>
                <a:latin typeface="Arial"/>
              </a:defRPr>
            </a:pPr>
            <a:r>
              <a:t>Key Takeaway: Mastering the interplay between Docker's core components and fundamental commands is non-negotiable for effective container lifecycle management and foundational environment setup.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Securing Your Initial Docker Deployments: Foundational Practices</a:t>
            </a:r>
          </a:p>
          <a:p>
            <a:pPr>
              <a:spcBef>
                <a:spcPts val="400"/>
              </a:spcBef>
              <a:defRPr sz="1300" b="1">
                <a:solidFill>
                  <a:srgbClr val="4F46E5"/>
                </a:solidFill>
                <a:latin typeface="Arial"/>
              </a:defRPr>
            </a:pPr>
            <a:r>
              <a:t>Integrating Hardening, DevSecOps Principles, and Least Privilege</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**Minimal Base Images:** Employing lean distributions (e.g., Alpine) to drastically reduce attack surface and image size.</a:t>
            </a:r>
          </a:p>
          <a:p>
            <a:pPr>
              <a:lnSpc>
                <a:spcPct val="115000"/>
              </a:lnSpc>
              <a:spcAft>
                <a:spcPts val="800"/>
              </a:spcAft>
              <a:defRPr sz="1300">
                <a:solidFill>
                  <a:srgbClr val="1E293B"/>
                </a:solidFill>
                <a:latin typeface="Arial"/>
              </a:defRPr>
            </a:pPr>
            <a:r>
              <a:t>•   **Multi-stage Builds:** Separating build-time dependencies from the final runtime image, minimizing included tools and potential vulnerabilities.</a:t>
            </a:r>
          </a:p>
          <a:p>
            <a:pPr>
              <a:lnSpc>
                <a:spcPct val="115000"/>
              </a:lnSpc>
              <a:spcAft>
                <a:spcPts val="800"/>
              </a:spcAft>
              <a:defRPr sz="1300">
                <a:solidFill>
                  <a:srgbClr val="1E293B"/>
                </a:solidFill>
                <a:latin typeface="Arial"/>
              </a:defRPr>
            </a:pPr>
            <a:r>
              <a:t>•   **Least Privilege Principle:** Running containers as non-root users (`USER` instruction) and dropping unnecessary Linux capabilities.</a:t>
            </a:r>
          </a:p>
          <a:p>
            <a:pPr>
              <a:lnSpc>
                <a:spcPct val="115000"/>
              </a:lnSpc>
              <a:spcAft>
                <a:spcPts val="800"/>
              </a:spcAft>
              <a:defRPr sz="1300">
                <a:solidFill>
                  <a:srgbClr val="1E293B"/>
                </a:solidFill>
                <a:latin typeface="Arial"/>
              </a:defRPr>
            </a:pPr>
            <a:r>
              <a:t>•   **Dockerfile Best Practices:**</a:t>
            </a:r>
          </a:p>
          <a:p>
            <a:pPr>
              <a:lnSpc>
                <a:spcPct val="115000"/>
              </a:lnSpc>
              <a:spcAft>
                <a:spcPts val="800"/>
              </a:spcAft>
              <a:defRPr sz="1300">
                <a:solidFill>
                  <a:srgbClr val="1E293B"/>
                </a:solidFill>
                <a:latin typeface="Arial"/>
              </a:defRPr>
            </a:pPr>
            <a:r>
              <a:t>•     - Avoiding sensitive data in images (e.g., API keys, credentials).</a:t>
            </a:r>
          </a:p>
          <a:p>
            <a:pPr>
              <a:lnSpc>
                <a:spcPct val="115000"/>
              </a:lnSpc>
              <a:spcAft>
                <a:spcPts val="800"/>
              </a:spcAft>
              <a:defRPr sz="1300">
                <a:solidFill>
                  <a:srgbClr val="1E293B"/>
                </a:solidFill>
                <a:latin typeface="Arial"/>
              </a:defRPr>
            </a:pPr>
            <a:r>
              <a:t>•     - Using `COPY` over `ADD` for predictability and security.</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 Pinning dependency versions to prevent unexpected breaking changes or malicious updates.</a:t>
            </a:r>
          </a:p>
          <a:p>
            <a:pPr>
              <a:lnSpc>
                <a:spcPct val="115000"/>
              </a:lnSpc>
              <a:spcAft>
                <a:spcPts val="800"/>
              </a:spcAft>
              <a:defRPr sz="1300">
                <a:solidFill>
                  <a:srgbClr val="1E293B"/>
                </a:solidFill>
                <a:latin typeface="Arial"/>
              </a:defRPr>
            </a:pPr>
            <a:r>
              <a:t>•   **Runtime Hardening:**</a:t>
            </a:r>
          </a:p>
          <a:p>
            <a:pPr>
              <a:lnSpc>
                <a:spcPct val="115000"/>
              </a:lnSpc>
              <a:spcAft>
                <a:spcPts val="800"/>
              </a:spcAft>
              <a:defRPr sz="1300">
                <a:solidFill>
                  <a:srgbClr val="1E293B"/>
                </a:solidFill>
                <a:latin typeface="Arial"/>
              </a:defRPr>
            </a:pPr>
            <a:r>
              <a:t>•     - Implementing read-only root filesystems (`--read-only`) where applicable.</a:t>
            </a:r>
          </a:p>
          <a:p>
            <a:pPr>
              <a:lnSpc>
                <a:spcPct val="115000"/>
              </a:lnSpc>
              <a:spcAft>
                <a:spcPts val="800"/>
              </a:spcAft>
              <a:defRPr sz="1300">
                <a:solidFill>
                  <a:srgbClr val="1E293B"/>
                </a:solidFill>
                <a:latin typeface="Arial"/>
              </a:defRPr>
            </a:pPr>
            <a:r>
              <a:t>•     - Setting explicit resource limits (`--memory`, `--cpus`) to prevent resource exhaustion attacks.</a:t>
            </a:r>
          </a:p>
          <a:p>
            <a:pPr>
              <a:lnSpc>
                <a:spcPct val="115000"/>
              </a:lnSpc>
              <a:spcAft>
                <a:spcPts val="800"/>
              </a:spcAft>
              <a:defRPr sz="1300">
                <a:solidFill>
                  <a:srgbClr val="1E293B"/>
                </a:solidFill>
                <a:latin typeface="Arial"/>
              </a:defRPr>
            </a:pPr>
            <a:r>
              <a:t>•     - Basic network segmentation via custom user-defined bridge networks for isolation.</a:t>
            </a:r>
          </a:p>
          <a:p>
            <a:pPr>
              <a:spcBef>
                <a:spcPts val="1400"/>
              </a:spcBef>
              <a:defRPr sz="1050" b="1">
                <a:solidFill>
                  <a:srgbClr val="4F46E5"/>
                </a:solidFill>
                <a:latin typeface="Arial"/>
              </a:defRPr>
            </a:pPr>
            <a:r>
              <a:t>Key Takeaway: Proactive security measures, embedded directly into your Dockerfile and runtime configurations from day one, are paramount for mitigating vulnerabilities and building a secure container ecosystem.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Operational Resilience: Basic Troubleshooting &amp; Monitoring</a:t>
            </a:r>
          </a:p>
          <a:p>
            <a:pPr>
              <a:spcBef>
                <a:spcPts val="400"/>
              </a:spcBef>
              <a:defRPr sz="1300" b="1">
                <a:solidFill>
                  <a:srgbClr val="4F46E5"/>
                </a:solidFill>
                <a:latin typeface="Arial"/>
              </a:defRPr>
            </a:pPr>
            <a:r>
              <a:t>SRE Principles for Diagnosing Container Issues and Ensuring Uptime</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**Container Lifecycle Monitoring:**</a:t>
            </a:r>
          </a:p>
          <a:p>
            <a:pPr>
              <a:lnSpc>
                <a:spcPct val="115000"/>
              </a:lnSpc>
              <a:spcAft>
                <a:spcPts val="800"/>
              </a:spcAft>
              <a:defRPr sz="1300">
                <a:solidFill>
                  <a:srgbClr val="1E293B"/>
                </a:solidFill>
                <a:latin typeface="Arial"/>
              </a:defRPr>
            </a:pPr>
            <a:r>
              <a:t>•     - `docker ps -a`: Inspecting all containers (running and exited) to identify unexpected terminations.</a:t>
            </a:r>
          </a:p>
          <a:p>
            <a:pPr>
              <a:lnSpc>
                <a:spcPct val="115000"/>
              </a:lnSpc>
              <a:spcAft>
                <a:spcPts val="800"/>
              </a:spcAft>
              <a:defRPr sz="1300">
                <a:solidFill>
                  <a:srgbClr val="1E293B"/>
                </a:solidFill>
                <a:latin typeface="Arial"/>
              </a:defRPr>
            </a:pPr>
            <a:r>
              <a:t>•     - `docker logs &lt;container_id&gt;`: Accessing stdout/stderr for application and container events.</a:t>
            </a:r>
          </a:p>
          <a:p>
            <a:pPr>
              <a:lnSpc>
                <a:spcPct val="115000"/>
              </a:lnSpc>
              <a:spcAft>
                <a:spcPts val="800"/>
              </a:spcAft>
              <a:defRPr sz="1300">
                <a:solidFill>
                  <a:srgbClr val="1E293B"/>
                </a:solidFill>
                <a:latin typeface="Arial"/>
              </a:defRPr>
            </a:pPr>
            <a:r>
              <a:t>•     - `docker events`: Real-time stream of Docker daemon activities.</a:t>
            </a:r>
          </a:p>
          <a:p>
            <a:pPr>
              <a:lnSpc>
                <a:spcPct val="115000"/>
              </a:lnSpc>
              <a:spcAft>
                <a:spcPts val="800"/>
              </a:spcAft>
              <a:defRPr sz="1300">
                <a:solidFill>
                  <a:srgbClr val="1E293B"/>
                </a:solidFill>
                <a:latin typeface="Arial"/>
              </a:defRPr>
            </a:pPr>
            <a:r>
              <a:t>•   **Resource Utilization Diagnostics:**</a:t>
            </a:r>
          </a:p>
          <a:p>
            <a:pPr>
              <a:lnSpc>
                <a:spcPct val="115000"/>
              </a:lnSpc>
              <a:spcAft>
                <a:spcPts val="800"/>
              </a:spcAft>
              <a:defRPr sz="1300">
                <a:solidFill>
                  <a:srgbClr val="1E293B"/>
                </a:solidFill>
                <a:latin typeface="Arial"/>
              </a:defRPr>
            </a:pPr>
            <a:r>
              <a:t>•     - `docker stats`: Live stream of container CPU, memory, network I/O, and block I/O usage.</a:t>
            </a:r>
          </a:p>
          <a:p>
            <a:pPr>
              <a:lnSpc>
                <a:spcPct val="115000"/>
              </a:lnSpc>
              <a:spcAft>
                <a:spcPts val="800"/>
              </a:spcAft>
              <a:defRPr sz="1300">
                <a:solidFill>
                  <a:srgbClr val="1E293B"/>
                </a:solidFill>
                <a:latin typeface="Arial"/>
              </a:defRPr>
            </a:pPr>
            <a:r>
              <a:t>•     - Identifying resource bottlenecks or runaway processes early.</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**Connectivity &amp; Network Debugging:**</a:t>
            </a:r>
          </a:p>
          <a:p>
            <a:pPr>
              <a:lnSpc>
                <a:spcPct val="115000"/>
              </a:lnSpc>
              <a:spcAft>
                <a:spcPts val="800"/>
              </a:spcAft>
              <a:defRPr sz="1300">
                <a:solidFill>
                  <a:srgbClr val="1E293B"/>
                </a:solidFill>
                <a:latin typeface="Arial"/>
              </a:defRPr>
            </a:pPr>
            <a:r>
              <a:t>•     - `docker inspect &lt;container_id&gt;`: Examining network configurations, IP addresses, and port mappings.</a:t>
            </a:r>
          </a:p>
          <a:p>
            <a:pPr>
              <a:lnSpc>
                <a:spcPct val="115000"/>
              </a:lnSpc>
              <a:spcAft>
                <a:spcPts val="800"/>
              </a:spcAft>
              <a:defRPr sz="1300">
                <a:solidFill>
                  <a:srgbClr val="1E293B"/>
                </a:solidFill>
                <a:latin typeface="Arial"/>
              </a:defRPr>
            </a:pPr>
            <a:r>
              <a:t>•     - `docker exec -it &lt;container_id&gt; bash`: Interactively debugging inside a running container (e.g., `ping`, `curl`).</a:t>
            </a:r>
          </a:p>
          <a:p>
            <a:pPr>
              <a:lnSpc>
                <a:spcPct val="115000"/>
              </a:lnSpc>
              <a:spcAft>
                <a:spcPts val="800"/>
              </a:spcAft>
              <a:defRPr sz="1300">
                <a:solidFill>
                  <a:srgbClr val="1E293B"/>
                </a:solidFill>
                <a:latin typeface="Arial"/>
              </a:defRPr>
            </a:pPr>
            <a:r>
              <a:t>•   **Common Issue Resolution:**</a:t>
            </a:r>
          </a:p>
          <a:p>
            <a:pPr>
              <a:lnSpc>
                <a:spcPct val="115000"/>
              </a:lnSpc>
              <a:spcAft>
                <a:spcPts val="800"/>
              </a:spcAft>
              <a:defRPr sz="1300">
                <a:solidFill>
                  <a:srgbClr val="1E293B"/>
                </a:solidFill>
                <a:latin typeface="Arial"/>
              </a:defRPr>
            </a:pPr>
            <a:r>
              <a:t>•     - **Image Pull/Build Failures:** Authentication, registry access, Dockerfile syntax errors, insufficient disk space.</a:t>
            </a:r>
          </a:p>
          <a:p>
            <a:pPr>
              <a:lnSpc>
                <a:spcPct val="115000"/>
              </a:lnSpc>
              <a:spcAft>
                <a:spcPts val="800"/>
              </a:spcAft>
              <a:defRPr sz="1300">
                <a:solidFill>
                  <a:srgbClr val="1E293B"/>
                </a:solidFill>
                <a:latin typeface="Arial"/>
              </a:defRPr>
            </a:pPr>
            <a:r>
              <a:t>•     - **Container Exit Codes:** Deciphering exit codes to understand reasons for termination (e.g., application crashes, misconfigurations).</a:t>
            </a:r>
          </a:p>
          <a:p>
            <a:pPr>
              <a:lnSpc>
                <a:spcPct val="115000"/>
              </a:lnSpc>
              <a:spcAft>
                <a:spcPts val="800"/>
              </a:spcAft>
              <a:defRPr sz="1300">
                <a:solidFill>
                  <a:srgbClr val="1E293B"/>
                </a:solidFill>
                <a:latin typeface="Arial"/>
              </a:defRPr>
            </a:pPr>
            <a:r>
              <a:t>•     - **Volume/Permissions Issues:** Ensuring correct mount paths and user permissions for data persistence.</a:t>
            </a:r>
          </a:p>
          <a:p>
            <a:pPr>
              <a:spcBef>
                <a:spcPts val="1400"/>
              </a:spcBef>
              <a:defRPr sz="1050" b="1">
                <a:solidFill>
                  <a:srgbClr val="4F46E5"/>
                </a:solidFill>
                <a:latin typeface="Arial"/>
              </a:defRPr>
            </a:pPr>
            <a:r>
              <a:t>Key Takeaway: Developing proficiency with Docker's built-in diagnostic tools is critical for rapid incident response, root cause analysis, and maintaining high availability in containerized environments.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Strategic 6-Month Mastery Roadmap for Part 1</a:t>
            </a:r>
          </a:p>
          <a:p>
            <a:pPr>
              <a:spcBef>
                <a:spcPts val="400"/>
              </a:spcBef>
              <a:defRPr sz="1300" b="1">
                <a:solidFill>
                  <a:srgbClr val="14B8A6"/>
                </a:solidFill>
                <a:latin typeface="Arial"/>
              </a:defRPr>
            </a:pPr>
            <a:r>
              <a:t>Foundational Milestones for Advanced Containerization Excellence</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Deep Dockerfile Artistry &amp; Image Optimization:**</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  - Master multi-stage builds, `.dockerignore`, image layering best practices.</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  - Experiment with different base images (Alpine, distroless) and their implications.</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A structured, hands-on roadmap is vital for translating foundational Docker knowledge into practical, enterprise-grade skills, setting the stage for advanced orchestration and CI/CD integration.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