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and welcome to Part 2 of our Docker Mastery workshop. In Part 1, we covered the fundamentals of containerization and basic Docker commands. Today, we're shifting our focus significantly. We'll be diving deep into the advanced configurations, performance tuning strategies, and critical security capabilities that transform Docker from a development tool into a foundational component of enterprise-grade infrastructure. This session is designed for professionals looking to architect, secure, and optimize their containerized applications for production environments. Our goal is to move beyond 'it works on my machine' to 'it works reliably and securely at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kick off with the architectural core. Many interact with Docker without realizing the layers beneath. We'll dissect the roles of `containerd` as the OCI-compliant runtime and `runc` as the low-level execution engine, understanding how `docker run` translates into kernel interactions. Next, we'll delve into the Linux kernel's cgroups and namespaces – these are the fundamental primitives Docker leverages for resource limiting and process isolation. We'll discuss how to precisely allocate CPU shares, memory, and I/O bandwidth, which is critical for preventing noisy neighbor issues. Storage drivers are another key performance differentiator; we'll compare their characteristics and suitability for different workloads, emphasizing efficient image layers and robust persistent volume strategies. Finally, we'll explore Docker's advanced networking capabilities, moving beyond the default bridge to custom and multi-host networks, and introduce powerful sandboxing mechanisms like seccomp and AppArmor to tighten security.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We'll begin by examining how to build inherently secure images, focusing on multi-stage builds to minimize attack surface and leveraging tools for vulnerability scanning within your CI/CD pipeline. Moving to runtime, we'll explore how to enforce least privilege by dropping Linux capabilities, running containers with read-only filesystems, and applying custom `seccomp` and `AppArmor` profiles to restrict syscall access. A critical aspect is secrets management – we'll discuss Docker's built-in secrets feature and how it integrates with other solutions for sensitive data. We'll also cover advanced isolation techniques like User Namespaces and Rootless Docker, which fundamentally alter how container processes interact with the host kernel, significantly reducing the blast radius of a compromise. Finally, we'll address the broader supply chain, emphasizing image signing and content trust to ensure the integrity of your deployed containers.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SRE and operations domain, performance and reliability are key. We'll start with practical performance tuning tips for Dockerfiles and build processes, ensuring your images are lean and efficient. Observability is non-negotiable; we'll discuss integrating Docker with popular monitoring stacks like Prometheus for metrics, the ELK stack for centralized logging, and `cAdvisor` for detailed container resource usage. While Docker is powerful, we need to understand its scaling boundaries – when does a standalone Docker environment become insufficient, necessitating a move to orchestrators like Kubernetes? This leads us into advanced troubleshooting. We'll dissect common operational challenges, from diagnosing elusive network issues and resource contention to persistent container restarts, providing systematic approaches. Finally, we'll touch upon chaos engineering – deliberately injecting failures to build more resilient systems, a critical practice for mature SRE teams.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master these concepts, a structured approach is best. Over the next six months, I encourage you to apply what we've learned incrementally. Start by experimenting with resource limits and custom networks within your development environments. Then, pivot to security, integrating image scanning early in your build pipeline and applying runtime hardening. Months 5 and 6 should focus on performance optimization and building out robust observability for your Docker deployments. This isn't just about learning Docker; it's about building a solid foundation for your organization's container strategy. The skills you cultivate now in advanced Docker configurations, security, and operational excellence are directly transferable and crucial for success when you inevitably move to larger orchestration platforms. This journey continues in Part 3, where we'll explore Docker Swarm and Kubernetes in depth.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Docker Mastery: Beyond the Basics</a:t>
            </a:r>
          </a:p>
          <a:p>
            <a:pPr>
              <a:spcBef>
                <a:spcPts val="1000"/>
              </a:spcBef>
              <a:defRPr sz="1600">
                <a:solidFill>
                  <a:srgbClr val="94A3B8"/>
                </a:solidFill>
                <a:latin typeface="Arial"/>
              </a:defRPr>
            </a:pPr>
            <a:r>
              <a:t>Advanced Configurations, Performance, and Security at Scale (Part 2/3)</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Advanced Docker Architecture &amp; Resource Management</a:t>
            </a:r>
          </a:p>
          <a:p>
            <a:pPr>
              <a:spcBef>
                <a:spcPts val="400"/>
              </a:spcBef>
              <a:defRPr sz="1300" b="1">
                <a:solidFill>
                  <a:srgbClr val="4F46E5"/>
                </a:solidFill>
                <a:latin typeface="Arial"/>
              </a:defRPr>
            </a:pPr>
            <a:r>
              <a:t>Optimizing Runtime Environments and Sandboxing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**Container Runtime Deep Dive:** Exploring `runc`, `containerd`, and their roles in the OCI specification for container execution.</a:t>
            </a:r>
          </a:p>
          <a:p>
            <a:pPr>
              <a:lnSpc>
                <a:spcPct val="115000"/>
              </a:lnSpc>
              <a:spcAft>
                <a:spcPts val="800"/>
              </a:spcAft>
              <a:defRPr sz="1300">
                <a:solidFill>
                  <a:srgbClr val="1E293B"/>
                </a:solidFill>
                <a:latin typeface="Arial"/>
              </a:defRPr>
            </a:pPr>
            <a:r>
              <a:t>•   **Resource Control with cgroups and Namespaces:** Granular CPU, memory, and I/O limits for multi-tenant isolation and performance stability.</a:t>
            </a:r>
          </a:p>
          <a:p>
            <a:pPr>
              <a:lnSpc>
                <a:spcPct val="115000"/>
              </a:lnSpc>
              <a:spcAft>
                <a:spcPts val="800"/>
              </a:spcAft>
              <a:defRPr sz="1300">
                <a:solidFill>
                  <a:srgbClr val="1E293B"/>
                </a:solidFill>
                <a:latin typeface="Arial"/>
              </a:defRPr>
            </a:pPr>
            <a:r>
              <a:t>•   **Storage Drivers &amp; Volume Management:** Comparative analysis of OverlayFS, AUFS, Btrfs, and ZFS; optimizing read/write layers and persistent data strategies.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**Networking Modes &amp; Custom Networks:** Designing high-performance and secure inter-container communication using Host, Bridge, Overlay, and Macvlan networks.</a:t>
            </a:r>
          </a:p>
          <a:p>
            <a:pPr>
              <a:lnSpc>
                <a:spcPct val="115000"/>
              </a:lnSpc>
              <a:spcAft>
                <a:spcPts val="800"/>
              </a:spcAft>
              <a:defRPr sz="1300">
                <a:solidFill>
                  <a:srgbClr val="1E293B"/>
                </a:solidFill>
                <a:latin typeface="Arial"/>
              </a:defRPr>
            </a:pPr>
            <a:r>
              <a:t>•   **Sandboxing &amp; Isolation Techniques:** Understanding `seccomp` profiles, `AppArmor`, and `SELinux` for enhanced container separation and attack surface reduction.</a:t>
            </a:r>
          </a:p>
          <a:p>
            <a:pPr>
              <a:spcBef>
                <a:spcPts val="1400"/>
              </a:spcBef>
              <a:defRPr sz="1050" b="1">
                <a:solidFill>
                  <a:srgbClr val="4F46E5"/>
                </a:solidFill>
                <a:latin typeface="Arial"/>
              </a:defRPr>
            </a:pPr>
            <a:r>
              <a:t>Key Takeaway: Mastering resource allocation and isolation is crucial for stable, performant, and secure container operations in complex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Container Security &amp; DevSecOps Integration</a:t>
            </a:r>
          </a:p>
          <a:p>
            <a:pPr>
              <a:spcBef>
                <a:spcPts val="400"/>
              </a:spcBef>
              <a:defRPr sz="1300" b="1">
                <a:solidFill>
                  <a:srgbClr val="4F46E5"/>
                </a:solidFill>
                <a:latin typeface="Arial"/>
              </a:defRPr>
            </a:pPr>
            <a:r>
              <a:t>Proactive Measures for a Hardened Container Pipeline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**Image Security Best Practices:** Multi-stage builds, minimal base images (Alpine, Distroless), static analysis, and vulnerability scanning (e.g., Trivy, Clair).</a:t>
            </a:r>
          </a:p>
          <a:p>
            <a:pPr>
              <a:lnSpc>
                <a:spcPct val="115000"/>
              </a:lnSpc>
              <a:spcAft>
                <a:spcPts val="800"/>
              </a:spcAft>
              <a:defRPr sz="1300">
                <a:solidFill>
                  <a:srgbClr val="1E293B"/>
                </a:solidFill>
                <a:latin typeface="Arial"/>
              </a:defRPr>
            </a:pPr>
            <a:r>
              <a:t>•   **Runtime Security Enforcement:** Leveraging `seccomp` profiles, `AppArmor/SELinux` policies, read-only root filesystems, and dropping unnecessary capabilities.</a:t>
            </a:r>
          </a:p>
          <a:p>
            <a:pPr>
              <a:lnSpc>
                <a:spcPct val="115000"/>
              </a:lnSpc>
              <a:spcAft>
                <a:spcPts val="800"/>
              </a:spcAft>
              <a:defRPr sz="1300">
                <a:solidFill>
                  <a:srgbClr val="1E293B"/>
                </a:solidFill>
                <a:latin typeface="Arial"/>
              </a:defRPr>
            </a:pPr>
            <a:r>
              <a:t>•   **Secrets Management:** Secure injection and lifecycle management of sensitive data using Docker Secrets (Swarm) or orchestrator-agnostic solutions (e.g., HashiCorp Vault, Kubernetes Secrets).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**User Namespaces &amp; Rootless Docker:** Mitigating root privilege escalation risks by mapping container root to an unprivileged host user.</a:t>
            </a:r>
          </a:p>
          <a:p>
            <a:pPr>
              <a:lnSpc>
                <a:spcPct val="115000"/>
              </a:lnSpc>
              <a:spcAft>
                <a:spcPts val="800"/>
              </a:spcAft>
              <a:defRPr sz="1300">
                <a:solidFill>
                  <a:srgbClr val="1E293B"/>
                </a:solidFill>
                <a:latin typeface="Arial"/>
              </a:defRPr>
            </a:pPr>
            <a:r>
              <a:t>•   **Supply Chain Security:** Implementing image signing, Docker Content Trust, and maintaining a secure, audited container registry.</a:t>
            </a:r>
          </a:p>
          <a:p>
            <a:pPr>
              <a:spcBef>
                <a:spcPts val="1400"/>
              </a:spcBef>
              <a:defRPr sz="1050" b="1">
                <a:solidFill>
                  <a:srgbClr val="4F46E5"/>
                </a:solidFill>
                <a:latin typeface="Arial"/>
              </a:defRPr>
            </a:pPr>
            <a:r>
              <a:t>Key Takeaway: Security must be embedded throughout the container lifecycle, from build to runtime, adopting a 'shift-left' DevSecOps mindset.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Operationalizing Docker: SRE, Performance &amp; Troubleshooting</a:t>
            </a:r>
          </a:p>
          <a:p>
            <a:pPr>
              <a:spcBef>
                <a:spcPts val="400"/>
              </a:spcBef>
              <a:defRPr sz="1300" b="1">
                <a:solidFill>
                  <a:srgbClr val="4F46E5"/>
                </a:solidFill>
                <a:latin typeface="Arial"/>
              </a:defRPr>
            </a:pPr>
            <a:r>
              <a:t>Monitoring, Scaling, and Diagnosing Complex Container Environments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**Performance Tuning Strategies:** Optimizing Dockerfile instructions, build caching, efficient network configurations, and resource allocation.</a:t>
            </a:r>
          </a:p>
          <a:p>
            <a:pPr>
              <a:lnSpc>
                <a:spcPct val="115000"/>
              </a:lnSpc>
              <a:spcAft>
                <a:spcPts val="800"/>
              </a:spcAft>
              <a:defRPr sz="1300">
                <a:solidFill>
                  <a:srgbClr val="1E293B"/>
                </a:solidFill>
                <a:latin typeface="Arial"/>
              </a:defRPr>
            </a:pPr>
            <a:r>
              <a:t>•   **Monitoring &amp; Observability:** Integrating with Prometheus/Grafana, ELK stack for comprehensive container metrics, logs, and traces; utilizing `cAdvisor` for host-level insights.</a:t>
            </a:r>
          </a:p>
          <a:p>
            <a:pPr>
              <a:lnSpc>
                <a:spcPct val="115000"/>
              </a:lnSpc>
              <a:spcAft>
                <a:spcPts val="800"/>
              </a:spcAft>
              <a:defRPr sz="1300">
                <a:solidFill>
                  <a:srgbClr val="1E293B"/>
                </a:solidFill>
                <a:latin typeface="Arial"/>
              </a:defRPr>
            </a:pPr>
            <a:r>
              <a:t>•   **Scaling Boundaries &amp; Orchestration Readiness:** Understanding Docker's limitations for large-scale, self-healing deployments and the natural transition to orchestrators (Kubernetes, Swarm).</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**Troubleshooting Advanced Issues:** Diagnosing network contention, resource starvation, storage I/O bottlenecks, and persistent container crash loops.</a:t>
            </a:r>
          </a:p>
          <a:p>
            <a:pPr>
              <a:lnSpc>
                <a:spcPct val="115000"/>
              </a:lnSpc>
              <a:spcAft>
                <a:spcPts val="800"/>
              </a:spcAft>
              <a:defRPr sz="1300">
                <a:solidFill>
                  <a:srgbClr val="1E293B"/>
                </a:solidFill>
                <a:latin typeface="Arial"/>
              </a:defRPr>
            </a:pPr>
            <a:r>
              <a:t>•   **Chaos Engineering Principles:** Proactively testing container resilience, failure modes, and recovery mechanisms in controlled environments.</a:t>
            </a:r>
          </a:p>
          <a:p>
            <a:pPr>
              <a:spcBef>
                <a:spcPts val="1400"/>
              </a:spcBef>
              <a:defRPr sz="1050" b="1">
                <a:solidFill>
                  <a:srgbClr val="4F46E5"/>
                </a:solidFill>
                <a:latin typeface="Arial"/>
              </a:defRPr>
            </a:pPr>
            <a:r>
              <a:t>Key Takeaway: Robust SRE practices, proactive monitoring, and a deep understanding of scaling are essential for maintaining high-availability container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Your 6-Month Docker Mastery Roadmap (Part 2 Focus)</a:t>
            </a:r>
          </a:p>
          <a:p>
            <a:pPr>
              <a:spcBef>
                <a:spcPts val="400"/>
              </a:spcBef>
              <a:defRPr sz="1300" b="1">
                <a:solidFill>
                  <a:srgbClr val="14B8A6"/>
                </a:solidFill>
                <a:latin typeface="Arial"/>
              </a:defRPr>
            </a:pPr>
            <a:r>
              <a:t>Architecting for Resilience, Security, and Scalability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 1-2: Advanced Configuration Deep Dive:** Implement cgroup/namespace limits, custom networks, and experiment with alternative storage drivers in development environments.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 3-4: Security &amp; Hardening Sprints:** Integrate image scanning into your CI/CD, apply custom `seccomp`/`AppArmor` profiles, and deploy a secrets management solution for non-production workloads.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 5-6: Performance Tuning &amp; Observability Integration:** Benchmark container performance under load, set up comprehensive monitoring dashboards for Docker hosts and containers, and practice advanced troubleshooting scenarios.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approach to adopting advanced Docker capabilities will lay a solid foundation for enterprise-grade containerization and future orchestration initiatives.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