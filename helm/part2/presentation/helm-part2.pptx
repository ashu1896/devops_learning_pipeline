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Helm Enterprise Workshop. Today we move beyond basic templating into advanced territory: handling high-throughput CI/CD pipelines, securing the package lifecycle, and troubleshooting complex state issues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large clusters, Helm's default behavior of storing releases as Secrets can bloat etcd. We'll discuss configuring custom storage drivers, optimizing template compilation times, and using JSON schemas to catch configuration drift before it hits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Helm isn't just about RBAC. It's about verifying chart provenance, ensuring dry-runs are validated against OPA/Kyverno policies, and utilizing SOPS or Vault so that secrets are never exposed in plaintext within your Helm values files.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deployment hangs, SREs must know how to safely clean up the release state. We will cover how to recover from pending states, how to use post-renderers for enterprise compliance patching, and how to automate rollbacks using Prometheus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6-month roadmap provides a pragmatic path for your engineering organization. We start with standardization and verification, move to security hardening and SRE automation, and culminate in a fully declarative GitOps model using Helm Controller and ArgoCD.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Helm Orchestration: Advanced Architecture, Security &amp; Scale</a:t>
            </a:r>
          </a:p>
          <a:p>
            <a:pPr>
              <a:spcBef>
                <a:spcPts val="1000"/>
              </a:spcBef>
              <a:defRPr sz="1600">
                <a:solidFill>
                  <a:srgbClr val="94A3B8"/>
                </a:solidFill>
                <a:latin typeface="Arial"/>
              </a:defRPr>
            </a:pPr>
            <a:r>
              <a:t>Part 2/3: Hardening, Performance Tuning, and Production SRE Operations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Scalable Architecture &amp; Performance Optimization</a:t>
            </a:r>
          </a:p>
          <a:p>
            <a:pPr>
              <a:spcBef>
                <a:spcPts val="400"/>
              </a:spcBef>
              <a:defRPr sz="1300" b="1">
                <a:solidFill>
                  <a:srgbClr val="4F46E5"/>
                </a:solidFill>
                <a:latin typeface="Arial"/>
              </a:defRPr>
            </a:pPr>
            <a:r>
              <a:t>Mitigating Scale Boundaries and Tuning Release Storage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Release Storage Optimization: Transitioning from default Kubernetes Secrets to SQL or Consul backends for high-frequency deployments to prevent etcd database bloat.</a:t>
            </a:r>
          </a:p>
          <a:p>
            <a:pPr>
              <a:lnSpc>
                <a:spcPct val="115000"/>
              </a:lnSpc>
              <a:spcAft>
                <a:spcPts val="800"/>
              </a:spcAft>
              <a:defRPr sz="1300">
                <a:solidFill>
                  <a:srgbClr val="1E293B"/>
                </a:solidFill>
                <a:latin typeface="Arial"/>
              </a:defRPr>
            </a:pPr>
            <a:r>
              <a:t>•   Memory &amp; CPU Footprint Tuning: Managing large-scale monorepos by optimizing template compilation, limiting deep merges, and leveraging client-side 'values.schema.json' validation.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Dependency Tree Management: Architecting sub-charts with explicit global value overrides and utilizing alias definitions to prevent circular dependency deadlocks.</a:t>
            </a:r>
          </a:p>
          <a:p>
            <a:pPr>
              <a:spcBef>
                <a:spcPts val="1400"/>
              </a:spcBef>
              <a:defRPr sz="1050" b="1">
                <a:solidFill>
                  <a:srgbClr val="4F46E5"/>
                </a:solidFill>
                <a:latin typeface="Arial"/>
              </a:defRPr>
            </a:pPr>
            <a:r>
              <a:t>Key Takeaway: Architect Helm releases to minimize etcd load and enforce strict schema validation at the client side to prevent runtime deployment failures.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the Helm Lifecycle &amp; DevSecOps Guardrails</a:t>
            </a:r>
          </a:p>
          <a:p>
            <a:pPr>
              <a:spcBef>
                <a:spcPts val="400"/>
              </a:spcBef>
              <a:defRPr sz="1300" b="1">
                <a:solidFill>
                  <a:srgbClr val="4F46E5"/>
                </a:solidFill>
                <a:latin typeface="Arial"/>
              </a:defRPr>
            </a:pPr>
            <a:r>
              <a:t>Sandboxing, Cryptographic Provenance, and Zero-Trust Package Delivery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Provenance and Integrity: Enforcing GnuPG (GPG) signature verification ('helm verify') within CI/CD pipelines to block untrusted or tampered charts.</a:t>
            </a:r>
          </a:p>
          <a:p>
            <a:pPr>
              <a:lnSpc>
                <a:spcPct val="115000"/>
              </a:lnSpc>
              <a:spcAft>
                <a:spcPts val="800"/>
              </a:spcAft>
              <a:defRPr sz="1300">
                <a:solidFill>
                  <a:srgbClr val="1E293B"/>
                </a:solidFill>
                <a:latin typeface="Arial"/>
              </a:defRPr>
            </a:pPr>
            <a:r>
              <a:t>•   Client-Side Sandboxing &amp; Dry-Run: Integrating Open Policy Agent (OPA) Gatekeeper or Kyverno to validate rendered manifests prior to cluster execution.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Secret Management Integration: Decoupling sensitive data from Git-tracked values using Helm Secrets (SOPS/Age wrapper) or external Vault injectors.</a:t>
            </a:r>
          </a:p>
          <a:p>
            <a:pPr>
              <a:spcBef>
                <a:spcPts val="1400"/>
              </a:spcBef>
              <a:defRPr sz="1050" b="1">
                <a:solidFill>
                  <a:srgbClr val="4F46E5"/>
                </a:solidFill>
                <a:latin typeface="Arial"/>
              </a:defRPr>
            </a:pPr>
            <a:r>
              <a:t>Key Takeaway: Enforce a zero-trust Helm pipeline by validating chart signatures, sandboxing manifest rendering, and never storing raw secrets in Git repositories.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Operations: Incident Response &amp; Advanced Troubleshooting</a:t>
            </a:r>
          </a:p>
          <a:p>
            <a:pPr>
              <a:spcBef>
                <a:spcPts val="400"/>
              </a:spcBef>
              <a:defRPr sz="1300" b="1">
                <a:solidFill>
                  <a:srgbClr val="4F46E5"/>
                </a:solidFill>
                <a:latin typeface="Arial"/>
              </a:defRPr>
            </a:pPr>
            <a:r>
              <a:t>Handling Release Deadlocks, Post-Rendering, and Failover Strategies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Post-Renderer Customization: Utilizing Kustomize post-renderers to inject sidecars, patch security contexts, or apply corporate compliance overlays without modifying upstream charts.</a:t>
            </a:r>
          </a:p>
          <a:p>
            <a:pPr>
              <a:lnSpc>
                <a:spcPct val="115000"/>
              </a:lnSpc>
              <a:spcAft>
                <a:spcPts val="800"/>
              </a:spcAft>
              <a:defRPr sz="1300">
                <a:solidFill>
                  <a:srgbClr val="1E293B"/>
                </a:solidFill>
                <a:latin typeface="Arial"/>
              </a:defRPr>
            </a:pPr>
            <a:r>
              <a:t>•   Resolving Release Deadlocks: Safely recovering from 'pending-install' or 'pending-upgrade' states by surgically manipulating release secrets without risking orphaned resources.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Deterministic Rollbacks: Implementing robust rollback strategies ('helm rollback') tied to automated canary analyses and Prometheus-driven metric thresholds.</a:t>
            </a:r>
          </a:p>
          <a:p>
            <a:pPr>
              <a:spcBef>
                <a:spcPts val="1400"/>
              </a:spcBef>
              <a:defRPr sz="1050" b="1">
                <a:solidFill>
                  <a:srgbClr val="4F46E5"/>
                </a:solidFill>
                <a:latin typeface="Arial"/>
              </a:defRPr>
            </a:pPr>
            <a:r>
              <a:t>Key Takeaway: Mitigate deployment risks by mastering post-rendering hooks and establishing automated, telemetry-driven rollback loops.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Helm Maturity Roadmap</a:t>
            </a:r>
          </a:p>
          <a:p>
            <a:pPr>
              <a:spcBef>
                <a:spcPts val="400"/>
              </a:spcBef>
              <a:defRPr sz="1300" b="1">
                <a:solidFill>
                  <a:srgbClr val="14B8A6"/>
                </a:solidFill>
                <a:latin typeface="Arial"/>
              </a:defRPr>
            </a:pPr>
            <a:r>
              <a:t>Transitioning to Enterprise GitOps and Zero-Trust Helm Operations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(Standardization): Implement strict 'values.schema.json' validation, set up centralized private OCI registries, and mandate GPG signing on all internal charts.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(Security &amp; SRE): Integrate Helm Secrets with HashiCorp Vault, enforce OPA/Kyverno static analysis on rendered manifests, and automate 'helm test' execution in staging.</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(GitOps &amp; Scale): Transition to declarative GitOps engines (ArgoCD/Flux) using Helm Controller, optimize release storage backends, and implement automated canary rollbacks.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phased maturity model transforms Helm from a manual CLI tool into a highly secure, automated, and scalable enterprise CD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