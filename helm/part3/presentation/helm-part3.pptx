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3 of our Helm Masterclass. Today, we shift our focus from basic templating and deployment to Day-2 operations, SRE practices, deep-dive troubleshooting, and incident response. We'll explore how to handle failed releases, monitor Helm's release controller, and ensure high availability during complex rollouts.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how Helm maintains state is critical. By default, Helm uses Kubernetes Secrets in the release namespace. For massive environments, this can bloat etcd. We'll discuss how to optimize this, how to use lifecycle hooks to prevent traffic from hitting unmigrated databases, and how post-rendering allows DevSecOps teams to patch third-party charts without maintaining custom forks.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paramount. We must ensure that the charts we deploy are verified using GPG keys. Furthermore, we should never run Helm with cluster-admin privileges. Instead, use scoped service accounts. Lastly, decouple your secrets. Never commit plain-text secrets to your values.yaml files; leverage the ExternalSecrets Operator or Sealed Secrets.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deployment fails, time-to-resolution is critical. A common issue is the 'PENDING_UPGRADE' or 'PENDING_INSTALL' state, which occurs when a Helm process is terminated mid-execution. We'll walk through the exact runbook to safely patch the release secret. We'll also look at Prometheus alerts that catch these failures before your users do, and how to automate rollbacks.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provides a structured path for your organization. Start by securing and standardizing your charts. Next, build out the observability and testing framework. Finally, automate the entire lifecycle by adopting GitOps tools like Flux or ArgoCD, which use Helm controllers under the hood to reconcile state continuously.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Helm at Scale: Production SRE, Diagnostics, and Incident Response</a:t>
            </a:r>
          </a:p>
          <a:p>
            <a:pPr>
              <a:spcBef>
                <a:spcPts val="1000"/>
              </a:spcBef>
              <a:defRPr sz="1600">
                <a:solidFill>
                  <a:srgbClr val="94A3B8"/>
                </a:solidFill>
                <a:latin typeface="Arial"/>
              </a:defRPr>
            </a:pPr>
            <a:r>
              <a:t>Advanced Day-2 Operations, Observability, and Resilient Recovery Runbooks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Helm Deep Architecture: Storage Backends &amp; Lifecycle Hooks</a:t>
            </a:r>
          </a:p>
          <a:p>
            <a:pPr>
              <a:spcBef>
                <a:spcPts val="400"/>
              </a:spcBef>
              <a:defRPr sz="1300" b="1">
                <a:solidFill>
                  <a:srgbClr val="4F46E5"/>
                </a:solidFill>
                <a:latin typeface="Arial"/>
              </a:defRPr>
            </a:pPr>
            <a:r>
              <a:t>Under the Hood of Release State, Post-Rendering, and Hook Execution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State Management: Transitioning from standard Kubernetes Secrets to SQL/Consul backends for high-frequency or large-scale multi-cluster environments to mitigate etcd bloat.</a:t>
            </a:r>
          </a:p>
          <a:p>
            <a:pPr>
              <a:lnSpc>
                <a:spcPct val="115000"/>
              </a:lnSpc>
              <a:spcAft>
                <a:spcPts val="800"/>
              </a:spcAft>
              <a:defRPr sz="1300">
                <a:solidFill>
                  <a:srgbClr val="1E293B"/>
                </a:solidFill>
                <a:latin typeface="Arial"/>
              </a:defRPr>
            </a:pPr>
            <a:r>
              <a:t>•   Lifecycle Hooks Orchestration: Utilizing pre-install, post-upgrade, and test hooks to run database migrations and validate downstream health before traffic shifting.</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Advanced Post-Rendering: Injecting Kustomize overlays into the Helm rendering pipeline to inject enterprise-mandated sidecars, patches, and security contexts without modifying the upstream chart.</a:t>
            </a:r>
          </a:p>
          <a:p>
            <a:pPr>
              <a:spcBef>
                <a:spcPts val="1400"/>
              </a:spcBef>
              <a:defRPr sz="1050" b="1">
                <a:solidFill>
                  <a:srgbClr val="4F46E5"/>
                </a:solidFill>
                <a:latin typeface="Arial"/>
              </a:defRPr>
            </a:pPr>
            <a:r>
              <a:t>Key Takeaway: Mastering Helm's internal storage mechanisms and hook execution order is fundamental to building reliable, automated deployment pipelines.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DevSecOps &amp; Hardening: Securing the Helm Release Pipeline</a:t>
            </a:r>
          </a:p>
          <a:p>
            <a:pPr>
              <a:spcBef>
                <a:spcPts val="400"/>
              </a:spcBef>
              <a:defRPr sz="1300" b="1">
                <a:solidFill>
                  <a:srgbClr val="4F46E5"/>
                </a:solidFill>
                <a:latin typeface="Arial"/>
              </a:defRPr>
            </a:pPr>
            <a:r>
              <a:t>Cryptographic Provenance, RBAC Isolation, and Secret Encryption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Cryptographic Provenance: Implementing GnuPG (GPG) chart signing and verification keys ('helm verify') within CI/CD to prevent tampering.</a:t>
            </a:r>
          </a:p>
          <a:p>
            <a:pPr>
              <a:lnSpc>
                <a:spcPct val="115000"/>
              </a:lnSpc>
              <a:spcAft>
                <a:spcPts val="800"/>
              </a:spcAft>
              <a:defRPr sz="1300">
                <a:solidFill>
                  <a:srgbClr val="1E293B"/>
                </a:solidFill>
                <a:latin typeface="Arial"/>
              </a:defRPr>
            </a:pPr>
            <a:r>
              <a:t>•   Fine-Grained RBAC &amp; Impersonation: Restricting Helm's execution privileges using Kubernetes Service Accounts and the '--as' flag to enforce least privilege.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Dynamic Secret Management: Integrating Helm with external secret stores (e.g., HashiCorp Vault, AWS Secrets Manager) via ExternalSecrets operator to avoid plain-text values.</a:t>
            </a:r>
          </a:p>
          <a:p>
            <a:pPr>
              <a:spcBef>
                <a:spcPts val="1400"/>
              </a:spcBef>
              <a:defRPr sz="1050" b="1">
                <a:solidFill>
                  <a:srgbClr val="4F46E5"/>
                </a:solidFill>
                <a:latin typeface="Arial"/>
              </a:defRPr>
            </a:pPr>
            <a:r>
              <a:t>Key Takeaway: Security in Helm requires a multi-layered approach: verifying chart integrity, enforcing strict Kubernetes RBAC, and decoupling sensitive secrets from chart values.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Incident Response: Debugging and Recovering Failed Releases</a:t>
            </a:r>
          </a:p>
          <a:p>
            <a:pPr>
              <a:spcBef>
                <a:spcPts val="400"/>
              </a:spcBef>
              <a:defRPr sz="1300" b="1">
                <a:solidFill>
                  <a:srgbClr val="4F46E5"/>
                </a:solidFill>
                <a:latin typeface="Arial"/>
              </a:defRPr>
            </a:pPr>
            <a:r>
              <a:t>Resolving PENDING_UPGRADE, Custom Prometheus Alerting, and Rollback Runbooks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Resolving PENDING_UPGRADE Stalls: Executing surgical recovery procedures to clear stuck release states by modifying or purging the underlying Secret metadata.</a:t>
            </a:r>
          </a:p>
          <a:p>
            <a:pPr>
              <a:lnSpc>
                <a:spcPct val="115000"/>
              </a:lnSpc>
              <a:spcAft>
                <a:spcPts val="800"/>
              </a:spcAft>
              <a:defRPr sz="1300">
                <a:solidFill>
                  <a:srgbClr val="1E293B"/>
                </a:solidFill>
                <a:latin typeface="Arial"/>
              </a:defRPr>
            </a:pPr>
            <a:r>
              <a:t>•   Custom Prometheus Alerting: Deploying PromQL rules targeting 'helm_release_status' to alert on 'failed' or 'superseded' anomalies in real time.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Deterministic Rollbacks: Designing automated rollback triggers using 'helm rollback' paired with Prometheus synthetic probes and Canary analysis (e.g., Argo Rollouts).</a:t>
            </a:r>
          </a:p>
          <a:p>
            <a:pPr>
              <a:spcBef>
                <a:spcPts val="1400"/>
              </a:spcBef>
              <a:defRPr sz="1050" b="1">
                <a:solidFill>
                  <a:srgbClr val="4F46E5"/>
                </a:solidFill>
                <a:latin typeface="Arial"/>
              </a:defRPr>
            </a:pPr>
            <a:r>
              <a:t>Key Takeaway: Mitigate downtime by implementing automated, metrics-driven rollbacks and maintaining clear runbooks for resolving stuck Helm states.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Roadmap: Achieving Helm Operational Excellence</a:t>
            </a:r>
          </a:p>
          <a:p>
            <a:pPr>
              <a:spcBef>
                <a:spcPts val="400"/>
              </a:spcBef>
              <a:defRPr sz="1300" b="1">
                <a:solidFill>
                  <a:srgbClr val="14B8A6"/>
                </a:solidFill>
                <a:latin typeface="Arial"/>
              </a:defRPr>
            </a:pPr>
            <a:r>
              <a:t>From Manual Rollouts to GitOps-Driven, Self-Healing Infrastructure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Standardize charts, enforce GPG verification, and transition all sensitive values to ExternalSecrets / Vault.</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Implement automated Helm testing ('helm test'), integrate Prometheus metrics, and set up real-time alerting for failed deployments.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Transition to a declarative GitOps model (FluxCD/ArgoCD Helm Controller) with progressive delivery and automated canary rollbacks.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True Helm mastery moves from manual command-line execution to a fully automated, observable, and self-healing GitOps paradigm.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