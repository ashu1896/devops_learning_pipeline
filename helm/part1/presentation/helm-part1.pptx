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kicking off Part 1 of our Helm Masterclass. We will move past basic templating and look at Helm through the lens of a Principal Architect: focusing on structural patterns, strict security boundaries, SRE-driven rollback strategies, and a clear 6-month roadmap to achieve organizational maturity.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Helm 3, the removal of Tiller shifted the security model. Now, Helm acts as a client-side compiler. When you run 'helm upgrade', it performs a three-way merge patch. It is critical to understand that the state is stored in Secrets in the target namespace. We must protect these secrets and structure our charts with strict schema validation to prevent malformed values from breaking deployments.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in Helm starts at the commit. We must enforce values.schema.json to prevent type coercion issues. For secrets, do not use helm-secrets if you can use native Kubernetes operators like ExternalSecrets. If you must use Helm-level encryption, leverage SOPS. Finally, always verify chart provenance in your CI/CD pipelines using 'helm verify' before execution.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an SRE perspective, a failed deployment should never leave a cluster in an inconsistent state. By default, Helm leaves failed resources in place. Utilizing --atomic forces a cleanup and rollback. When debugging, remember that 'helm template' only tests client-side rendering. Use --dry-run=server to let the Kubernetes API server validate your rendered manifests against admission controllers.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6-month roadmap is designed to take your organization from chaotic manual deployments to a highly disciplined GitOps workflow. Phase 1 focuses on standardization. Phase 2 transitions your delivery model to OCI registries—which is the modern standard for Helm distribution—integrated with GitOps engines. Phase 3 wraps everything in policy-as-code to ensure compliance without slowing down development teams.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Enterprise Helm Foundations: Architecture &amp; Lifecycle</a:t>
            </a:r>
          </a:p>
          <a:p>
            <a:pPr>
              <a:spcBef>
                <a:spcPts val="1000"/>
              </a:spcBef>
              <a:defRPr sz="1600">
                <a:solidFill>
                  <a:srgbClr val="94A3B8"/>
                </a:solidFill>
                <a:latin typeface="Arial"/>
              </a:defRPr>
            </a:pPr>
            <a:r>
              <a:t>Part 1: Establishing Production-Grade Package Management &amp; GitOps-Ready Topologies</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Helm 3 Architecture &amp; Client-Side State Management</a:t>
            </a:r>
          </a:p>
          <a:p>
            <a:pPr>
              <a:spcBef>
                <a:spcPts val="400"/>
              </a:spcBef>
              <a:defRPr sz="1300" b="1">
                <a:solidFill>
                  <a:srgbClr val="4F46E5"/>
                </a:solidFill>
                <a:latin typeface="Arial"/>
              </a:defRPr>
            </a:pPr>
            <a:r>
              <a:t>Understanding Tillerless Execution, Secret-Based Storage, and Chart Topologies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Tillerless Architecture: Leverages native Kubernetes RBAC, executing entirely client-side to eliminate privilege escalation vectors.</a:t>
            </a:r>
          </a:p>
          <a:p>
            <a:pPr>
              <a:lnSpc>
                <a:spcPct val="115000"/>
              </a:lnSpc>
              <a:spcAft>
                <a:spcPts val="800"/>
              </a:spcAft>
              <a:defRPr sz="1300">
                <a:solidFill>
                  <a:srgbClr val="1E293B"/>
                </a:solidFill>
                <a:latin typeface="Arial"/>
              </a:defRPr>
            </a:pPr>
            <a:r>
              <a:t>•   State Storage Backend: Tracks release history using Kubernetes Secrets within the target release namespace, versioned via metadata.</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Chart Directory Topology: Enforcing structural hygiene with standard templates, values.schema.json, and explicit dependency definitions.</a:t>
            </a:r>
          </a:p>
          <a:p>
            <a:pPr>
              <a:lnSpc>
                <a:spcPct val="115000"/>
              </a:lnSpc>
              <a:spcAft>
                <a:spcPts val="800"/>
              </a:spcAft>
              <a:defRPr sz="1300">
                <a:solidFill>
                  <a:srgbClr val="1E293B"/>
                </a:solidFill>
                <a:latin typeface="Arial"/>
              </a:defRPr>
            </a:pPr>
            <a:r>
              <a:t>•   Three-Way Strategic Merge Patch: How Helm computes upgrades by comparing the active cluster state, proposed chart state, and previous release state.</a:t>
            </a:r>
          </a:p>
          <a:p>
            <a:pPr>
              <a:spcBef>
                <a:spcPts val="1400"/>
              </a:spcBef>
              <a:defRPr sz="1050" b="1">
                <a:solidFill>
                  <a:srgbClr val="4F46E5"/>
                </a:solidFill>
                <a:latin typeface="Arial"/>
              </a:defRPr>
            </a:pPr>
            <a:r>
              <a:t>Key Takeaway: Helm 3 aligns perfectly with Kubernetes security boundaries by delegating authorization to the user's kubeconfig RBAC, storing release states securely as cluster Secrets.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Securing the Helm Supply Chain</a:t>
            </a:r>
          </a:p>
          <a:p>
            <a:pPr>
              <a:spcBef>
                <a:spcPts val="400"/>
              </a:spcBef>
              <a:defRPr sz="1300" b="1">
                <a:solidFill>
                  <a:srgbClr val="4F46E5"/>
                </a:solidFill>
                <a:latin typeface="Arial"/>
              </a:defRPr>
            </a:pPr>
            <a:r>
              <a:t>RBAC Least Privilege, Chart Signing, Value Encryption, and Schema Validation</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RBAC &amp; Namespace Isolation: Restricting Helm execution contexts using scoped ServiceAccounts and RoleBindings instead of cluster-admin privileges.</a:t>
            </a:r>
          </a:p>
          <a:p>
            <a:pPr>
              <a:lnSpc>
                <a:spcPct val="115000"/>
              </a:lnSpc>
              <a:spcAft>
                <a:spcPts val="800"/>
              </a:spcAft>
              <a:defRPr sz="1300">
                <a:solidFill>
                  <a:srgbClr val="1E293B"/>
                </a:solidFill>
                <a:latin typeface="Arial"/>
              </a:defRPr>
            </a:pPr>
            <a:r>
              <a:t>•   Provenance and Integrity: Implementing digital signatures using GnuPG keys (helm verify) to guarantee chart origin and prevent tampering in transit.</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Secret Management Integration: Rejecting plain-text values in Git; integrating Helm with external secret providers via ExternalSecrets or Mozilla SOPS.</a:t>
            </a:r>
          </a:p>
          <a:p>
            <a:pPr>
              <a:lnSpc>
                <a:spcPct val="115000"/>
              </a:lnSpc>
              <a:spcAft>
                <a:spcPts val="800"/>
              </a:spcAft>
              <a:defRPr sz="1300">
                <a:solidFill>
                  <a:srgbClr val="1E293B"/>
                </a:solidFill>
                <a:latin typeface="Arial"/>
              </a:defRPr>
            </a:pPr>
            <a:r>
              <a:t>•   Strict Schema Enforcement: Utilizing values.schema.json to validate input parameters at lint time, blocking invalid configurations before they hit the API server.</a:t>
            </a:r>
          </a:p>
          <a:p>
            <a:pPr>
              <a:spcBef>
                <a:spcPts val="1400"/>
              </a:spcBef>
              <a:defRPr sz="1050" b="1">
                <a:solidFill>
                  <a:srgbClr val="4F46E5"/>
                </a:solidFill>
                <a:latin typeface="Arial"/>
              </a:defRPr>
            </a:pPr>
            <a:r>
              <a:t>Key Takeaway: A secure Helm pipeline requires validating inputs via JSON schemas, signing artifacts, and never storing raw secrets in the chart repository or Git.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Resilient Deployments &amp; Incident Recovery</a:t>
            </a:r>
          </a:p>
          <a:p>
            <a:pPr>
              <a:spcBef>
                <a:spcPts val="400"/>
              </a:spcBef>
              <a:defRPr sz="1300" b="1">
                <a:solidFill>
                  <a:srgbClr val="4F46E5"/>
                </a:solidFill>
                <a:latin typeface="Arial"/>
              </a:defRPr>
            </a:pPr>
            <a:r>
              <a:t>Zero-Downtime Upgrades, Rollback Mechanics, and Debugging Complex Failures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Deterministic Rollbacks: Utilizing 'helm rollback' to instantly revert to the exact previous secret-backed state during deployment failures.</a:t>
            </a:r>
          </a:p>
          <a:p>
            <a:pPr>
              <a:lnSpc>
                <a:spcPct val="115000"/>
              </a:lnSpc>
              <a:spcAft>
                <a:spcPts val="800"/>
              </a:spcAft>
              <a:defRPr sz="1300">
                <a:solidFill>
                  <a:srgbClr val="1E293B"/>
                </a:solidFill>
                <a:latin typeface="Arial"/>
              </a:defRPr>
            </a:pPr>
            <a:r>
              <a:t>•   Atomic and Wait Flags: Enforcing --atomic, --wait, and --timeout in CI/CD to automatically roll back the release if readiness probes fail.</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Advanced Debugging Triad: Combining 'helm lint', 'helm template --debug', and 'helm install --dry-run=server' to isolate templating errors.</a:t>
            </a:r>
          </a:p>
          <a:p>
            <a:pPr>
              <a:lnSpc>
                <a:spcPct val="115000"/>
              </a:lnSpc>
              <a:spcAft>
                <a:spcPts val="800"/>
              </a:spcAft>
              <a:defRPr sz="1300">
                <a:solidFill>
                  <a:srgbClr val="1E293B"/>
                </a:solidFill>
                <a:latin typeface="Arial"/>
              </a:defRPr>
            </a:pPr>
            <a:r>
              <a:t>•   Orphaned Resource Mitigation: Managing resources created during a release that fail to clean up, using Helm resource policy annotations.</a:t>
            </a:r>
          </a:p>
          <a:p>
            <a:pPr>
              <a:spcBef>
                <a:spcPts val="1400"/>
              </a:spcBef>
              <a:defRPr sz="1050" b="1">
                <a:solidFill>
                  <a:srgbClr val="4F46E5"/>
                </a:solidFill>
                <a:latin typeface="Arial"/>
              </a:defRPr>
            </a:pPr>
            <a:r>
              <a:t>Key Takeaway: Treat your Helm releases as transactional operations: use --atomic to prevent half-baked deployments and ensure rapid, predictable rollbacks.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Helm Operational Maturity Roadmap</a:t>
            </a:r>
          </a:p>
          <a:p>
            <a:pPr>
              <a:spcBef>
                <a:spcPts val="400"/>
              </a:spcBef>
              <a:defRPr sz="1300" b="1">
                <a:solidFill>
                  <a:srgbClr val="14B8A6"/>
                </a:solidFill>
                <a:latin typeface="Arial"/>
              </a:defRPr>
            </a:pPr>
            <a:r>
              <a:t>Transitioning from Basic Templating to Enterprise GitOps and Automated Governance</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(Foundations): Standardize directory structures, implement values.schema.json, and mandate semantic versioning (semver) for all internal charts.</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(Security &amp; Integration): Integrate ChartMuseum or OCI-based registries with OIDC; enforce chart signing and integrate Helm with ArgoCD or Flux.</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(Advanced SRE &amp; Governance): Implement automated canary deployments using Helm + Linkerd/Istio, and write custom Kyverno policies to audit Helm releases.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Achieving Helm maturity means moving from manual CLI executions to a fully automated, OCI-packaged, GitOps-driven delivery model governed by policy-as-code.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